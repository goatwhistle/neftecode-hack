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Мы GoatWhistle. CUTPOINT помогает оператору выбрать действие для связанной цепочки АВТ, гидроочистки и смешения дизеля. Он отвечает одним из трёх исходов: сохранить режим, изменить режим или объяснимо отказаться.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Сразу покажу смысл на одном случае. На историческом входе ухудшается прогноз качества потока. Удобный для выпуска план дал бы триста тонн за три часа. Но точная стадия резервуарного парка неизвестна. После проверки допустимости система рекомендует снизить выпуск со ста до пятидесяти тонн в час — до ста пятидесяти тонн за три часа. [Пауза.] Это цена осторожности в модели, а не результат работы завода. Сейчас разберём, почему возникло это решение и когда система вообще имеет право советовать.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Мы используем выданную телеметрию, лабораторные анализы и поточный анализатор. Для решения важны два времени: когда лабораторную пробу взяли и когда её результат мог стать доступен. Реального времени выдачи нет, поэтому мы явно приняли задержку четыре часа и не используем результат раньше неё.
Проверяем возраст, пропуски, зависание анализатора и расхождение источников. Это защищает и расчёт, и проверку прогноза от информации из будущего. Если пригодных измерений качества нет, численный прогноз сам по себе не даёт права на рекомендацию.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серы потока после гидроочистки сравнили несколько методов на пяти временных периодах и выбрали поправку к последнему показанию поточного анализатора. Затем проверили зафиксированный метод на отделённом 2026 годе. На одинаковых 233 пробах средняя абсолютная ошибка снизилась с 1.802 до 1.616 миллиграмма на килограмм — примерно на десять процентов.
Но верхнюю границу прогноза превысили 6.01 процента фактов при нашей цели не более пяти. Поэтому интервал — оценка неопределённости, не гарантия кондиционного дизеля. Мы не превращаем улучшение прогноза в обещание экономии.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CUTPOINT строит варианты изменения режима и рецепта смеси с учётом задержек процесса и запасов компонентов. Сначала код проверяет качество продукта — в том числе серу не выше десяти миллиграммов на килограмм, T95, цетановое число и плотность, а также уставки, доли и доступность партий. Только прошедшие варианты сравниваются по выпуску, условной стоимости и тяжести режима.
Тяжесть — прозрачный сценарный индекс по температуре и расходу, а не вероятность отказа. Карта компромиссов показывает исследованный допустимый пул, не глобальный оптимум. Качество и ограничения не обмениваются на больший выпуск.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Возвращаемся к примеру 24 июля. Если проверить только одну исходную фазу расписания резервуаров, план сто тонн в час выглядит допустимым. CUTPOINT проверяет его при любом общем сдвиге заданного расписания на трёхчасовом горизонте. Этот план не проходит; вариант пятьдесят тонн в час проходит проверку и становится рекомендацией: сто пятьдесят тонн за три часа.
[Показать рядом отклонённый и выбранный план, причину, горизонт, проверку фаз. Пауза.]
Рецепт выбранного плана содержит только основной компонент. Это возможно потому, что в продукт сейчас идёт уже готовая партия; ухудшившийся приток должен пройти налив и паспортизацию. Мы не смешиваем прогноз нового потока со свойствами уже паспортизованной партии.
Здесь видны действие, ограничения и стоимость осторожности. Фактические уровни резервуаров и паспорта партий нам не выданы. Поэтому это проверка внутри явно заданной модели, не разрешение на промышленный выпуск.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Оркестратор запрашивает оценки качества и надёжности, планировщик предлагает варианты, а инструменты возвращают числа и причины. Запросы, результаты и вердикты сохранены в трассе. Финальная допустимость остаётся обязательной проверкой кода: через разрешённые инструменты агент не может снять жёсткий запрет.
В этом воспроизводимом показе используется фиксированная политика scripted. Специалисты подтвердили план ядра и не добавили новых ограничений. Это доказывает видимый обмен ролей, но не эффект живой языковой модели. Её отдельную пользу ещё нужно измерить.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нормальном периоде система сохраняет режим: советчик не должен менять уставки ради активности. На другом историческом срезе мы искусственно делаем источники качества непригодными. Ответ — отказ с причиной и указанием, какие измерения нужны. [Показать две короткие карточки.] Это два разных корректных результата одного цикла.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Вход, версия, расчёт и итог сохраняются. Один риск-сценарий мы повторили в отдельном процессе без HTTP-кеша и получили тот же план, показатели и проверку фаз. Детерминированный контур работает локально; живую LLM и промышленное управление этим опытом не подтверждали.
Следующий шаг — наблюдательный пилот с фактическим состоянием парка, паспортами партий и согласованными ограничениями. На новых данных нужно сравнить решения с работой технолога и простым правилом.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Сегодня CUTPOINT показывает проверяемый путь от данных к конкретному действию — и останавливается, когда оснований для совета нет. Готовы разобрать любой шаг.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neftecode.goatwhistle.ru/" TargetMode="External"/><Relationship Id="rId1"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neftecode.goatwhistle.ru/" TargetMode="Externa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EFE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1874520"/>
            <a:ext cx="6766560" cy="971678"/>
          </a:xfrm>
          <a:prstGeom prst="rect">
            <a:avLst/>
          </a:prstGeom>
        </p:spPr>
      </p:pic>
      <p:sp>
        <p:nvSpPr>
          <p:cNvPr id="3" name="Text 0"/>
          <p:cNvSpPr txBox="1"/>
          <p:nvPr/>
        </p:nvSpPr>
        <p:spPr>
          <a:xfrm>
            <a:off x="548640" y="3154680"/>
            <a:ext cx="6949440" cy="822960"/>
          </a:xfrm>
          <a:prstGeom prst="rect">
            <a:avLst/>
          </a:prstGeom>
          <a:noFill/>
          <a:ln/>
        </p:spPr>
        <p:txBody>
          <a:bodyPr wrap="square" lIns="0" tIns="0" rIns="0" bIns="0" rtlCol="0" anchor="t"/>
          <a:lstStyle/>
          <a:p>
            <a:pPr indent="0" marL="0">
              <a:buNone/>
            </a:pPr>
            <a:r>
              <a:rPr lang="en-US" sz="2000" dirty="0">
                <a:solidFill>
                  <a:srgbClr val="322D2A"/>
                </a:solidFill>
                <a:latin typeface="Segoe UI" pitchFamily="34" charset="0"/>
                <a:ea typeface="Segoe UI" pitchFamily="34" charset="-122"/>
                <a:cs typeface="Segoe UI" pitchFamily="34" charset="-120"/>
              </a:rPr>
              <a:t>Советчик оператору</a:t>
            </a:r>
            <a:endParaRPr lang="en-US" sz="2000" dirty="0"/>
          </a:p>
          <a:p>
            <a:pPr indent="0" marL="0">
              <a:buNone/>
            </a:pPr>
            <a:r>
              <a:rPr lang="en-US" sz="2000" dirty="0">
                <a:solidFill>
                  <a:srgbClr val="5A564E"/>
                </a:solidFill>
                <a:latin typeface="Segoe UI" pitchFamily="34" charset="0"/>
                <a:ea typeface="Segoe UI" pitchFamily="34" charset="-122"/>
                <a:cs typeface="Segoe UI" pitchFamily="34" charset="-120"/>
              </a:rPr>
              <a:t>АВТ → гидроочистка → смешение дизельного топлива</a:t>
            </a:r>
            <a:endParaRPr lang="en-US" sz="2000" dirty="0"/>
          </a:p>
        </p:txBody>
      </p:sp>
      <p:sp>
        <p:nvSpPr>
          <p:cNvPr id="4" name="Text 1"/>
          <p:cNvSpPr txBox="1"/>
          <p:nvPr/>
        </p:nvSpPr>
        <p:spPr>
          <a:xfrm>
            <a:off x="8092440" y="1600200"/>
            <a:ext cx="3550615" cy="228600"/>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ТРИ ОТВЕТА ОДНОГО ЦИКЛА</a:t>
            </a:r>
            <a:endParaRPr lang="en-US" sz="1000" dirty="0"/>
          </a:p>
        </p:txBody>
      </p:sp>
      <p:sp>
        <p:nvSpPr>
          <p:cNvPr id="5" name="Shape 2"/>
          <p:cNvSpPr/>
          <p:nvPr/>
        </p:nvSpPr>
        <p:spPr>
          <a:xfrm>
            <a:off x="8092440" y="1920240"/>
            <a:ext cx="3550615" cy="859536"/>
          </a:xfrm>
          <a:prstGeom prst="roundRect">
            <a:avLst>
              <a:gd name="adj" fmla="val 6383"/>
            </a:avLst>
          </a:prstGeom>
          <a:solidFill>
            <a:srgbClr val="FFFFFF"/>
          </a:solidFill>
          <a:ln w="22225">
            <a:solidFill>
              <a:srgbClr val="322D2A"/>
            </a:solidFill>
            <a:prstDash val="solid"/>
          </a:ln>
        </p:spPr>
      </p:sp>
      <p:sp>
        <p:nvSpPr>
          <p:cNvPr id="6" name="Text 3"/>
          <p:cNvSpPr txBox="1"/>
          <p:nvPr/>
        </p:nvSpPr>
        <p:spPr>
          <a:xfrm>
            <a:off x="8321040" y="2075688"/>
            <a:ext cx="2727655" cy="201168"/>
          </a:xfrm>
          <a:prstGeom prst="rect">
            <a:avLst/>
          </a:prstGeom>
          <a:noFill/>
          <a:ln/>
        </p:spPr>
        <p:txBody>
          <a:bodyPr wrap="square" lIns="0" tIns="0" rIns="0" bIns="0" rtlCol="0" anchor="t"/>
          <a:lstStyle/>
          <a:p>
            <a:pPr indent="0" marL="0">
              <a:buNone/>
            </a:pPr>
            <a:r>
              <a:rPr lang="en-US" sz="1000" spc="50" kern="0" dirty="0">
                <a:solidFill>
                  <a:srgbClr val="5A564E"/>
                </a:solidFill>
                <a:latin typeface="Consolas" pitchFamily="34" charset="0"/>
                <a:ea typeface="Consolas" pitchFamily="34" charset="-122"/>
                <a:cs typeface="Consolas" pitchFamily="34" charset="-120"/>
              </a:rPr>
              <a:t>hold</a:t>
            </a:r>
            <a:endParaRPr lang="en-US" sz="1000" dirty="0"/>
          </a:p>
        </p:txBody>
      </p:sp>
      <p:sp>
        <p:nvSpPr>
          <p:cNvPr id="7" name="Text 4"/>
          <p:cNvSpPr txBox="1"/>
          <p:nvPr/>
        </p:nvSpPr>
        <p:spPr>
          <a:xfrm>
            <a:off x="8321040" y="2304288"/>
            <a:ext cx="2727655" cy="329184"/>
          </a:xfrm>
          <a:prstGeom prst="rect">
            <a:avLst/>
          </a:prstGeom>
          <a:noFill/>
          <a:ln/>
        </p:spPr>
        <p:txBody>
          <a:bodyPr wrap="square" lIns="0" tIns="0" rIns="0" bIns="0" rtlCol="0" anchor="ctr"/>
          <a:lstStyle/>
          <a:p>
            <a:pPr indent="0" marL="0">
              <a:buNone/>
            </a:pPr>
            <a:r>
              <a:rPr lang="en-US" sz="1700" dirty="0">
                <a:solidFill>
                  <a:srgbClr val="322D2A"/>
                </a:solidFill>
                <a:latin typeface="Segoe UI" pitchFamily="34" charset="0"/>
                <a:ea typeface="Segoe UI" pitchFamily="34" charset="-122"/>
                <a:cs typeface="Segoe UI" pitchFamily="34" charset="-120"/>
              </a:rPr>
              <a:t>Сохранить режим</a:t>
            </a:r>
            <a:endParaRPr lang="en-US" sz="1700" dirty="0"/>
          </a:p>
        </p:txBody>
      </p:sp>
      <p:sp>
        <p:nvSpPr>
          <p:cNvPr id="8" name="Text 5"/>
          <p:cNvSpPr txBox="1"/>
          <p:nvPr/>
        </p:nvSpPr>
        <p:spPr>
          <a:xfrm>
            <a:off x="11076127" y="2194560"/>
            <a:ext cx="329184" cy="329184"/>
          </a:xfrm>
          <a:prstGeom prst="rect">
            <a:avLst/>
          </a:prstGeom>
          <a:noFill/>
          <a:ln/>
        </p:spPr>
        <p:txBody>
          <a:bodyPr wrap="square" lIns="0" tIns="0" rIns="0" bIns="0" rtlCol="0" anchor="ctr"/>
          <a:lstStyle/>
          <a:p>
            <a:pPr algn="ctr" indent="0" marL="0">
              <a:buNone/>
            </a:pPr>
            <a:r>
              <a:rPr lang="en-US" sz="1900" dirty="0">
                <a:solidFill>
                  <a:srgbClr val="1B7A3D"/>
                </a:solidFill>
                <a:latin typeface="Segoe UI Symbol" pitchFamily="34" charset="0"/>
                <a:ea typeface="Segoe UI Symbol" pitchFamily="34" charset="-122"/>
                <a:cs typeface="Segoe UI Symbol" pitchFamily="34" charset="-120"/>
              </a:rPr>
              <a:t>✓</a:t>
            </a:r>
            <a:endParaRPr lang="en-US" sz="1900" dirty="0"/>
          </a:p>
        </p:txBody>
      </p:sp>
      <p:sp>
        <p:nvSpPr>
          <p:cNvPr id="9" name="Shape 6"/>
          <p:cNvSpPr/>
          <p:nvPr/>
        </p:nvSpPr>
        <p:spPr>
          <a:xfrm>
            <a:off x="8092440" y="2944368"/>
            <a:ext cx="3550615" cy="859536"/>
          </a:xfrm>
          <a:prstGeom prst="roundRect">
            <a:avLst>
              <a:gd name="adj" fmla="val 6383"/>
            </a:avLst>
          </a:prstGeom>
          <a:solidFill>
            <a:srgbClr val="FFFFFF"/>
          </a:solidFill>
          <a:ln w="9525">
            <a:solidFill>
              <a:srgbClr val="322D2A"/>
            </a:solidFill>
            <a:prstDash val="solid"/>
          </a:ln>
        </p:spPr>
      </p:sp>
      <p:sp>
        <p:nvSpPr>
          <p:cNvPr id="10" name="Text 7"/>
          <p:cNvSpPr txBox="1"/>
          <p:nvPr/>
        </p:nvSpPr>
        <p:spPr>
          <a:xfrm>
            <a:off x="8321040" y="3099816"/>
            <a:ext cx="2727655" cy="201168"/>
          </a:xfrm>
          <a:prstGeom prst="rect">
            <a:avLst/>
          </a:prstGeom>
          <a:noFill/>
          <a:ln/>
        </p:spPr>
        <p:txBody>
          <a:bodyPr wrap="square" lIns="0" tIns="0" rIns="0" bIns="0" rtlCol="0" anchor="t"/>
          <a:lstStyle/>
          <a:p>
            <a:pPr indent="0" marL="0">
              <a:buNone/>
            </a:pPr>
            <a:r>
              <a:rPr lang="en-US" sz="1000" spc="50" kern="0" dirty="0">
                <a:solidFill>
                  <a:srgbClr val="5A564E"/>
                </a:solidFill>
                <a:latin typeface="Consolas" pitchFamily="34" charset="0"/>
                <a:ea typeface="Consolas" pitchFamily="34" charset="-122"/>
                <a:cs typeface="Consolas" pitchFamily="34" charset="-120"/>
              </a:rPr>
              <a:t>recommend_scenario</a:t>
            </a:r>
            <a:endParaRPr lang="en-US" sz="1000" dirty="0"/>
          </a:p>
        </p:txBody>
      </p:sp>
      <p:sp>
        <p:nvSpPr>
          <p:cNvPr id="11" name="Text 8"/>
          <p:cNvSpPr txBox="1"/>
          <p:nvPr/>
        </p:nvSpPr>
        <p:spPr>
          <a:xfrm>
            <a:off x="8321040" y="3328416"/>
            <a:ext cx="2727655" cy="329184"/>
          </a:xfrm>
          <a:prstGeom prst="rect">
            <a:avLst/>
          </a:prstGeom>
          <a:noFill/>
          <a:ln/>
        </p:spPr>
        <p:txBody>
          <a:bodyPr wrap="square" lIns="0" tIns="0" rIns="0" bIns="0" rtlCol="0" anchor="ctr"/>
          <a:lstStyle/>
          <a:p>
            <a:pPr indent="0" marL="0">
              <a:buNone/>
            </a:pPr>
            <a:r>
              <a:rPr lang="en-US" sz="1700" dirty="0">
                <a:solidFill>
                  <a:srgbClr val="322D2A"/>
                </a:solidFill>
                <a:latin typeface="Segoe UI" pitchFamily="34" charset="0"/>
                <a:ea typeface="Segoe UI" pitchFamily="34" charset="-122"/>
                <a:cs typeface="Segoe UI" pitchFamily="34" charset="-120"/>
              </a:rPr>
              <a:t>Изменить режим</a:t>
            </a:r>
            <a:endParaRPr lang="en-US" sz="1700" dirty="0"/>
          </a:p>
        </p:txBody>
      </p:sp>
      <p:sp>
        <p:nvSpPr>
          <p:cNvPr id="12" name="Text 9"/>
          <p:cNvSpPr txBox="1"/>
          <p:nvPr/>
        </p:nvSpPr>
        <p:spPr>
          <a:xfrm>
            <a:off x="11076127" y="3218688"/>
            <a:ext cx="329184" cy="329184"/>
          </a:xfrm>
          <a:prstGeom prst="rect">
            <a:avLst/>
          </a:prstGeom>
          <a:noFill/>
          <a:ln/>
        </p:spPr>
        <p:txBody>
          <a:bodyPr wrap="square" lIns="0" tIns="0" rIns="0" bIns="0" rtlCol="0" anchor="ctr"/>
          <a:lstStyle/>
          <a:p>
            <a:pPr algn="ctr" indent="0" marL="0">
              <a:buNone/>
            </a:pPr>
            <a:r>
              <a:rPr lang="en-US" sz="1900" dirty="0">
                <a:solidFill>
                  <a:srgbClr val="8A4D0F"/>
                </a:solidFill>
                <a:latin typeface="Segoe UI Symbol" pitchFamily="34" charset="0"/>
                <a:ea typeface="Segoe UI Symbol" pitchFamily="34" charset="-122"/>
                <a:cs typeface="Segoe UI Symbol" pitchFamily="34" charset="-120"/>
              </a:rPr>
              <a:t>→</a:t>
            </a:r>
            <a:endParaRPr lang="en-US" sz="1900" dirty="0"/>
          </a:p>
        </p:txBody>
      </p:sp>
      <p:sp>
        <p:nvSpPr>
          <p:cNvPr id="13" name="Shape 10"/>
          <p:cNvSpPr/>
          <p:nvPr/>
        </p:nvSpPr>
        <p:spPr>
          <a:xfrm>
            <a:off x="8092440" y="3968496"/>
            <a:ext cx="3550615" cy="859536"/>
          </a:xfrm>
          <a:prstGeom prst="roundRect">
            <a:avLst>
              <a:gd name="adj" fmla="val 6383"/>
            </a:avLst>
          </a:prstGeom>
          <a:solidFill>
            <a:srgbClr val="FFFFFF"/>
          </a:solidFill>
          <a:ln w="9525">
            <a:solidFill>
              <a:srgbClr val="322D2A"/>
            </a:solidFill>
            <a:prstDash val="solid"/>
          </a:ln>
        </p:spPr>
      </p:sp>
      <p:sp>
        <p:nvSpPr>
          <p:cNvPr id="14" name="Text 11"/>
          <p:cNvSpPr txBox="1"/>
          <p:nvPr/>
        </p:nvSpPr>
        <p:spPr>
          <a:xfrm>
            <a:off x="8321040" y="4123944"/>
            <a:ext cx="2727655" cy="201168"/>
          </a:xfrm>
          <a:prstGeom prst="rect">
            <a:avLst/>
          </a:prstGeom>
          <a:noFill/>
          <a:ln/>
        </p:spPr>
        <p:txBody>
          <a:bodyPr wrap="square" lIns="0" tIns="0" rIns="0" bIns="0" rtlCol="0" anchor="t"/>
          <a:lstStyle/>
          <a:p>
            <a:pPr indent="0" marL="0">
              <a:buNone/>
            </a:pPr>
            <a:r>
              <a:rPr lang="en-US" sz="1000" spc="50" kern="0" dirty="0">
                <a:solidFill>
                  <a:srgbClr val="5A564E"/>
                </a:solidFill>
                <a:latin typeface="Consolas" pitchFamily="34" charset="0"/>
                <a:ea typeface="Consolas" pitchFamily="34" charset="-122"/>
                <a:cs typeface="Consolas" pitchFamily="34" charset="-120"/>
              </a:rPr>
              <a:t>refuse</a:t>
            </a:r>
            <a:endParaRPr lang="en-US" sz="1000" dirty="0"/>
          </a:p>
        </p:txBody>
      </p:sp>
      <p:sp>
        <p:nvSpPr>
          <p:cNvPr id="15" name="Text 12"/>
          <p:cNvSpPr txBox="1"/>
          <p:nvPr/>
        </p:nvSpPr>
        <p:spPr>
          <a:xfrm>
            <a:off x="8321040" y="4352544"/>
            <a:ext cx="2727655" cy="329184"/>
          </a:xfrm>
          <a:prstGeom prst="rect">
            <a:avLst/>
          </a:prstGeom>
          <a:noFill/>
          <a:ln/>
        </p:spPr>
        <p:txBody>
          <a:bodyPr wrap="square" lIns="0" tIns="0" rIns="0" bIns="0" rtlCol="0" anchor="ctr"/>
          <a:lstStyle/>
          <a:p>
            <a:pPr indent="0" marL="0">
              <a:buNone/>
            </a:pPr>
            <a:r>
              <a:rPr lang="en-US" sz="1700" dirty="0">
                <a:solidFill>
                  <a:srgbClr val="322D2A"/>
                </a:solidFill>
                <a:latin typeface="Segoe UI" pitchFamily="34" charset="0"/>
                <a:ea typeface="Segoe UI" pitchFamily="34" charset="-122"/>
                <a:cs typeface="Segoe UI" pitchFamily="34" charset="-120"/>
              </a:rPr>
              <a:t>Отказ с причиной</a:t>
            </a:r>
            <a:endParaRPr lang="en-US" sz="1700" dirty="0"/>
          </a:p>
        </p:txBody>
      </p:sp>
      <p:sp>
        <p:nvSpPr>
          <p:cNvPr id="16" name="Text 13"/>
          <p:cNvSpPr txBox="1"/>
          <p:nvPr/>
        </p:nvSpPr>
        <p:spPr>
          <a:xfrm>
            <a:off x="11076127" y="4242816"/>
            <a:ext cx="329184" cy="329184"/>
          </a:xfrm>
          <a:prstGeom prst="rect">
            <a:avLst/>
          </a:prstGeom>
          <a:noFill/>
          <a:ln/>
        </p:spPr>
        <p:txBody>
          <a:bodyPr wrap="square" lIns="0" tIns="0" rIns="0" bIns="0" rtlCol="0" anchor="ctr"/>
          <a:lstStyle/>
          <a:p>
            <a:pPr algn="ctr" indent="0" marL="0">
              <a:buNone/>
            </a:pPr>
            <a:r>
              <a:rPr lang="en-US" sz="1900" dirty="0">
                <a:solidFill>
                  <a:srgbClr val="C1292E"/>
                </a:solidFill>
                <a:latin typeface="Segoe UI Symbol" pitchFamily="34" charset="0"/>
                <a:ea typeface="Segoe UI Symbol" pitchFamily="34" charset="-122"/>
                <a:cs typeface="Segoe UI Symbol" pitchFamily="34" charset="-120"/>
              </a:rPr>
              <a:t>✕</a:t>
            </a:r>
            <a:endParaRPr lang="en-US" sz="1900" dirty="0"/>
          </a:p>
        </p:txBody>
      </p:sp>
      <p:sp>
        <p:nvSpPr>
          <p:cNvPr id="17" name="Text 14"/>
          <p:cNvSpPr txBox="1"/>
          <p:nvPr/>
        </p:nvSpPr>
        <p:spPr>
          <a:xfrm>
            <a:off x="548640" y="5074920"/>
            <a:ext cx="5486400" cy="292608"/>
          </a:xfrm>
          <a:prstGeom prst="rect">
            <a:avLst/>
          </a:prstGeom>
          <a:noFill/>
          <a:ln/>
        </p:spPr>
        <p:txBody>
          <a:bodyPr wrap="square" lIns="0" tIns="0" rIns="0" bIns="0" rtlCol="0" anchor="t"/>
          <a:lstStyle/>
          <a:p>
            <a:pPr indent="0" marL="0">
              <a:buNone/>
            </a:pPr>
            <a:r>
              <a:rPr lang="en-US" sz="1500" dirty="0">
                <a:solidFill>
                  <a:srgbClr val="5A564E"/>
                </a:solidFill>
                <a:latin typeface="Segoe UI" pitchFamily="34" charset="0"/>
                <a:ea typeface="Segoe UI" pitchFamily="34" charset="-122"/>
                <a:cs typeface="Segoe UI" pitchFamily="34" charset="-120"/>
              </a:rPr>
              <a:t>команда </a:t>
            </a:r>
            <a:pPr indent="0" marL="0">
              <a:buNone/>
            </a:pPr>
            <a:r>
              <a:rPr lang="en-US" sz="1500" dirty="0">
                <a:solidFill>
                  <a:srgbClr val="322D2A"/>
                </a:solidFill>
                <a:latin typeface="Segoe UI" pitchFamily="34" charset="0"/>
                <a:ea typeface="Segoe UI" pitchFamily="34" charset="-122"/>
                <a:cs typeface="Segoe UI" pitchFamily="34" charset="-120"/>
              </a:rPr>
              <a:t>GoatWhistle</a:t>
            </a:r>
            <a:endParaRPr lang="en-US" sz="1500" dirty="0"/>
          </a:p>
        </p:txBody>
      </p:sp>
      <p:sp>
        <p:nvSpPr>
          <p:cNvPr id="18" name="Text 15">
            <a:hlinkClick r:id="rId2" tooltip=""/>
          </p:cNvPr>
          <p:cNvSpPr txBox="1"/>
          <p:nvPr/>
        </p:nvSpPr>
        <p:spPr>
          <a:xfrm>
            <a:off x="548640" y="5413248"/>
            <a:ext cx="5486400" cy="292608"/>
          </a:xfrm>
          <a:prstGeom prst="rect">
            <a:avLst/>
          </a:prstGeom>
          <a:noFill/>
          <a:ln/>
        </p:spPr>
        <p:txBody>
          <a:bodyPr wrap="square" lIns="0" tIns="0" rIns="0" bIns="0" rtlCol="0" anchor="t"/>
          <a:lstStyle/>
          <a:p>
            <a:pPr indent="0" marL="0">
              <a:buNone/>
            </a:pPr>
            <a:r>
              <a:rPr lang="en-US" sz="1500" u="sng" dirty="0">
                <a:solidFill>
                  <a:srgbClr val="8A4D0F"/>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neftecode.goatwhistle.ru</a:t>
            </a:r>
            <a:endParaRPr lang="en-US" sz="1500" dirty="0"/>
          </a:p>
        </p:txBody>
      </p:sp>
      <p:sp>
        <p:nvSpPr>
          <p:cNvPr id="19" name="Text 16"/>
          <p:cNvSpPr txBox="1"/>
          <p:nvPr/>
        </p:nvSpPr>
        <p:spPr>
          <a:xfrm>
            <a:off x="548640" y="5852160"/>
            <a:ext cx="5486400" cy="228600"/>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НЕФТЕКОД · ФИНАЛ · 29.09.2026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FE9"/>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228600"/>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РИСК-СЦЕНАРИЙ · 24.07.2026 03:00 · ГОРИЗОНТ 3 Ч</a:t>
            </a:r>
            <a:endParaRPr lang="en-US" sz="1000" dirty="0"/>
          </a:p>
        </p:txBody>
      </p:sp>
      <p:sp>
        <p:nvSpPr>
          <p:cNvPr id="3" name="Text 1"/>
          <p:cNvSpPr txBox="1"/>
          <p:nvPr/>
        </p:nvSpPr>
        <p:spPr>
          <a:xfrm>
            <a:off x="548640" y="731520"/>
            <a:ext cx="10424160" cy="566928"/>
          </a:xfrm>
          <a:prstGeom prst="rect">
            <a:avLst/>
          </a:prstGeom>
          <a:noFill/>
          <a:ln/>
        </p:spPr>
        <p:txBody>
          <a:bodyPr wrap="square" lIns="0" tIns="0" rIns="0" bIns="0" rtlCol="0" anchor="ctr"/>
          <a:lstStyle/>
          <a:p>
            <a:pPr indent="0" marL="0">
              <a:buNone/>
            </a:pPr>
            <a:r>
              <a:rPr lang="en-US" sz="3000" dirty="0">
                <a:solidFill>
                  <a:srgbClr val="322D2A"/>
                </a:solidFill>
                <a:latin typeface="Segoe UI Semibold" pitchFamily="34" charset="0"/>
                <a:ea typeface="Segoe UI Semibold" pitchFamily="34" charset="-122"/>
                <a:cs typeface="Segoe UI Semibold" pitchFamily="34" charset="-120"/>
              </a:rPr>
              <a:t>CUTPOINT предлагает оператору действие</a:t>
            </a:r>
            <a:endParaRPr lang="en-US" sz="3000" dirty="0"/>
          </a:p>
        </p:txBody>
      </p:sp>
      <p:sp>
        <p:nvSpPr>
          <p:cNvPr id="4" name="Text 2"/>
          <p:cNvSpPr txBox="1"/>
          <p:nvPr/>
        </p:nvSpPr>
        <p:spPr>
          <a:xfrm>
            <a:off x="548640" y="1335024"/>
            <a:ext cx="10424160" cy="329184"/>
          </a:xfrm>
          <a:prstGeom prst="rect">
            <a:avLst/>
          </a:prstGeom>
          <a:noFill/>
          <a:ln/>
        </p:spPr>
        <p:txBody>
          <a:bodyPr wrap="square" lIns="0" tIns="0" rIns="0" bIns="0" rtlCol="0" anchor="ctr"/>
          <a:lstStyle/>
          <a:p>
            <a:pPr indent="0" marL="0">
              <a:buNone/>
            </a:pPr>
            <a:r>
              <a:rPr lang="en-US" sz="1500" dirty="0">
                <a:solidFill>
                  <a:srgbClr val="5A564E"/>
                </a:solidFill>
                <a:latin typeface="Segoe UI" pitchFamily="34" charset="0"/>
                <a:ea typeface="Segoe UI" pitchFamily="34" charset="-122"/>
                <a:cs typeface="Segoe UI" pitchFamily="34" charset="-120"/>
              </a:rPr>
              <a:t>Прогноз качества потока ухудшается — система снижает выпуск, а не надеется на лучшее.</a:t>
            </a:r>
            <a:endParaRPr lang="en-US" sz="1500" dirty="0"/>
          </a:p>
        </p:txBody>
      </p:sp>
      <p:pic>
        <p:nvPicPr>
          <p:cNvPr id="5" name="Image 0" descr="preencoded.png">    </p:cNvPr>
          <p:cNvPicPr>
            <a:picLocks noChangeAspect="1"/>
          </p:cNvPicPr>
          <p:nvPr/>
        </p:nvPicPr>
        <p:blipFill>
          <a:blip r:embed="rId1"/>
          <a:stretch>
            <a:fillRect/>
          </a:stretch>
        </p:blipFill>
        <p:spPr>
          <a:xfrm>
            <a:off x="11277295" y="420624"/>
            <a:ext cx="365760" cy="365760"/>
          </a:xfrm>
          <a:prstGeom prst="rect">
            <a:avLst/>
          </a:prstGeom>
        </p:spPr>
      </p:pic>
      <p:sp>
        <p:nvSpPr>
          <p:cNvPr id="6" name="Text 3"/>
          <p:cNvSpPr txBox="1"/>
          <p:nvPr/>
        </p:nvSpPr>
        <p:spPr>
          <a:xfrm>
            <a:off x="10180015" y="6309360"/>
            <a:ext cx="1463040" cy="228600"/>
          </a:xfrm>
          <a:prstGeom prst="rect">
            <a:avLst/>
          </a:prstGeom>
          <a:noFill/>
          <a:ln/>
        </p:spPr>
        <p:txBody>
          <a:bodyPr wrap="square" lIns="0" tIns="0" rIns="0" bIns="0" rtlCol="0" anchor="t"/>
          <a:lstStyle/>
          <a:p>
            <a:pPr algn="r" indent="0" marL="0">
              <a:buNone/>
            </a:pPr>
            <a:r>
              <a:rPr lang="en-US" sz="1100" spc="100" kern="0" dirty="0">
                <a:solidFill>
                  <a:srgbClr val="5A564E"/>
                </a:solidFill>
                <a:latin typeface="Consolas" pitchFamily="34" charset="0"/>
                <a:ea typeface="Consolas" pitchFamily="34" charset="-122"/>
                <a:cs typeface="Consolas" pitchFamily="34" charset="-120"/>
              </a:rPr>
              <a:t>02 / 10</a:t>
            </a:r>
            <a:endParaRPr lang="en-US" sz="1100" dirty="0"/>
          </a:p>
        </p:txBody>
      </p:sp>
      <p:sp>
        <p:nvSpPr>
          <p:cNvPr id="7" name="Text 4"/>
          <p:cNvSpPr txBox="1"/>
          <p:nvPr/>
        </p:nvSpPr>
        <p:spPr>
          <a:xfrm>
            <a:off x="548640" y="6291072"/>
            <a:ext cx="9692640" cy="274320"/>
          </a:xfrm>
          <a:prstGeom prst="rect">
            <a:avLst/>
          </a:prstGeom>
          <a:noFill/>
          <a:ln/>
        </p:spPr>
        <p:txBody>
          <a:bodyPr wrap="square" lIns="0" tIns="0" rIns="0" bIns="0" rtlCol="0" anchor="ctr"/>
          <a:lstStyle/>
          <a:p>
            <a:pPr indent="0" marL="0">
              <a:buNone/>
            </a:pPr>
            <a:r>
              <a:rPr lang="en-US" sz="1100" dirty="0">
                <a:solidFill>
                  <a:srgbClr val="5A564E"/>
                </a:solidFill>
                <a:latin typeface="Segoe UI" pitchFamily="34" charset="0"/>
                <a:ea typeface="Segoe UI" pitchFamily="34" charset="-122"/>
                <a:cs typeface="Segoe UI" pitchFamily="34" charset="-120"/>
              </a:rPr>
              <a:t>Сценарная модель: выпуск модельный, не фактический выпуск завода.</a:t>
            </a:r>
            <a:endParaRPr lang="en-US" sz="1100" dirty="0"/>
          </a:p>
        </p:txBody>
      </p:sp>
      <p:sp>
        <p:nvSpPr>
          <p:cNvPr id="8" name="Shape 5"/>
          <p:cNvSpPr/>
          <p:nvPr/>
        </p:nvSpPr>
        <p:spPr>
          <a:xfrm>
            <a:off x="548640" y="1920240"/>
            <a:ext cx="5394960" cy="3886200"/>
          </a:xfrm>
          <a:prstGeom prst="roundRect">
            <a:avLst>
              <a:gd name="adj" fmla="val 1412"/>
            </a:avLst>
          </a:prstGeom>
          <a:solidFill>
            <a:srgbClr val="FFFFFF"/>
          </a:solidFill>
          <a:ln w="9525">
            <a:solidFill>
              <a:srgbClr val="322D2A"/>
            </a:solidFill>
            <a:prstDash val="solid"/>
          </a:ln>
        </p:spPr>
      </p:sp>
      <p:sp>
        <p:nvSpPr>
          <p:cNvPr id="9" name="Text 6"/>
          <p:cNvSpPr txBox="1"/>
          <p:nvPr/>
        </p:nvSpPr>
        <p:spPr>
          <a:xfrm>
            <a:off x="868680" y="2194560"/>
            <a:ext cx="2743200" cy="201168"/>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ИСХОД</a:t>
            </a:r>
            <a:endParaRPr lang="en-US" sz="1000" dirty="0"/>
          </a:p>
        </p:txBody>
      </p:sp>
      <p:sp>
        <p:nvSpPr>
          <p:cNvPr id="10" name="Text 7"/>
          <p:cNvSpPr txBox="1"/>
          <p:nvPr/>
        </p:nvSpPr>
        <p:spPr>
          <a:xfrm>
            <a:off x="868680" y="2423160"/>
            <a:ext cx="4754880" cy="548640"/>
          </a:xfrm>
          <a:prstGeom prst="rect">
            <a:avLst/>
          </a:prstGeom>
          <a:noFill/>
          <a:ln/>
        </p:spPr>
        <p:txBody>
          <a:bodyPr wrap="square" lIns="0" tIns="0" rIns="0" bIns="0" rtlCol="0" anchor="ctr"/>
          <a:lstStyle/>
          <a:p>
            <a:pPr indent="0" marL="0">
              <a:buNone/>
            </a:pPr>
            <a:r>
              <a:rPr lang="en-US" sz="3200" dirty="0">
                <a:solidFill>
                  <a:srgbClr val="322D2A"/>
                </a:solidFill>
                <a:latin typeface="Segoe UI Light" pitchFamily="34" charset="0"/>
                <a:ea typeface="Segoe UI Light" pitchFamily="34" charset="-122"/>
                <a:cs typeface="Segoe UI Light" pitchFamily="34" charset="-120"/>
              </a:rPr>
              <a:t>Изменить режим</a:t>
            </a:r>
            <a:endParaRPr lang="en-US" sz="3200" dirty="0"/>
          </a:p>
        </p:txBody>
      </p:sp>
      <p:sp>
        <p:nvSpPr>
          <p:cNvPr id="11" name="Text 8"/>
          <p:cNvSpPr txBox="1"/>
          <p:nvPr/>
        </p:nvSpPr>
        <p:spPr>
          <a:xfrm>
            <a:off x="868680" y="2999232"/>
            <a:ext cx="4754880" cy="201168"/>
          </a:xfrm>
          <a:prstGeom prst="rect">
            <a:avLst/>
          </a:prstGeom>
          <a:noFill/>
          <a:ln/>
        </p:spPr>
        <p:txBody>
          <a:bodyPr wrap="square" lIns="0" tIns="0" rIns="0" bIns="0" rtlCol="0" anchor="t"/>
          <a:lstStyle/>
          <a:p>
            <a:pPr indent="0" marL="0">
              <a:buNone/>
            </a:pPr>
            <a:r>
              <a:rPr lang="en-US" sz="1000" spc="50" kern="0" dirty="0">
                <a:solidFill>
                  <a:srgbClr val="5A564E"/>
                </a:solidFill>
                <a:latin typeface="Consolas" pitchFamily="34" charset="0"/>
                <a:ea typeface="Consolas" pitchFamily="34" charset="-122"/>
                <a:cs typeface="Consolas" pitchFamily="34" charset="-120"/>
              </a:rPr>
              <a:t>recommend_scenario · план c0001</a:t>
            </a:r>
            <a:endParaRPr lang="en-US" sz="1000" dirty="0"/>
          </a:p>
        </p:txBody>
      </p:sp>
      <p:sp>
        <p:nvSpPr>
          <p:cNvPr id="12" name="Text 9"/>
          <p:cNvSpPr txBox="1"/>
          <p:nvPr/>
        </p:nvSpPr>
        <p:spPr>
          <a:xfrm>
            <a:off x="868680" y="3291840"/>
            <a:ext cx="4937760" cy="1143000"/>
          </a:xfrm>
          <a:prstGeom prst="rect">
            <a:avLst/>
          </a:prstGeom>
          <a:noFill/>
          <a:ln/>
        </p:spPr>
        <p:txBody>
          <a:bodyPr wrap="square" lIns="0" tIns="0" rIns="0" bIns="0" rtlCol="0" anchor="ctr"/>
          <a:lstStyle/>
          <a:p>
            <a:pPr indent="0" marL="0">
              <a:buNone/>
            </a:pPr>
            <a:r>
              <a:rPr lang="en-US" sz="5400" strike="sngStrike" dirty="0">
                <a:solidFill>
                  <a:srgbClr val="8F8974"/>
                </a:solidFill>
                <a:latin typeface="Segoe UI" pitchFamily="34" charset="0"/>
                <a:ea typeface="Segoe UI" pitchFamily="34" charset="-122"/>
                <a:cs typeface="Segoe UI" pitchFamily="34" charset="-120"/>
              </a:rPr>
              <a:t>100</a:t>
            </a:r>
            <a:pPr indent="0" marL="0">
              <a:buNone/>
            </a:pPr>
            <a:r>
              <a:rPr lang="en-US" sz="4000" dirty="0">
                <a:solidFill>
                  <a:srgbClr val="C8761A"/>
                </a:solidFill>
                <a:latin typeface="Segoe UI" pitchFamily="34" charset="0"/>
                <a:ea typeface="Segoe UI" pitchFamily="34" charset="-122"/>
                <a:cs typeface="Segoe UI" pitchFamily="34" charset="-120"/>
              </a:rPr>
              <a:t>  →  </a:t>
            </a:r>
            <a:pPr indent="0" marL="0">
              <a:buNone/>
            </a:pPr>
            <a:r>
              <a:rPr lang="en-US" sz="7200" dirty="0">
                <a:solidFill>
                  <a:srgbClr val="322D2A"/>
                </a:solidFill>
                <a:latin typeface="Segoe UI Semibold" pitchFamily="34" charset="0"/>
                <a:ea typeface="Segoe UI Semibold" pitchFamily="34" charset="-122"/>
                <a:cs typeface="Segoe UI Semibold" pitchFamily="34" charset="-120"/>
              </a:rPr>
              <a:t>50</a:t>
            </a:r>
            <a:pPr indent="0" marL="0">
              <a:buNone/>
            </a:pPr>
            <a:r>
              <a:rPr lang="en-US" sz="2600" dirty="0">
                <a:solidFill>
                  <a:srgbClr val="5A564E"/>
                </a:solidFill>
                <a:latin typeface="Segoe UI" pitchFamily="34" charset="0"/>
                <a:ea typeface="Segoe UI" pitchFamily="34" charset="-122"/>
                <a:cs typeface="Segoe UI" pitchFamily="34" charset="-120"/>
              </a:rPr>
              <a:t> т/ч</a:t>
            </a:r>
            <a:endParaRPr lang="en-US" sz="1400" dirty="0"/>
          </a:p>
        </p:txBody>
      </p:sp>
      <p:sp>
        <p:nvSpPr>
          <p:cNvPr id="13" name="Text 10"/>
          <p:cNvSpPr txBox="1"/>
          <p:nvPr/>
        </p:nvSpPr>
        <p:spPr>
          <a:xfrm>
            <a:off x="868680" y="4480560"/>
            <a:ext cx="4754880" cy="274320"/>
          </a:xfrm>
          <a:prstGeom prst="rect">
            <a:avLst/>
          </a:prstGeom>
          <a:noFill/>
          <a:ln/>
        </p:spPr>
        <p:txBody>
          <a:bodyPr wrap="square" lIns="0" tIns="0" rIns="0" bIns="0" rtlCol="0" anchor="t"/>
          <a:lstStyle/>
          <a:p>
            <a:pPr indent="0" marL="0">
              <a:buNone/>
            </a:pPr>
            <a:r>
              <a:rPr lang="en-US" sz="1300" dirty="0">
                <a:solidFill>
                  <a:srgbClr val="5A564E"/>
                </a:solidFill>
                <a:latin typeface="Segoe UI" pitchFamily="34" charset="0"/>
                <a:ea typeface="Segoe UI" pitchFamily="34" charset="-122"/>
                <a:cs typeface="Segoe UI" pitchFamily="34" charset="-120"/>
              </a:rPr>
              <a:t>рекомендация по выпуску</a:t>
            </a:r>
            <a:endParaRPr lang="en-US" sz="1300" dirty="0"/>
          </a:p>
        </p:txBody>
      </p:sp>
      <p:sp>
        <p:nvSpPr>
          <p:cNvPr id="14" name="Text 11"/>
          <p:cNvSpPr txBox="1"/>
          <p:nvPr/>
        </p:nvSpPr>
        <p:spPr>
          <a:xfrm>
            <a:off x="822960" y="4937760"/>
            <a:ext cx="274320" cy="274320"/>
          </a:xfrm>
          <a:prstGeom prst="rect">
            <a:avLst/>
          </a:prstGeom>
          <a:noFill/>
          <a:ln/>
        </p:spPr>
        <p:txBody>
          <a:bodyPr wrap="square" lIns="0" tIns="0" rIns="0" bIns="0" rtlCol="0" anchor="ctr"/>
          <a:lstStyle/>
          <a:p>
            <a:pPr algn="ctr" indent="0" marL="0">
              <a:buNone/>
            </a:pPr>
            <a:r>
              <a:rPr lang="en-US" sz="1600" dirty="0">
                <a:solidFill>
                  <a:srgbClr val="1B7A3D"/>
                </a:solidFill>
                <a:latin typeface="Segoe UI Symbol" pitchFamily="34" charset="0"/>
                <a:ea typeface="Segoe UI Symbol" pitchFamily="34" charset="-122"/>
                <a:cs typeface="Segoe UI Symbol" pitchFamily="34" charset="-120"/>
              </a:rPr>
              <a:t>✓</a:t>
            </a:r>
            <a:endParaRPr lang="en-US" sz="1600" dirty="0"/>
          </a:p>
        </p:txBody>
      </p:sp>
      <p:sp>
        <p:nvSpPr>
          <p:cNvPr id="15" name="Text 12"/>
          <p:cNvSpPr txBox="1"/>
          <p:nvPr/>
        </p:nvSpPr>
        <p:spPr>
          <a:xfrm>
            <a:off x="1188720" y="4937760"/>
            <a:ext cx="4480560" cy="274320"/>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Gate пройден · проверка фаз завершена</a:t>
            </a:r>
            <a:endParaRPr lang="en-US" sz="1300" dirty="0"/>
          </a:p>
        </p:txBody>
      </p:sp>
      <p:sp>
        <p:nvSpPr>
          <p:cNvPr id="16" name="Text 13"/>
          <p:cNvSpPr txBox="1"/>
          <p:nvPr/>
        </p:nvSpPr>
        <p:spPr>
          <a:xfrm>
            <a:off x="868680" y="5394960"/>
            <a:ext cx="4754880" cy="201168"/>
          </a:xfrm>
          <a:prstGeom prst="rect">
            <a:avLst/>
          </a:prstGeom>
          <a:noFill/>
          <a:ln/>
        </p:spPr>
        <p:txBody>
          <a:bodyPr wrap="square" lIns="0" tIns="0" rIns="0" bIns="0" rtlCol="0" anchor="t"/>
          <a:lstStyle/>
          <a:p>
            <a:pPr indent="0" marL="0">
              <a:buNone/>
            </a:pPr>
            <a:r>
              <a:rPr lang="en-US" sz="1000" spc="50" kern="0" dirty="0">
                <a:solidFill>
                  <a:srgbClr val="5A564E"/>
                </a:solidFill>
                <a:latin typeface="Consolas" pitchFamily="34" charset="0"/>
                <a:ea typeface="Consolas" pitchFamily="34" charset="-122"/>
                <a:cs typeface="Consolas" pitchFamily="34" charset="-120"/>
              </a:rPr>
              <a:t>commercial_release_allowed = false</a:t>
            </a:r>
            <a:endParaRPr lang="en-US" sz="1000" dirty="0"/>
          </a:p>
        </p:txBody>
      </p:sp>
      <p:sp>
        <p:nvSpPr>
          <p:cNvPr id="17" name="Text 14"/>
          <p:cNvSpPr txBox="1"/>
          <p:nvPr/>
        </p:nvSpPr>
        <p:spPr>
          <a:xfrm>
            <a:off x="6309360" y="1920240"/>
            <a:ext cx="5333695" cy="201168"/>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МОДЕЛЬНЫЙ ВЫПУСК ЗА 3 Ч</a:t>
            </a:r>
            <a:endParaRPr lang="en-US" sz="1000" dirty="0"/>
          </a:p>
        </p:txBody>
      </p:sp>
      <p:sp>
        <p:nvSpPr>
          <p:cNvPr id="18" name="Text 15"/>
          <p:cNvSpPr txBox="1"/>
          <p:nvPr/>
        </p:nvSpPr>
        <p:spPr>
          <a:xfrm>
            <a:off x="6309360" y="2286000"/>
            <a:ext cx="2743200" cy="292608"/>
          </a:xfrm>
          <a:prstGeom prst="rect">
            <a:avLst/>
          </a:prstGeom>
          <a:noFill/>
          <a:ln/>
        </p:spPr>
        <p:txBody>
          <a:bodyPr wrap="square" lIns="0" tIns="0" rIns="0" bIns="0" rtlCol="0" anchor="ctr"/>
          <a:lstStyle/>
          <a:p>
            <a:pPr indent="0" marL="0">
              <a:buNone/>
            </a:pPr>
            <a:r>
              <a:rPr lang="en-US" sz="1500" dirty="0">
                <a:solidFill>
                  <a:srgbClr val="322D2A"/>
                </a:solidFill>
                <a:latin typeface="Segoe UI Semibold" pitchFamily="34" charset="0"/>
                <a:ea typeface="Segoe UI Semibold" pitchFamily="34" charset="-122"/>
                <a:cs typeface="Segoe UI Semibold" pitchFamily="34" charset="-120"/>
              </a:rPr>
              <a:t>План 100 т/ч</a:t>
            </a:r>
            <a:endParaRPr lang="en-US" sz="1500" dirty="0"/>
          </a:p>
        </p:txBody>
      </p:sp>
      <p:sp>
        <p:nvSpPr>
          <p:cNvPr id="19" name="Text 16"/>
          <p:cNvSpPr txBox="1"/>
          <p:nvPr/>
        </p:nvSpPr>
        <p:spPr>
          <a:xfrm>
            <a:off x="9052560" y="2286000"/>
            <a:ext cx="2590495" cy="292608"/>
          </a:xfrm>
          <a:prstGeom prst="rect">
            <a:avLst/>
          </a:prstGeom>
          <a:noFill/>
          <a:ln/>
        </p:spPr>
        <p:txBody>
          <a:bodyPr wrap="square" lIns="0" tIns="0" rIns="0" bIns="0" rtlCol="0" anchor="ctr"/>
          <a:lstStyle/>
          <a:p>
            <a:pPr algn="r" indent="0" marL="0">
              <a:buNone/>
            </a:pPr>
            <a:r>
              <a:rPr lang="en-US" sz="1100" spc="150" kern="0" dirty="0">
                <a:solidFill>
                  <a:srgbClr val="C1292E"/>
                </a:solidFill>
                <a:latin typeface="Consolas" pitchFamily="34" charset="0"/>
                <a:ea typeface="Consolas" pitchFamily="34" charset="-122"/>
                <a:cs typeface="Consolas" pitchFamily="34" charset="-120"/>
              </a:rPr>
              <a:t>ОТКЛОНЁН</a:t>
            </a:r>
            <a:endParaRPr lang="en-US" sz="1100" dirty="0"/>
          </a:p>
        </p:txBody>
      </p:sp>
      <p:sp>
        <p:nvSpPr>
          <p:cNvPr id="20" name="Shape 17"/>
          <p:cNvSpPr/>
          <p:nvPr/>
        </p:nvSpPr>
        <p:spPr>
          <a:xfrm>
            <a:off x="6309360" y="2670048"/>
            <a:ext cx="4480560" cy="420624"/>
          </a:xfrm>
          <a:prstGeom prst="roundRect">
            <a:avLst>
              <a:gd name="adj" fmla="val 6522"/>
            </a:avLst>
          </a:prstGeom>
          <a:ln w="15875">
            <a:solidFill>
              <a:srgbClr val="C1292E"/>
            </a:solidFill>
            <a:prstDash val="dash"/>
          </a:ln>
        </p:spPr>
      </p:sp>
      <p:sp>
        <p:nvSpPr>
          <p:cNvPr id="21" name="Text 18"/>
          <p:cNvSpPr txBox="1"/>
          <p:nvPr/>
        </p:nvSpPr>
        <p:spPr>
          <a:xfrm>
            <a:off x="10899648" y="2670048"/>
            <a:ext cx="822960" cy="420624"/>
          </a:xfrm>
          <a:prstGeom prst="rect">
            <a:avLst/>
          </a:prstGeom>
          <a:noFill/>
          <a:ln/>
        </p:spPr>
        <p:txBody>
          <a:bodyPr wrap="square" lIns="0" tIns="0" rIns="0" bIns="0" rtlCol="0" anchor="ctr"/>
          <a:lstStyle/>
          <a:p>
            <a:pPr indent="0" marL="0">
              <a:buNone/>
            </a:pPr>
            <a:r>
              <a:rPr lang="en-US" sz="1600" dirty="0">
                <a:solidFill>
                  <a:srgbClr val="322D2A"/>
                </a:solidFill>
                <a:latin typeface="Consolas" pitchFamily="34" charset="0"/>
                <a:ea typeface="Consolas" pitchFamily="34" charset="-122"/>
                <a:cs typeface="Consolas" pitchFamily="34" charset="-120"/>
              </a:rPr>
              <a:t>300 т</a:t>
            </a:r>
            <a:endParaRPr lang="en-US" sz="1600" dirty="0"/>
          </a:p>
        </p:txBody>
      </p:sp>
      <p:sp>
        <p:nvSpPr>
          <p:cNvPr id="22" name="Text 19"/>
          <p:cNvSpPr txBox="1"/>
          <p:nvPr/>
        </p:nvSpPr>
        <p:spPr>
          <a:xfrm>
            <a:off x="6309360" y="3291840"/>
            <a:ext cx="2743200" cy="292608"/>
          </a:xfrm>
          <a:prstGeom prst="rect">
            <a:avLst/>
          </a:prstGeom>
          <a:noFill/>
          <a:ln/>
        </p:spPr>
        <p:txBody>
          <a:bodyPr wrap="square" lIns="0" tIns="0" rIns="0" bIns="0" rtlCol="0" anchor="ctr"/>
          <a:lstStyle/>
          <a:p>
            <a:pPr indent="0" marL="0">
              <a:buNone/>
            </a:pPr>
            <a:r>
              <a:rPr lang="en-US" sz="1500" dirty="0">
                <a:solidFill>
                  <a:srgbClr val="322D2A"/>
                </a:solidFill>
                <a:latin typeface="Segoe UI Semibold" pitchFamily="34" charset="0"/>
                <a:ea typeface="Segoe UI Semibold" pitchFamily="34" charset="-122"/>
                <a:cs typeface="Segoe UI Semibold" pitchFamily="34" charset="-120"/>
              </a:rPr>
              <a:t>План 50 т/ч</a:t>
            </a:r>
            <a:endParaRPr lang="en-US" sz="1500" dirty="0"/>
          </a:p>
        </p:txBody>
      </p:sp>
      <p:sp>
        <p:nvSpPr>
          <p:cNvPr id="23" name="Text 20"/>
          <p:cNvSpPr txBox="1"/>
          <p:nvPr/>
        </p:nvSpPr>
        <p:spPr>
          <a:xfrm>
            <a:off x="9052560" y="3291840"/>
            <a:ext cx="2590495" cy="292608"/>
          </a:xfrm>
          <a:prstGeom prst="rect">
            <a:avLst/>
          </a:prstGeom>
          <a:noFill/>
          <a:ln/>
        </p:spPr>
        <p:txBody>
          <a:bodyPr wrap="square" lIns="0" tIns="0" rIns="0" bIns="0" rtlCol="0" anchor="ctr"/>
          <a:lstStyle/>
          <a:p>
            <a:pPr algn="r" indent="0" marL="0">
              <a:buNone/>
            </a:pPr>
            <a:r>
              <a:rPr lang="en-US" sz="1100" spc="150" kern="0" dirty="0">
                <a:solidFill>
                  <a:srgbClr val="1B7A3D"/>
                </a:solidFill>
                <a:latin typeface="Consolas" pitchFamily="34" charset="0"/>
                <a:ea typeface="Consolas" pitchFamily="34" charset="-122"/>
                <a:cs typeface="Consolas" pitchFamily="34" charset="-120"/>
              </a:rPr>
              <a:t>ВЫБРАН</a:t>
            </a:r>
            <a:endParaRPr lang="en-US" sz="1100" dirty="0"/>
          </a:p>
        </p:txBody>
      </p:sp>
      <p:sp>
        <p:nvSpPr>
          <p:cNvPr id="24" name="Shape 21"/>
          <p:cNvSpPr/>
          <p:nvPr/>
        </p:nvSpPr>
        <p:spPr>
          <a:xfrm>
            <a:off x="6309360" y="3675888"/>
            <a:ext cx="2240280" cy="420624"/>
          </a:xfrm>
          <a:prstGeom prst="roundRect">
            <a:avLst>
              <a:gd name="adj" fmla="val 6522"/>
            </a:avLst>
          </a:prstGeom>
          <a:solidFill>
            <a:srgbClr val="322D2A"/>
          </a:solidFill>
          <a:ln/>
        </p:spPr>
      </p:sp>
      <p:sp>
        <p:nvSpPr>
          <p:cNvPr id="25" name="Text 22"/>
          <p:cNvSpPr txBox="1"/>
          <p:nvPr/>
        </p:nvSpPr>
        <p:spPr>
          <a:xfrm>
            <a:off x="8659368" y="3675888"/>
            <a:ext cx="822960" cy="420624"/>
          </a:xfrm>
          <a:prstGeom prst="rect">
            <a:avLst/>
          </a:prstGeom>
          <a:noFill/>
          <a:ln/>
        </p:spPr>
        <p:txBody>
          <a:bodyPr wrap="square" lIns="0" tIns="0" rIns="0" bIns="0" rtlCol="0" anchor="ctr"/>
          <a:lstStyle/>
          <a:p>
            <a:pPr indent="0" marL="0">
              <a:buNone/>
            </a:pPr>
            <a:r>
              <a:rPr lang="en-US" sz="1600" dirty="0">
                <a:solidFill>
                  <a:srgbClr val="322D2A"/>
                </a:solidFill>
                <a:latin typeface="Consolas" pitchFamily="34" charset="0"/>
                <a:ea typeface="Consolas" pitchFamily="34" charset="-122"/>
                <a:cs typeface="Consolas" pitchFamily="34" charset="-120"/>
              </a:rPr>
              <a:t>150 т</a:t>
            </a:r>
            <a:endParaRPr lang="en-US" sz="1600" dirty="0"/>
          </a:p>
        </p:txBody>
      </p:sp>
      <p:sp>
        <p:nvSpPr>
          <p:cNvPr id="26" name="Shape 23"/>
          <p:cNvSpPr/>
          <p:nvPr/>
        </p:nvSpPr>
        <p:spPr>
          <a:xfrm>
            <a:off x="6309360" y="4434840"/>
            <a:ext cx="5333695" cy="1371600"/>
          </a:xfrm>
          <a:prstGeom prst="roundRect">
            <a:avLst>
              <a:gd name="adj" fmla="val 4000"/>
            </a:avLst>
          </a:prstGeom>
          <a:solidFill>
            <a:srgbClr val="FFFFFF"/>
          </a:solidFill>
          <a:ln w="9525">
            <a:solidFill>
              <a:srgbClr val="322D2A"/>
            </a:solidFill>
            <a:prstDash val="solid"/>
          </a:ln>
        </p:spPr>
      </p:sp>
      <p:sp>
        <p:nvSpPr>
          <p:cNvPr id="27" name="Text 24"/>
          <p:cNvSpPr txBox="1"/>
          <p:nvPr/>
        </p:nvSpPr>
        <p:spPr>
          <a:xfrm>
            <a:off x="6537960" y="4654296"/>
            <a:ext cx="274320" cy="274320"/>
          </a:xfrm>
          <a:prstGeom prst="rect">
            <a:avLst/>
          </a:prstGeom>
          <a:noFill/>
          <a:ln/>
        </p:spPr>
        <p:txBody>
          <a:bodyPr wrap="square" lIns="0" tIns="0" rIns="0" bIns="0" rtlCol="0" anchor="ctr"/>
          <a:lstStyle/>
          <a:p>
            <a:pPr algn="ctr" indent="0" marL="0">
              <a:buNone/>
            </a:pPr>
            <a:r>
              <a:rPr lang="en-US" sz="1600" dirty="0">
                <a:solidFill>
                  <a:srgbClr val="C1292E"/>
                </a:solidFill>
                <a:latin typeface="Segoe UI Symbol" pitchFamily="34" charset="0"/>
                <a:ea typeface="Segoe UI Symbol" pitchFamily="34" charset="-122"/>
                <a:cs typeface="Segoe UI Symbol" pitchFamily="34" charset="-120"/>
              </a:rPr>
              <a:t>✕</a:t>
            </a:r>
            <a:endParaRPr lang="en-US" sz="1600" dirty="0"/>
          </a:p>
        </p:txBody>
      </p:sp>
      <p:sp>
        <p:nvSpPr>
          <p:cNvPr id="28" name="Text 25"/>
          <p:cNvSpPr txBox="1"/>
          <p:nvPr/>
        </p:nvSpPr>
        <p:spPr>
          <a:xfrm>
            <a:off x="6903720" y="4654296"/>
            <a:ext cx="4510735" cy="274320"/>
          </a:xfrm>
          <a:prstGeom prst="rect">
            <a:avLst/>
          </a:prstGeom>
          <a:noFill/>
          <a:ln/>
        </p:spPr>
        <p:txBody>
          <a:bodyPr wrap="square" lIns="0" tIns="0" rIns="0" bIns="0" rtlCol="0" anchor="ctr"/>
          <a:lstStyle/>
          <a:p>
            <a:pPr indent="0" marL="0">
              <a:buNone/>
            </a:pPr>
            <a:r>
              <a:rPr lang="en-US" sz="1400" dirty="0">
                <a:solidFill>
                  <a:srgbClr val="322D2A"/>
                </a:solidFill>
                <a:latin typeface="Segoe UI Semibold" pitchFamily="34" charset="0"/>
                <a:ea typeface="Segoe UI Semibold" pitchFamily="34" charset="-122"/>
                <a:cs typeface="Segoe UI Semibold" pitchFamily="34" charset="-120"/>
              </a:rPr>
              <a:t>Почему 100 т/ч исключён</a:t>
            </a:r>
            <a:endParaRPr lang="en-US" sz="1400" dirty="0"/>
          </a:p>
        </p:txBody>
      </p:sp>
      <p:sp>
        <p:nvSpPr>
          <p:cNvPr id="29" name="Text 26"/>
          <p:cNvSpPr txBox="1"/>
          <p:nvPr/>
        </p:nvSpPr>
        <p:spPr>
          <a:xfrm>
            <a:off x="6903720" y="5001768"/>
            <a:ext cx="4465015" cy="685800"/>
          </a:xfrm>
          <a:prstGeom prst="rect">
            <a:avLst/>
          </a:prstGeom>
          <a:noFill/>
          <a:ln/>
        </p:spPr>
        <p:txBody>
          <a:bodyPr wrap="square" lIns="0" tIns="0" rIns="0" bIns="0" rtlCol="0" anchor="t"/>
          <a:lstStyle/>
          <a:p>
            <a:pPr indent="0" marL="0">
              <a:buNone/>
            </a:pPr>
            <a:r>
              <a:rPr lang="en-US" sz="1300" dirty="0">
                <a:solidFill>
                  <a:srgbClr val="5A564E"/>
                </a:solidFill>
                <a:latin typeface="Segoe UI" pitchFamily="34" charset="0"/>
                <a:ea typeface="Segoe UI" pitchFamily="34" charset="-122"/>
                <a:cs typeface="Segoe UI" pitchFamily="34" charset="-120"/>
              </a:rPr>
              <a:t>План не проходит проверку при неизвестной общей фазе расписания резервуаров. 50 т/ч проходит — это цена осторожности в модели.</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FE9"/>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228600"/>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КОНТУР ДАННЫХ</a:t>
            </a:r>
            <a:endParaRPr lang="en-US" sz="1000" dirty="0"/>
          </a:p>
        </p:txBody>
      </p:sp>
      <p:sp>
        <p:nvSpPr>
          <p:cNvPr id="3" name="Text 1"/>
          <p:cNvSpPr txBox="1"/>
          <p:nvPr/>
        </p:nvSpPr>
        <p:spPr>
          <a:xfrm>
            <a:off x="548640" y="731520"/>
            <a:ext cx="10424160" cy="566928"/>
          </a:xfrm>
          <a:prstGeom prst="rect">
            <a:avLst/>
          </a:prstGeom>
          <a:noFill/>
          <a:ln/>
        </p:spPr>
        <p:txBody>
          <a:bodyPr wrap="square" lIns="0" tIns="0" rIns="0" bIns="0" rtlCol="0" anchor="ctr"/>
          <a:lstStyle/>
          <a:p>
            <a:pPr indent="0" marL="0">
              <a:buNone/>
            </a:pPr>
            <a:r>
              <a:rPr lang="en-US" sz="3000" dirty="0">
                <a:solidFill>
                  <a:srgbClr val="322D2A"/>
                </a:solidFill>
                <a:latin typeface="Segoe UI Semibold" pitchFamily="34" charset="0"/>
                <a:ea typeface="Segoe UI Semibold" pitchFamily="34" charset="-122"/>
                <a:cs typeface="Segoe UI Semibold" pitchFamily="34" charset="-120"/>
              </a:rPr>
              <a:t>Решение использует доступные на этот момент данные</a:t>
            </a:r>
            <a:endParaRPr lang="en-US" sz="3000" dirty="0"/>
          </a:p>
        </p:txBody>
      </p:sp>
      <p:sp>
        <p:nvSpPr>
          <p:cNvPr id="4" name="Text 2"/>
          <p:cNvSpPr txBox="1"/>
          <p:nvPr/>
        </p:nvSpPr>
        <p:spPr>
          <a:xfrm>
            <a:off x="548640" y="1335024"/>
            <a:ext cx="10424160" cy="329184"/>
          </a:xfrm>
          <a:prstGeom prst="rect">
            <a:avLst/>
          </a:prstGeom>
          <a:noFill/>
          <a:ln/>
        </p:spPr>
        <p:txBody>
          <a:bodyPr wrap="square" lIns="0" tIns="0" rIns="0" bIns="0" rtlCol="0" anchor="ctr"/>
          <a:lstStyle/>
          <a:p>
            <a:pPr indent="0" marL="0">
              <a:buNone/>
            </a:pPr>
            <a:r>
              <a:rPr lang="en-US" sz="1500" dirty="0">
                <a:solidFill>
                  <a:srgbClr val="5A564E"/>
                </a:solidFill>
                <a:latin typeface="Segoe UI" pitchFamily="34" charset="0"/>
                <a:ea typeface="Segoe UI" pitchFamily="34" charset="-122"/>
                <a:cs typeface="Segoe UI" pitchFamily="34" charset="-120"/>
              </a:rPr>
              <a:t>Телеметрия, ПАК и лаборатория собираются по времени доступности, а не по номеру строки.</a:t>
            </a:r>
            <a:endParaRPr lang="en-US" sz="1500" dirty="0"/>
          </a:p>
        </p:txBody>
      </p:sp>
      <p:pic>
        <p:nvPicPr>
          <p:cNvPr id="5" name="Image 0" descr="preencoded.png">    </p:cNvPr>
          <p:cNvPicPr>
            <a:picLocks noChangeAspect="1"/>
          </p:cNvPicPr>
          <p:nvPr/>
        </p:nvPicPr>
        <p:blipFill>
          <a:blip r:embed="rId1"/>
          <a:stretch>
            <a:fillRect/>
          </a:stretch>
        </p:blipFill>
        <p:spPr>
          <a:xfrm>
            <a:off x="11277295" y="420624"/>
            <a:ext cx="365760" cy="365760"/>
          </a:xfrm>
          <a:prstGeom prst="rect">
            <a:avLst/>
          </a:prstGeom>
        </p:spPr>
      </p:pic>
      <p:sp>
        <p:nvSpPr>
          <p:cNvPr id="6" name="Text 3"/>
          <p:cNvSpPr txBox="1"/>
          <p:nvPr/>
        </p:nvSpPr>
        <p:spPr>
          <a:xfrm>
            <a:off x="10180015" y="6309360"/>
            <a:ext cx="1463040" cy="228600"/>
          </a:xfrm>
          <a:prstGeom prst="rect">
            <a:avLst/>
          </a:prstGeom>
          <a:noFill/>
          <a:ln/>
        </p:spPr>
        <p:txBody>
          <a:bodyPr wrap="square" lIns="0" tIns="0" rIns="0" bIns="0" rtlCol="0" anchor="t"/>
          <a:lstStyle/>
          <a:p>
            <a:pPr algn="r" indent="0" marL="0">
              <a:buNone/>
            </a:pPr>
            <a:r>
              <a:rPr lang="en-US" sz="1100" spc="100" kern="0" dirty="0">
                <a:solidFill>
                  <a:srgbClr val="5A564E"/>
                </a:solidFill>
                <a:latin typeface="Consolas" pitchFamily="34" charset="0"/>
                <a:ea typeface="Consolas" pitchFamily="34" charset="-122"/>
                <a:cs typeface="Consolas" pitchFamily="34" charset="-120"/>
              </a:rPr>
              <a:t>03 / 10</a:t>
            </a:r>
            <a:endParaRPr lang="en-US" sz="1100" dirty="0"/>
          </a:p>
        </p:txBody>
      </p:sp>
      <p:sp>
        <p:nvSpPr>
          <p:cNvPr id="7" name="Text 4"/>
          <p:cNvSpPr txBox="1"/>
          <p:nvPr/>
        </p:nvSpPr>
        <p:spPr>
          <a:xfrm>
            <a:off x="548640" y="6291072"/>
            <a:ext cx="9692640" cy="274320"/>
          </a:xfrm>
          <a:prstGeom prst="rect">
            <a:avLst/>
          </a:prstGeom>
          <a:noFill/>
          <a:ln/>
        </p:spPr>
        <p:txBody>
          <a:bodyPr wrap="square" lIns="0" tIns="0" rIns="0" bIns="0" rtlCol="0" anchor="ctr"/>
          <a:lstStyle/>
          <a:p>
            <a:pPr indent="0" marL="0">
              <a:buNone/>
            </a:pPr>
            <a:r>
              <a:rPr lang="en-US" sz="1100" dirty="0">
                <a:solidFill>
                  <a:srgbClr val="5A564E"/>
                </a:solidFill>
                <a:latin typeface="Segoe UI" pitchFamily="34" charset="0"/>
                <a:ea typeface="Segoe UI" pitchFamily="34" charset="-122"/>
                <a:cs typeface="Segoe UI" pitchFamily="34" charset="-120"/>
              </a:rPr>
              <a:t>Пороги выведены из обучающего периода. Задержка ЛИМС 4 ч — допущение: времени выдачи результата в данных нет.</a:t>
            </a:r>
            <a:endParaRPr lang="en-US" sz="1100" dirty="0"/>
          </a:p>
        </p:txBody>
      </p:sp>
      <p:sp>
        <p:nvSpPr>
          <p:cNvPr id="8" name="Shape 5"/>
          <p:cNvSpPr/>
          <p:nvPr/>
        </p:nvSpPr>
        <p:spPr>
          <a:xfrm>
            <a:off x="548640" y="1874520"/>
            <a:ext cx="11094415" cy="2331720"/>
          </a:xfrm>
          <a:prstGeom prst="roundRect">
            <a:avLst>
              <a:gd name="adj" fmla="val 2353"/>
            </a:avLst>
          </a:prstGeom>
          <a:solidFill>
            <a:srgbClr val="FFFFFF"/>
          </a:solidFill>
          <a:ln w="9525">
            <a:solidFill>
              <a:srgbClr val="322D2A"/>
            </a:solidFill>
            <a:prstDash val="solid"/>
          </a:ln>
        </p:spPr>
      </p:sp>
      <p:sp>
        <p:nvSpPr>
          <p:cNvPr id="9" name="Shape 6"/>
          <p:cNvSpPr/>
          <p:nvPr/>
        </p:nvSpPr>
        <p:spPr>
          <a:xfrm>
            <a:off x="8549640" y="2057400"/>
            <a:ext cx="2834640" cy="1965960"/>
          </a:xfrm>
          <a:prstGeom prst="roundRect">
            <a:avLst>
              <a:gd name="adj" fmla="val 1860"/>
            </a:avLst>
          </a:prstGeom>
          <a:solidFill>
            <a:srgbClr val="E7E5DD"/>
          </a:solidFill>
          <a:ln/>
        </p:spPr>
      </p:sp>
      <p:sp>
        <p:nvSpPr>
          <p:cNvPr id="10" name="Text 7"/>
          <p:cNvSpPr txBox="1"/>
          <p:nvPr/>
        </p:nvSpPr>
        <p:spPr>
          <a:xfrm>
            <a:off x="8686800" y="2130552"/>
            <a:ext cx="2651760" cy="182880"/>
          </a:xfrm>
          <a:prstGeom prst="rect">
            <a:avLst/>
          </a:prstGeom>
          <a:noFill/>
          <a:ln/>
        </p:spPr>
        <p:txBody>
          <a:bodyPr wrap="square" lIns="0" tIns="0" rIns="0" bIns="0" rtlCol="0" anchor="t"/>
          <a:lstStyle/>
          <a:p>
            <a:pPr indent="0" marL="0">
              <a:buNone/>
            </a:pPr>
            <a:r>
              <a:rPr lang="en-US" sz="900" spc="100" kern="0" dirty="0">
                <a:solidFill>
                  <a:srgbClr val="5A564E"/>
                </a:solidFill>
                <a:latin typeface="Consolas" pitchFamily="34" charset="0"/>
                <a:ea typeface="Consolas" pitchFamily="34" charset="-122"/>
                <a:cs typeface="Consolas" pitchFamily="34" charset="-120"/>
              </a:rPr>
              <a:t>БУДУЩЕЕ — НЕ ИСПОЛЬЗУЕТСЯ</a:t>
            </a:r>
            <a:endParaRPr lang="en-US" sz="900" dirty="0"/>
          </a:p>
        </p:txBody>
      </p:sp>
      <p:sp>
        <p:nvSpPr>
          <p:cNvPr id="11" name="Text 8"/>
          <p:cNvSpPr txBox="1"/>
          <p:nvPr/>
        </p:nvSpPr>
        <p:spPr>
          <a:xfrm>
            <a:off x="822960" y="2249424"/>
            <a:ext cx="1645920" cy="237744"/>
          </a:xfrm>
          <a:prstGeom prst="rect">
            <a:avLst/>
          </a:prstGeom>
          <a:noFill/>
          <a:ln/>
        </p:spPr>
        <p:txBody>
          <a:bodyPr wrap="square" lIns="0" tIns="0" rIns="0" bIns="0" rtlCol="0" anchor="t"/>
          <a:lstStyle/>
          <a:p>
            <a:pPr indent="0" marL="0">
              <a:buNone/>
            </a:pPr>
            <a:r>
              <a:rPr lang="en-US" sz="1300" dirty="0">
                <a:solidFill>
                  <a:srgbClr val="322D2A"/>
                </a:solidFill>
                <a:latin typeface="Segoe UI Semibold" pitchFamily="34" charset="0"/>
                <a:ea typeface="Segoe UI Semibold" pitchFamily="34" charset="-122"/>
                <a:cs typeface="Segoe UI Semibold" pitchFamily="34" charset="-120"/>
              </a:rPr>
              <a:t>Телеметрия</a:t>
            </a:r>
            <a:endParaRPr lang="en-US" sz="1300" dirty="0"/>
          </a:p>
        </p:txBody>
      </p:sp>
      <p:sp>
        <p:nvSpPr>
          <p:cNvPr id="12" name="Text 9"/>
          <p:cNvSpPr txBox="1"/>
          <p:nvPr/>
        </p:nvSpPr>
        <p:spPr>
          <a:xfrm>
            <a:off x="822960" y="2487168"/>
            <a:ext cx="1737360" cy="182880"/>
          </a:xfrm>
          <a:prstGeom prst="rect">
            <a:avLst/>
          </a:prstGeom>
          <a:noFill/>
          <a:ln/>
        </p:spPr>
        <p:txBody>
          <a:bodyPr wrap="square" lIns="0" tIns="0" rIns="0" bIns="0" rtlCol="0" anchor="t"/>
          <a:lstStyle/>
          <a:p>
            <a:pPr indent="0" marL="0">
              <a:buNone/>
            </a:pPr>
            <a:r>
              <a:rPr lang="en-US" sz="900" spc="50" kern="0" dirty="0">
                <a:solidFill>
                  <a:srgbClr val="5A564E"/>
                </a:solidFill>
                <a:latin typeface="Consolas" pitchFamily="34" charset="0"/>
                <a:ea typeface="Consolas" pitchFamily="34" charset="-122"/>
                <a:cs typeface="Consolas" pitchFamily="34" charset="-120"/>
              </a:rPr>
              <a:t>шаг 10 мин</a:t>
            </a:r>
            <a:endParaRPr lang="en-US" sz="900" dirty="0"/>
          </a:p>
        </p:txBody>
      </p:sp>
      <p:sp>
        <p:nvSpPr>
          <p:cNvPr id="13" name="Text 10"/>
          <p:cNvSpPr txBox="1"/>
          <p:nvPr/>
        </p:nvSpPr>
        <p:spPr>
          <a:xfrm>
            <a:off x="822960" y="2825496"/>
            <a:ext cx="1645920" cy="237744"/>
          </a:xfrm>
          <a:prstGeom prst="rect">
            <a:avLst/>
          </a:prstGeom>
          <a:noFill/>
          <a:ln/>
        </p:spPr>
        <p:txBody>
          <a:bodyPr wrap="square" lIns="0" tIns="0" rIns="0" bIns="0" rtlCol="0" anchor="t"/>
          <a:lstStyle/>
          <a:p>
            <a:pPr indent="0" marL="0">
              <a:buNone/>
            </a:pPr>
            <a:r>
              <a:rPr lang="en-US" sz="1300" dirty="0">
                <a:solidFill>
                  <a:srgbClr val="322D2A"/>
                </a:solidFill>
                <a:latin typeface="Segoe UI Semibold" pitchFamily="34" charset="0"/>
                <a:ea typeface="Segoe UI Semibold" pitchFamily="34" charset="-122"/>
                <a:cs typeface="Segoe UI Semibold" pitchFamily="34" charset="-120"/>
              </a:rPr>
              <a:t>ПАК</a:t>
            </a:r>
            <a:endParaRPr lang="en-US" sz="1300" dirty="0"/>
          </a:p>
        </p:txBody>
      </p:sp>
      <p:sp>
        <p:nvSpPr>
          <p:cNvPr id="14" name="Text 11"/>
          <p:cNvSpPr txBox="1"/>
          <p:nvPr/>
        </p:nvSpPr>
        <p:spPr>
          <a:xfrm>
            <a:off x="822960" y="3063240"/>
            <a:ext cx="1737360" cy="182880"/>
          </a:xfrm>
          <a:prstGeom prst="rect">
            <a:avLst/>
          </a:prstGeom>
          <a:noFill/>
          <a:ln/>
        </p:spPr>
        <p:txBody>
          <a:bodyPr wrap="square" lIns="0" tIns="0" rIns="0" bIns="0" rtlCol="0" anchor="t"/>
          <a:lstStyle/>
          <a:p>
            <a:pPr indent="0" marL="0">
              <a:buNone/>
            </a:pPr>
            <a:r>
              <a:rPr lang="en-US" sz="900" spc="50" kern="0" dirty="0">
                <a:solidFill>
                  <a:srgbClr val="5A564E"/>
                </a:solidFill>
                <a:latin typeface="Consolas" pitchFamily="34" charset="0"/>
                <a:ea typeface="Consolas" pitchFamily="34" charset="-122"/>
                <a:cs typeface="Consolas" pitchFamily="34" charset="-120"/>
              </a:rPr>
              <a:t>поточный анализатор</a:t>
            </a:r>
            <a:endParaRPr lang="en-US" sz="900" dirty="0"/>
          </a:p>
        </p:txBody>
      </p:sp>
      <p:sp>
        <p:nvSpPr>
          <p:cNvPr id="15" name="Text 12"/>
          <p:cNvSpPr txBox="1"/>
          <p:nvPr/>
        </p:nvSpPr>
        <p:spPr>
          <a:xfrm>
            <a:off x="822960" y="3419856"/>
            <a:ext cx="1645920" cy="237744"/>
          </a:xfrm>
          <a:prstGeom prst="rect">
            <a:avLst/>
          </a:prstGeom>
          <a:noFill/>
          <a:ln/>
        </p:spPr>
        <p:txBody>
          <a:bodyPr wrap="square" lIns="0" tIns="0" rIns="0" bIns="0" rtlCol="0" anchor="t"/>
          <a:lstStyle/>
          <a:p>
            <a:pPr indent="0" marL="0">
              <a:buNone/>
            </a:pPr>
            <a:r>
              <a:rPr lang="en-US" sz="1300" dirty="0">
                <a:solidFill>
                  <a:srgbClr val="322D2A"/>
                </a:solidFill>
                <a:latin typeface="Segoe UI Semibold" pitchFamily="34" charset="0"/>
                <a:ea typeface="Segoe UI Semibold" pitchFamily="34" charset="-122"/>
                <a:cs typeface="Segoe UI Semibold" pitchFamily="34" charset="-120"/>
              </a:rPr>
              <a:t>ЛИМС</a:t>
            </a:r>
            <a:endParaRPr lang="en-US" sz="1300" dirty="0"/>
          </a:p>
        </p:txBody>
      </p:sp>
      <p:sp>
        <p:nvSpPr>
          <p:cNvPr id="16" name="Text 13"/>
          <p:cNvSpPr txBox="1"/>
          <p:nvPr/>
        </p:nvSpPr>
        <p:spPr>
          <a:xfrm>
            <a:off x="822960" y="3657600"/>
            <a:ext cx="1737360" cy="182880"/>
          </a:xfrm>
          <a:prstGeom prst="rect">
            <a:avLst/>
          </a:prstGeom>
          <a:noFill/>
          <a:ln/>
        </p:spPr>
        <p:txBody>
          <a:bodyPr wrap="square" lIns="0" tIns="0" rIns="0" bIns="0" rtlCol="0" anchor="t"/>
          <a:lstStyle/>
          <a:p>
            <a:pPr indent="0" marL="0">
              <a:buNone/>
            </a:pPr>
            <a:r>
              <a:rPr lang="en-US" sz="900" spc="50" kern="0" dirty="0">
                <a:solidFill>
                  <a:srgbClr val="5A564E"/>
                </a:solidFill>
                <a:latin typeface="Consolas" pitchFamily="34" charset="0"/>
                <a:ea typeface="Consolas" pitchFamily="34" charset="-122"/>
                <a:cs typeface="Consolas" pitchFamily="34" charset="-120"/>
              </a:rPr>
              <a:t>проба + задержка</a:t>
            </a:r>
            <a:endParaRPr lang="en-US" sz="900" dirty="0"/>
          </a:p>
        </p:txBody>
      </p:sp>
      <p:sp>
        <p:nvSpPr>
          <p:cNvPr id="17" name="Shape 14"/>
          <p:cNvSpPr/>
          <p:nvPr/>
        </p:nvSpPr>
        <p:spPr>
          <a:xfrm>
            <a:off x="2514600" y="2286000"/>
            <a:ext cx="0" cy="219456"/>
          </a:xfrm>
          <a:prstGeom prst="line">
            <a:avLst/>
          </a:prstGeom>
          <a:noFill/>
          <a:ln w="12700">
            <a:solidFill>
              <a:srgbClr val="322D2A"/>
            </a:solidFill>
            <a:prstDash val="solid"/>
          </a:ln>
        </p:spPr>
      </p:sp>
      <p:sp>
        <p:nvSpPr>
          <p:cNvPr id="18" name="Shape 15"/>
          <p:cNvSpPr/>
          <p:nvPr/>
        </p:nvSpPr>
        <p:spPr>
          <a:xfrm>
            <a:off x="2697480" y="2286000"/>
            <a:ext cx="0" cy="219456"/>
          </a:xfrm>
          <a:prstGeom prst="line">
            <a:avLst/>
          </a:prstGeom>
          <a:noFill/>
          <a:ln w="12700">
            <a:solidFill>
              <a:srgbClr val="322D2A"/>
            </a:solidFill>
            <a:prstDash val="solid"/>
          </a:ln>
        </p:spPr>
      </p:sp>
      <p:sp>
        <p:nvSpPr>
          <p:cNvPr id="19" name="Shape 16"/>
          <p:cNvSpPr/>
          <p:nvPr/>
        </p:nvSpPr>
        <p:spPr>
          <a:xfrm>
            <a:off x="2880360" y="2286000"/>
            <a:ext cx="0" cy="219456"/>
          </a:xfrm>
          <a:prstGeom prst="line">
            <a:avLst/>
          </a:prstGeom>
          <a:noFill/>
          <a:ln w="12700">
            <a:solidFill>
              <a:srgbClr val="322D2A"/>
            </a:solidFill>
            <a:prstDash val="solid"/>
          </a:ln>
        </p:spPr>
      </p:sp>
      <p:sp>
        <p:nvSpPr>
          <p:cNvPr id="20" name="Shape 17"/>
          <p:cNvSpPr/>
          <p:nvPr/>
        </p:nvSpPr>
        <p:spPr>
          <a:xfrm>
            <a:off x="3063240" y="2286000"/>
            <a:ext cx="0" cy="219456"/>
          </a:xfrm>
          <a:prstGeom prst="line">
            <a:avLst/>
          </a:prstGeom>
          <a:noFill/>
          <a:ln w="12700">
            <a:solidFill>
              <a:srgbClr val="322D2A"/>
            </a:solidFill>
            <a:prstDash val="solid"/>
          </a:ln>
        </p:spPr>
      </p:sp>
      <p:sp>
        <p:nvSpPr>
          <p:cNvPr id="21" name="Shape 18"/>
          <p:cNvSpPr/>
          <p:nvPr/>
        </p:nvSpPr>
        <p:spPr>
          <a:xfrm>
            <a:off x="3246120" y="2286000"/>
            <a:ext cx="0" cy="219456"/>
          </a:xfrm>
          <a:prstGeom prst="line">
            <a:avLst/>
          </a:prstGeom>
          <a:noFill/>
          <a:ln w="12700">
            <a:solidFill>
              <a:srgbClr val="322D2A"/>
            </a:solidFill>
            <a:prstDash val="solid"/>
          </a:ln>
        </p:spPr>
      </p:sp>
      <p:sp>
        <p:nvSpPr>
          <p:cNvPr id="22" name="Shape 19"/>
          <p:cNvSpPr/>
          <p:nvPr/>
        </p:nvSpPr>
        <p:spPr>
          <a:xfrm>
            <a:off x="3429000" y="2286000"/>
            <a:ext cx="0" cy="219456"/>
          </a:xfrm>
          <a:prstGeom prst="line">
            <a:avLst/>
          </a:prstGeom>
          <a:noFill/>
          <a:ln w="12700">
            <a:solidFill>
              <a:srgbClr val="322D2A"/>
            </a:solidFill>
            <a:prstDash val="solid"/>
          </a:ln>
        </p:spPr>
      </p:sp>
      <p:sp>
        <p:nvSpPr>
          <p:cNvPr id="23" name="Shape 20"/>
          <p:cNvSpPr/>
          <p:nvPr/>
        </p:nvSpPr>
        <p:spPr>
          <a:xfrm>
            <a:off x="3611880" y="2286000"/>
            <a:ext cx="0" cy="219456"/>
          </a:xfrm>
          <a:prstGeom prst="line">
            <a:avLst/>
          </a:prstGeom>
          <a:noFill/>
          <a:ln w="12700">
            <a:solidFill>
              <a:srgbClr val="322D2A"/>
            </a:solidFill>
            <a:prstDash val="solid"/>
          </a:ln>
        </p:spPr>
      </p:sp>
      <p:sp>
        <p:nvSpPr>
          <p:cNvPr id="24" name="Shape 21"/>
          <p:cNvSpPr/>
          <p:nvPr/>
        </p:nvSpPr>
        <p:spPr>
          <a:xfrm>
            <a:off x="3794760" y="2286000"/>
            <a:ext cx="0" cy="219456"/>
          </a:xfrm>
          <a:prstGeom prst="line">
            <a:avLst/>
          </a:prstGeom>
          <a:noFill/>
          <a:ln w="12700">
            <a:solidFill>
              <a:srgbClr val="322D2A"/>
            </a:solidFill>
            <a:prstDash val="solid"/>
          </a:ln>
        </p:spPr>
      </p:sp>
      <p:sp>
        <p:nvSpPr>
          <p:cNvPr id="25" name="Shape 22"/>
          <p:cNvSpPr/>
          <p:nvPr/>
        </p:nvSpPr>
        <p:spPr>
          <a:xfrm>
            <a:off x="3977640" y="2286000"/>
            <a:ext cx="0" cy="219456"/>
          </a:xfrm>
          <a:prstGeom prst="line">
            <a:avLst/>
          </a:prstGeom>
          <a:noFill/>
          <a:ln w="12700">
            <a:solidFill>
              <a:srgbClr val="322D2A"/>
            </a:solidFill>
            <a:prstDash val="solid"/>
          </a:ln>
        </p:spPr>
      </p:sp>
      <p:sp>
        <p:nvSpPr>
          <p:cNvPr id="26" name="Shape 23"/>
          <p:cNvSpPr/>
          <p:nvPr/>
        </p:nvSpPr>
        <p:spPr>
          <a:xfrm>
            <a:off x="4160520" y="2286000"/>
            <a:ext cx="0" cy="219456"/>
          </a:xfrm>
          <a:prstGeom prst="line">
            <a:avLst/>
          </a:prstGeom>
          <a:noFill/>
          <a:ln w="12700">
            <a:solidFill>
              <a:srgbClr val="322D2A"/>
            </a:solidFill>
            <a:prstDash val="solid"/>
          </a:ln>
        </p:spPr>
      </p:sp>
      <p:sp>
        <p:nvSpPr>
          <p:cNvPr id="27" name="Shape 24"/>
          <p:cNvSpPr/>
          <p:nvPr/>
        </p:nvSpPr>
        <p:spPr>
          <a:xfrm>
            <a:off x="4343400" y="2286000"/>
            <a:ext cx="0" cy="219456"/>
          </a:xfrm>
          <a:prstGeom prst="line">
            <a:avLst/>
          </a:prstGeom>
          <a:noFill/>
          <a:ln w="12700">
            <a:solidFill>
              <a:srgbClr val="322D2A"/>
            </a:solidFill>
            <a:prstDash val="solid"/>
          </a:ln>
        </p:spPr>
      </p:sp>
      <p:sp>
        <p:nvSpPr>
          <p:cNvPr id="28" name="Shape 25"/>
          <p:cNvSpPr/>
          <p:nvPr/>
        </p:nvSpPr>
        <p:spPr>
          <a:xfrm>
            <a:off x="4526280" y="2286000"/>
            <a:ext cx="0" cy="219456"/>
          </a:xfrm>
          <a:prstGeom prst="line">
            <a:avLst/>
          </a:prstGeom>
          <a:noFill/>
          <a:ln w="12700">
            <a:solidFill>
              <a:srgbClr val="322D2A"/>
            </a:solidFill>
            <a:prstDash val="solid"/>
          </a:ln>
        </p:spPr>
      </p:sp>
      <p:sp>
        <p:nvSpPr>
          <p:cNvPr id="29" name="Shape 26"/>
          <p:cNvSpPr/>
          <p:nvPr/>
        </p:nvSpPr>
        <p:spPr>
          <a:xfrm>
            <a:off x="4709160" y="2286000"/>
            <a:ext cx="0" cy="219456"/>
          </a:xfrm>
          <a:prstGeom prst="line">
            <a:avLst/>
          </a:prstGeom>
          <a:noFill/>
          <a:ln w="12700">
            <a:solidFill>
              <a:srgbClr val="322D2A"/>
            </a:solidFill>
            <a:prstDash val="solid"/>
          </a:ln>
        </p:spPr>
      </p:sp>
      <p:sp>
        <p:nvSpPr>
          <p:cNvPr id="30" name="Shape 27"/>
          <p:cNvSpPr/>
          <p:nvPr/>
        </p:nvSpPr>
        <p:spPr>
          <a:xfrm>
            <a:off x="4892040" y="2286000"/>
            <a:ext cx="0" cy="219456"/>
          </a:xfrm>
          <a:prstGeom prst="line">
            <a:avLst/>
          </a:prstGeom>
          <a:noFill/>
          <a:ln w="12700">
            <a:solidFill>
              <a:srgbClr val="322D2A"/>
            </a:solidFill>
            <a:prstDash val="solid"/>
          </a:ln>
        </p:spPr>
      </p:sp>
      <p:sp>
        <p:nvSpPr>
          <p:cNvPr id="31" name="Shape 28"/>
          <p:cNvSpPr/>
          <p:nvPr/>
        </p:nvSpPr>
        <p:spPr>
          <a:xfrm>
            <a:off x="5074920" y="2286000"/>
            <a:ext cx="0" cy="219456"/>
          </a:xfrm>
          <a:prstGeom prst="line">
            <a:avLst/>
          </a:prstGeom>
          <a:noFill/>
          <a:ln w="12700">
            <a:solidFill>
              <a:srgbClr val="322D2A"/>
            </a:solidFill>
            <a:prstDash val="solid"/>
          </a:ln>
        </p:spPr>
      </p:sp>
      <p:sp>
        <p:nvSpPr>
          <p:cNvPr id="32" name="Shape 29"/>
          <p:cNvSpPr/>
          <p:nvPr/>
        </p:nvSpPr>
        <p:spPr>
          <a:xfrm>
            <a:off x="5257800" y="2286000"/>
            <a:ext cx="0" cy="219456"/>
          </a:xfrm>
          <a:prstGeom prst="line">
            <a:avLst/>
          </a:prstGeom>
          <a:noFill/>
          <a:ln w="12700">
            <a:solidFill>
              <a:srgbClr val="322D2A"/>
            </a:solidFill>
            <a:prstDash val="solid"/>
          </a:ln>
        </p:spPr>
      </p:sp>
      <p:sp>
        <p:nvSpPr>
          <p:cNvPr id="33" name="Shape 30"/>
          <p:cNvSpPr/>
          <p:nvPr/>
        </p:nvSpPr>
        <p:spPr>
          <a:xfrm>
            <a:off x="5440680" y="2286000"/>
            <a:ext cx="0" cy="219456"/>
          </a:xfrm>
          <a:prstGeom prst="line">
            <a:avLst/>
          </a:prstGeom>
          <a:noFill/>
          <a:ln w="12700">
            <a:solidFill>
              <a:srgbClr val="322D2A"/>
            </a:solidFill>
            <a:prstDash val="solid"/>
          </a:ln>
        </p:spPr>
      </p:sp>
      <p:sp>
        <p:nvSpPr>
          <p:cNvPr id="34" name="Shape 31"/>
          <p:cNvSpPr/>
          <p:nvPr/>
        </p:nvSpPr>
        <p:spPr>
          <a:xfrm>
            <a:off x="5623560" y="2286000"/>
            <a:ext cx="0" cy="219456"/>
          </a:xfrm>
          <a:prstGeom prst="line">
            <a:avLst/>
          </a:prstGeom>
          <a:noFill/>
          <a:ln w="12700">
            <a:solidFill>
              <a:srgbClr val="322D2A"/>
            </a:solidFill>
            <a:prstDash val="solid"/>
          </a:ln>
        </p:spPr>
      </p:sp>
      <p:sp>
        <p:nvSpPr>
          <p:cNvPr id="35" name="Shape 32"/>
          <p:cNvSpPr/>
          <p:nvPr/>
        </p:nvSpPr>
        <p:spPr>
          <a:xfrm>
            <a:off x="5806440" y="2286000"/>
            <a:ext cx="0" cy="219456"/>
          </a:xfrm>
          <a:prstGeom prst="line">
            <a:avLst/>
          </a:prstGeom>
          <a:noFill/>
          <a:ln w="12700">
            <a:solidFill>
              <a:srgbClr val="322D2A"/>
            </a:solidFill>
            <a:prstDash val="solid"/>
          </a:ln>
        </p:spPr>
      </p:sp>
      <p:sp>
        <p:nvSpPr>
          <p:cNvPr id="36" name="Shape 33"/>
          <p:cNvSpPr/>
          <p:nvPr/>
        </p:nvSpPr>
        <p:spPr>
          <a:xfrm>
            <a:off x="5989320" y="2286000"/>
            <a:ext cx="0" cy="219456"/>
          </a:xfrm>
          <a:prstGeom prst="line">
            <a:avLst/>
          </a:prstGeom>
          <a:noFill/>
          <a:ln w="12700">
            <a:solidFill>
              <a:srgbClr val="322D2A"/>
            </a:solidFill>
            <a:prstDash val="solid"/>
          </a:ln>
        </p:spPr>
      </p:sp>
      <p:sp>
        <p:nvSpPr>
          <p:cNvPr id="37" name="Shape 34"/>
          <p:cNvSpPr/>
          <p:nvPr/>
        </p:nvSpPr>
        <p:spPr>
          <a:xfrm>
            <a:off x="6172200" y="2286000"/>
            <a:ext cx="0" cy="219456"/>
          </a:xfrm>
          <a:prstGeom prst="line">
            <a:avLst/>
          </a:prstGeom>
          <a:noFill/>
          <a:ln w="12700">
            <a:solidFill>
              <a:srgbClr val="322D2A"/>
            </a:solidFill>
            <a:prstDash val="solid"/>
          </a:ln>
        </p:spPr>
      </p:sp>
      <p:sp>
        <p:nvSpPr>
          <p:cNvPr id="38" name="Shape 35"/>
          <p:cNvSpPr/>
          <p:nvPr/>
        </p:nvSpPr>
        <p:spPr>
          <a:xfrm>
            <a:off x="6355080" y="2286000"/>
            <a:ext cx="0" cy="219456"/>
          </a:xfrm>
          <a:prstGeom prst="line">
            <a:avLst/>
          </a:prstGeom>
          <a:noFill/>
          <a:ln w="12700">
            <a:solidFill>
              <a:srgbClr val="322D2A"/>
            </a:solidFill>
            <a:prstDash val="solid"/>
          </a:ln>
        </p:spPr>
      </p:sp>
      <p:sp>
        <p:nvSpPr>
          <p:cNvPr id="39" name="Shape 36"/>
          <p:cNvSpPr/>
          <p:nvPr/>
        </p:nvSpPr>
        <p:spPr>
          <a:xfrm>
            <a:off x="6537960" y="2286000"/>
            <a:ext cx="0" cy="219456"/>
          </a:xfrm>
          <a:prstGeom prst="line">
            <a:avLst/>
          </a:prstGeom>
          <a:noFill/>
          <a:ln w="12700">
            <a:solidFill>
              <a:srgbClr val="322D2A"/>
            </a:solidFill>
            <a:prstDash val="solid"/>
          </a:ln>
        </p:spPr>
      </p:sp>
      <p:sp>
        <p:nvSpPr>
          <p:cNvPr id="40" name="Shape 37"/>
          <p:cNvSpPr/>
          <p:nvPr/>
        </p:nvSpPr>
        <p:spPr>
          <a:xfrm>
            <a:off x="6720840" y="2286000"/>
            <a:ext cx="0" cy="219456"/>
          </a:xfrm>
          <a:prstGeom prst="line">
            <a:avLst/>
          </a:prstGeom>
          <a:noFill/>
          <a:ln w="12700">
            <a:solidFill>
              <a:srgbClr val="322D2A"/>
            </a:solidFill>
            <a:prstDash val="solid"/>
          </a:ln>
        </p:spPr>
      </p:sp>
      <p:sp>
        <p:nvSpPr>
          <p:cNvPr id="41" name="Shape 38"/>
          <p:cNvSpPr/>
          <p:nvPr/>
        </p:nvSpPr>
        <p:spPr>
          <a:xfrm>
            <a:off x="6903720" y="2286000"/>
            <a:ext cx="0" cy="219456"/>
          </a:xfrm>
          <a:prstGeom prst="line">
            <a:avLst/>
          </a:prstGeom>
          <a:noFill/>
          <a:ln w="12700">
            <a:solidFill>
              <a:srgbClr val="322D2A"/>
            </a:solidFill>
            <a:prstDash val="solid"/>
          </a:ln>
        </p:spPr>
      </p:sp>
      <p:sp>
        <p:nvSpPr>
          <p:cNvPr id="42" name="Shape 39"/>
          <p:cNvSpPr/>
          <p:nvPr/>
        </p:nvSpPr>
        <p:spPr>
          <a:xfrm>
            <a:off x="7086600" y="2286000"/>
            <a:ext cx="0" cy="219456"/>
          </a:xfrm>
          <a:prstGeom prst="line">
            <a:avLst/>
          </a:prstGeom>
          <a:noFill/>
          <a:ln w="12700">
            <a:solidFill>
              <a:srgbClr val="322D2A"/>
            </a:solidFill>
            <a:prstDash val="solid"/>
          </a:ln>
        </p:spPr>
      </p:sp>
      <p:sp>
        <p:nvSpPr>
          <p:cNvPr id="43" name="Shape 40"/>
          <p:cNvSpPr/>
          <p:nvPr/>
        </p:nvSpPr>
        <p:spPr>
          <a:xfrm>
            <a:off x="7269480" y="2286000"/>
            <a:ext cx="0" cy="219456"/>
          </a:xfrm>
          <a:prstGeom prst="line">
            <a:avLst/>
          </a:prstGeom>
          <a:noFill/>
          <a:ln w="12700">
            <a:solidFill>
              <a:srgbClr val="322D2A"/>
            </a:solidFill>
            <a:prstDash val="solid"/>
          </a:ln>
        </p:spPr>
      </p:sp>
      <p:sp>
        <p:nvSpPr>
          <p:cNvPr id="44" name="Shape 41"/>
          <p:cNvSpPr/>
          <p:nvPr/>
        </p:nvSpPr>
        <p:spPr>
          <a:xfrm>
            <a:off x="7452360" y="2286000"/>
            <a:ext cx="0" cy="219456"/>
          </a:xfrm>
          <a:prstGeom prst="line">
            <a:avLst/>
          </a:prstGeom>
          <a:noFill/>
          <a:ln w="12700">
            <a:solidFill>
              <a:srgbClr val="322D2A"/>
            </a:solidFill>
            <a:prstDash val="solid"/>
          </a:ln>
        </p:spPr>
      </p:sp>
      <p:sp>
        <p:nvSpPr>
          <p:cNvPr id="45" name="Shape 42"/>
          <p:cNvSpPr/>
          <p:nvPr/>
        </p:nvSpPr>
        <p:spPr>
          <a:xfrm>
            <a:off x="7635240" y="2286000"/>
            <a:ext cx="0" cy="219456"/>
          </a:xfrm>
          <a:prstGeom prst="line">
            <a:avLst/>
          </a:prstGeom>
          <a:noFill/>
          <a:ln w="12700">
            <a:solidFill>
              <a:srgbClr val="322D2A"/>
            </a:solidFill>
            <a:prstDash val="solid"/>
          </a:ln>
        </p:spPr>
      </p:sp>
      <p:sp>
        <p:nvSpPr>
          <p:cNvPr id="46" name="Shape 43"/>
          <p:cNvSpPr/>
          <p:nvPr/>
        </p:nvSpPr>
        <p:spPr>
          <a:xfrm>
            <a:off x="7818120" y="2286000"/>
            <a:ext cx="0" cy="219456"/>
          </a:xfrm>
          <a:prstGeom prst="line">
            <a:avLst/>
          </a:prstGeom>
          <a:noFill/>
          <a:ln w="12700">
            <a:solidFill>
              <a:srgbClr val="322D2A"/>
            </a:solidFill>
            <a:prstDash val="solid"/>
          </a:ln>
        </p:spPr>
      </p:sp>
      <p:sp>
        <p:nvSpPr>
          <p:cNvPr id="47" name="Shape 44"/>
          <p:cNvSpPr/>
          <p:nvPr/>
        </p:nvSpPr>
        <p:spPr>
          <a:xfrm>
            <a:off x="8001000" y="2286000"/>
            <a:ext cx="0" cy="219456"/>
          </a:xfrm>
          <a:prstGeom prst="line">
            <a:avLst/>
          </a:prstGeom>
          <a:noFill/>
          <a:ln w="12700">
            <a:solidFill>
              <a:srgbClr val="322D2A"/>
            </a:solidFill>
            <a:prstDash val="solid"/>
          </a:ln>
        </p:spPr>
      </p:sp>
      <p:sp>
        <p:nvSpPr>
          <p:cNvPr id="48" name="Shape 45"/>
          <p:cNvSpPr/>
          <p:nvPr/>
        </p:nvSpPr>
        <p:spPr>
          <a:xfrm>
            <a:off x="8183880" y="2286000"/>
            <a:ext cx="0" cy="219456"/>
          </a:xfrm>
          <a:prstGeom prst="line">
            <a:avLst/>
          </a:prstGeom>
          <a:noFill/>
          <a:ln w="12700">
            <a:solidFill>
              <a:srgbClr val="322D2A"/>
            </a:solidFill>
            <a:prstDash val="solid"/>
          </a:ln>
        </p:spPr>
      </p:sp>
      <p:sp>
        <p:nvSpPr>
          <p:cNvPr id="49" name="Shape 46"/>
          <p:cNvSpPr/>
          <p:nvPr/>
        </p:nvSpPr>
        <p:spPr>
          <a:xfrm>
            <a:off x="8366760" y="2286000"/>
            <a:ext cx="0" cy="219456"/>
          </a:xfrm>
          <a:prstGeom prst="line">
            <a:avLst/>
          </a:prstGeom>
          <a:noFill/>
          <a:ln w="12700">
            <a:solidFill>
              <a:srgbClr val="322D2A"/>
            </a:solidFill>
            <a:prstDash val="solid"/>
          </a:ln>
        </p:spPr>
      </p:sp>
      <p:sp>
        <p:nvSpPr>
          <p:cNvPr id="50" name="Shape 47"/>
          <p:cNvSpPr/>
          <p:nvPr/>
        </p:nvSpPr>
        <p:spPr>
          <a:xfrm>
            <a:off x="8549640" y="2286000"/>
            <a:ext cx="0" cy="219456"/>
          </a:xfrm>
          <a:prstGeom prst="line">
            <a:avLst/>
          </a:prstGeom>
          <a:noFill/>
          <a:ln w="12700">
            <a:solidFill>
              <a:srgbClr val="8F8974"/>
            </a:solidFill>
            <a:prstDash val="solid"/>
          </a:ln>
        </p:spPr>
      </p:sp>
      <p:sp>
        <p:nvSpPr>
          <p:cNvPr id="51" name="Shape 48"/>
          <p:cNvSpPr/>
          <p:nvPr/>
        </p:nvSpPr>
        <p:spPr>
          <a:xfrm>
            <a:off x="8732520" y="2286000"/>
            <a:ext cx="0" cy="219456"/>
          </a:xfrm>
          <a:prstGeom prst="line">
            <a:avLst/>
          </a:prstGeom>
          <a:noFill/>
          <a:ln w="12700">
            <a:solidFill>
              <a:srgbClr val="8F8974"/>
            </a:solidFill>
            <a:prstDash val="solid"/>
          </a:ln>
        </p:spPr>
      </p:sp>
      <p:sp>
        <p:nvSpPr>
          <p:cNvPr id="52" name="Shape 49"/>
          <p:cNvSpPr/>
          <p:nvPr/>
        </p:nvSpPr>
        <p:spPr>
          <a:xfrm>
            <a:off x="8915400" y="2286000"/>
            <a:ext cx="0" cy="219456"/>
          </a:xfrm>
          <a:prstGeom prst="line">
            <a:avLst/>
          </a:prstGeom>
          <a:noFill/>
          <a:ln w="12700">
            <a:solidFill>
              <a:srgbClr val="8F8974"/>
            </a:solidFill>
            <a:prstDash val="solid"/>
          </a:ln>
        </p:spPr>
      </p:sp>
      <p:sp>
        <p:nvSpPr>
          <p:cNvPr id="53" name="Shape 50"/>
          <p:cNvSpPr/>
          <p:nvPr/>
        </p:nvSpPr>
        <p:spPr>
          <a:xfrm>
            <a:off x="9098280" y="2286000"/>
            <a:ext cx="0" cy="219456"/>
          </a:xfrm>
          <a:prstGeom prst="line">
            <a:avLst/>
          </a:prstGeom>
          <a:noFill/>
          <a:ln w="12700">
            <a:solidFill>
              <a:srgbClr val="8F8974"/>
            </a:solidFill>
            <a:prstDash val="solid"/>
          </a:ln>
        </p:spPr>
      </p:sp>
      <p:sp>
        <p:nvSpPr>
          <p:cNvPr id="54" name="Shape 51"/>
          <p:cNvSpPr/>
          <p:nvPr/>
        </p:nvSpPr>
        <p:spPr>
          <a:xfrm>
            <a:off x="9281160" y="2286000"/>
            <a:ext cx="0" cy="219456"/>
          </a:xfrm>
          <a:prstGeom prst="line">
            <a:avLst/>
          </a:prstGeom>
          <a:noFill/>
          <a:ln w="12700">
            <a:solidFill>
              <a:srgbClr val="8F8974"/>
            </a:solidFill>
            <a:prstDash val="solid"/>
          </a:ln>
        </p:spPr>
      </p:sp>
      <p:sp>
        <p:nvSpPr>
          <p:cNvPr id="55" name="Shape 52"/>
          <p:cNvSpPr/>
          <p:nvPr/>
        </p:nvSpPr>
        <p:spPr>
          <a:xfrm>
            <a:off x="9464040" y="2286000"/>
            <a:ext cx="0" cy="219456"/>
          </a:xfrm>
          <a:prstGeom prst="line">
            <a:avLst/>
          </a:prstGeom>
          <a:noFill/>
          <a:ln w="12700">
            <a:solidFill>
              <a:srgbClr val="8F8974"/>
            </a:solidFill>
            <a:prstDash val="solid"/>
          </a:ln>
        </p:spPr>
      </p:sp>
      <p:sp>
        <p:nvSpPr>
          <p:cNvPr id="56" name="Shape 53"/>
          <p:cNvSpPr/>
          <p:nvPr/>
        </p:nvSpPr>
        <p:spPr>
          <a:xfrm>
            <a:off x="9646920" y="2286000"/>
            <a:ext cx="0" cy="219456"/>
          </a:xfrm>
          <a:prstGeom prst="line">
            <a:avLst/>
          </a:prstGeom>
          <a:noFill/>
          <a:ln w="12700">
            <a:solidFill>
              <a:srgbClr val="8F8974"/>
            </a:solidFill>
            <a:prstDash val="solid"/>
          </a:ln>
        </p:spPr>
      </p:sp>
      <p:sp>
        <p:nvSpPr>
          <p:cNvPr id="57" name="Shape 54"/>
          <p:cNvSpPr/>
          <p:nvPr/>
        </p:nvSpPr>
        <p:spPr>
          <a:xfrm>
            <a:off x="9829800" y="2286000"/>
            <a:ext cx="0" cy="219456"/>
          </a:xfrm>
          <a:prstGeom prst="line">
            <a:avLst/>
          </a:prstGeom>
          <a:noFill/>
          <a:ln w="12700">
            <a:solidFill>
              <a:srgbClr val="8F8974"/>
            </a:solidFill>
            <a:prstDash val="solid"/>
          </a:ln>
        </p:spPr>
      </p:sp>
      <p:sp>
        <p:nvSpPr>
          <p:cNvPr id="58" name="Shape 55"/>
          <p:cNvSpPr/>
          <p:nvPr/>
        </p:nvSpPr>
        <p:spPr>
          <a:xfrm>
            <a:off x="10012680" y="2286000"/>
            <a:ext cx="0" cy="219456"/>
          </a:xfrm>
          <a:prstGeom prst="line">
            <a:avLst/>
          </a:prstGeom>
          <a:noFill/>
          <a:ln w="12700">
            <a:solidFill>
              <a:srgbClr val="8F8974"/>
            </a:solidFill>
            <a:prstDash val="solid"/>
          </a:ln>
        </p:spPr>
      </p:sp>
      <p:sp>
        <p:nvSpPr>
          <p:cNvPr id="59" name="Shape 56"/>
          <p:cNvSpPr/>
          <p:nvPr/>
        </p:nvSpPr>
        <p:spPr>
          <a:xfrm>
            <a:off x="10195560" y="2286000"/>
            <a:ext cx="0" cy="219456"/>
          </a:xfrm>
          <a:prstGeom prst="line">
            <a:avLst/>
          </a:prstGeom>
          <a:noFill/>
          <a:ln w="12700">
            <a:solidFill>
              <a:srgbClr val="8F8974"/>
            </a:solidFill>
            <a:prstDash val="solid"/>
          </a:ln>
        </p:spPr>
      </p:sp>
      <p:sp>
        <p:nvSpPr>
          <p:cNvPr id="60" name="Shape 57"/>
          <p:cNvSpPr/>
          <p:nvPr/>
        </p:nvSpPr>
        <p:spPr>
          <a:xfrm>
            <a:off x="10378440" y="2286000"/>
            <a:ext cx="0" cy="219456"/>
          </a:xfrm>
          <a:prstGeom prst="line">
            <a:avLst/>
          </a:prstGeom>
          <a:noFill/>
          <a:ln w="12700">
            <a:solidFill>
              <a:srgbClr val="8F8974"/>
            </a:solidFill>
            <a:prstDash val="solid"/>
          </a:ln>
        </p:spPr>
      </p:sp>
      <p:sp>
        <p:nvSpPr>
          <p:cNvPr id="61" name="Shape 58"/>
          <p:cNvSpPr/>
          <p:nvPr/>
        </p:nvSpPr>
        <p:spPr>
          <a:xfrm>
            <a:off x="10561320" y="2286000"/>
            <a:ext cx="0" cy="219456"/>
          </a:xfrm>
          <a:prstGeom prst="line">
            <a:avLst/>
          </a:prstGeom>
          <a:noFill/>
          <a:ln w="12700">
            <a:solidFill>
              <a:srgbClr val="8F8974"/>
            </a:solidFill>
            <a:prstDash val="solid"/>
          </a:ln>
        </p:spPr>
      </p:sp>
      <p:sp>
        <p:nvSpPr>
          <p:cNvPr id="62" name="Shape 59"/>
          <p:cNvSpPr/>
          <p:nvPr/>
        </p:nvSpPr>
        <p:spPr>
          <a:xfrm>
            <a:off x="10744200" y="2286000"/>
            <a:ext cx="0" cy="219456"/>
          </a:xfrm>
          <a:prstGeom prst="line">
            <a:avLst/>
          </a:prstGeom>
          <a:noFill/>
          <a:ln w="12700">
            <a:solidFill>
              <a:srgbClr val="8F8974"/>
            </a:solidFill>
            <a:prstDash val="solid"/>
          </a:ln>
        </p:spPr>
      </p:sp>
      <p:sp>
        <p:nvSpPr>
          <p:cNvPr id="63" name="Shape 60"/>
          <p:cNvSpPr/>
          <p:nvPr/>
        </p:nvSpPr>
        <p:spPr>
          <a:xfrm>
            <a:off x="10927080" y="2286000"/>
            <a:ext cx="0" cy="219456"/>
          </a:xfrm>
          <a:prstGeom prst="line">
            <a:avLst/>
          </a:prstGeom>
          <a:noFill/>
          <a:ln w="12700">
            <a:solidFill>
              <a:srgbClr val="8F8974"/>
            </a:solidFill>
            <a:prstDash val="solid"/>
          </a:ln>
        </p:spPr>
      </p:sp>
      <p:sp>
        <p:nvSpPr>
          <p:cNvPr id="64" name="Shape 61"/>
          <p:cNvSpPr/>
          <p:nvPr/>
        </p:nvSpPr>
        <p:spPr>
          <a:xfrm>
            <a:off x="11109960" y="2286000"/>
            <a:ext cx="0" cy="219456"/>
          </a:xfrm>
          <a:prstGeom prst="line">
            <a:avLst/>
          </a:prstGeom>
          <a:noFill/>
          <a:ln w="12700">
            <a:solidFill>
              <a:srgbClr val="8F8974"/>
            </a:solidFill>
            <a:prstDash val="solid"/>
          </a:ln>
        </p:spPr>
      </p:sp>
      <p:sp>
        <p:nvSpPr>
          <p:cNvPr id="65" name="Shape 62"/>
          <p:cNvSpPr/>
          <p:nvPr/>
        </p:nvSpPr>
        <p:spPr>
          <a:xfrm>
            <a:off x="11292840" y="2286000"/>
            <a:ext cx="0" cy="219456"/>
          </a:xfrm>
          <a:prstGeom prst="line">
            <a:avLst/>
          </a:prstGeom>
          <a:noFill/>
          <a:ln w="12700">
            <a:solidFill>
              <a:srgbClr val="8F8974"/>
            </a:solidFill>
            <a:prstDash val="solid"/>
          </a:ln>
        </p:spPr>
      </p:sp>
      <p:sp>
        <p:nvSpPr>
          <p:cNvPr id="66" name="Shape 63"/>
          <p:cNvSpPr/>
          <p:nvPr/>
        </p:nvSpPr>
        <p:spPr>
          <a:xfrm>
            <a:off x="2551176" y="2916936"/>
            <a:ext cx="109728" cy="109728"/>
          </a:xfrm>
          <a:prstGeom prst="ellipse">
            <a:avLst/>
          </a:prstGeom>
          <a:solidFill>
            <a:srgbClr val="322D2A"/>
          </a:solidFill>
          <a:ln/>
        </p:spPr>
      </p:sp>
      <p:sp>
        <p:nvSpPr>
          <p:cNvPr id="67" name="Shape 64"/>
          <p:cNvSpPr/>
          <p:nvPr/>
        </p:nvSpPr>
        <p:spPr>
          <a:xfrm>
            <a:off x="3099816" y="2916936"/>
            <a:ext cx="109728" cy="109728"/>
          </a:xfrm>
          <a:prstGeom prst="ellipse">
            <a:avLst/>
          </a:prstGeom>
          <a:solidFill>
            <a:srgbClr val="322D2A"/>
          </a:solidFill>
          <a:ln/>
        </p:spPr>
      </p:sp>
      <p:sp>
        <p:nvSpPr>
          <p:cNvPr id="68" name="Shape 65"/>
          <p:cNvSpPr/>
          <p:nvPr/>
        </p:nvSpPr>
        <p:spPr>
          <a:xfrm>
            <a:off x="3648456" y="2916936"/>
            <a:ext cx="109728" cy="109728"/>
          </a:xfrm>
          <a:prstGeom prst="ellipse">
            <a:avLst/>
          </a:prstGeom>
          <a:solidFill>
            <a:srgbClr val="322D2A"/>
          </a:solidFill>
          <a:ln/>
        </p:spPr>
      </p:sp>
      <p:sp>
        <p:nvSpPr>
          <p:cNvPr id="69" name="Shape 66"/>
          <p:cNvSpPr/>
          <p:nvPr/>
        </p:nvSpPr>
        <p:spPr>
          <a:xfrm>
            <a:off x="4197096" y="2916936"/>
            <a:ext cx="109728" cy="109728"/>
          </a:xfrm>
          <a:prstGeom prst="ellipse">
            <a:avLst/>
          </a:prstGeom>
          <a:solidFill>
            <a:srgbClr val="322D2A"/>
          </a:solidFill>
          <a:ln/>
        </p:spPr>
      </p:sp>
      <p:sp>
        <p:nvSpPr>
          <p:cNvPr id="70" name="Shape 67"/>
          <p:cNvSpPr/>
          <p:nvPr/>
        </p:nvSpPr>
        <p:spPr>
          <a:xfrm>
            <a:off x="4745736" y="2916936"/>
            <a:ext cx="109728" cy="109728"/>
          </a:xfrm>
          <a:prstGeom prst="ellipse">
            <a:avLst/>
          </a:prstGeom>
          <a:solidFill>
            <a:srgbClr val="322D2A"/>
          </a:solidFill>
          <a:ln/>
        </p:spPr>
      </p:sp>
      <p:sp>
        <p:nvSpPr>
          <p:cNvPr id="71" name="Shape 68"/>
          <p:cNvSpPr/>
          <p:nvPr/>
        </p:nvSpPr>
        <p:spPr>
          <a:xfrm>
            <a:off x="5294376" y="2916936"/>
            <a:ext cx="109728" cy="109728"/>
          </a:xfrm>
          <a:prstGeom prst="ellipse">
            <a:avLst/>
          </a:prstGeom>
          <a:solidFill>
            <a:srgbClr val="322D2A"/>
          </a:solidFill>
          <a:ln/>
        </p:spPr>
      </p:sp>
      <p:sp>
        <p:nvSpPr>
          <p:cNvPr id="72" name="Shape 69"/>
          <p:cNvSpPr/>
          <p:nvPr/>
        </p:nvSpPr>
        <p:spPr>
          <a:xfrm>
            <a:off x="5843016" y="2916936"/>
            <a:ext cx="109728" cy="109728"/>
          </a:xfrm>
          <a:prstGeom prst="ellipse">
            <a:avLst/>
          </a:prstGeom>
          <a:solidFill>
            <a:srgbClr val="322D2A"/>
          </a:solidFill>
          <a:ln/>
        </p:spPr>
      </p:sp>
      <p:sp>
        <p:nvSpPr>
          <p:cNvPr id="73" name="Shape 70"/>
          <p:cNvSpPr/>
          <p:nvPr/>
        </p:nvSpPr>
        <p:spPr>
          <a:xfrm>
            <a:off x="6391656" y="2916936"/>
            <a:ext cx="109728" cy="109728"/>
          </a:xfrm>
          <a:prstGeom prst="ellipse">
            <a:avLst/>
          </a:prstGeom>
          <a:solidFill>
            <a:srgbClr val="322D2A"/>
          </a:solidFill>
          <a:ln/>
        </p:spPr>
      </p:sp>
      <p:sp>
        <p:nvSpPr>
          <p:cNvPr id="74" name="Shape 71"/>
          <p:cNvSpPr/>
          <p:nvPr/>
        </p:nvSpPr>
        <p:spPr>
          <a:xfrm>
            <a:off x="6940296" y="2916936"/>
            <a:ext cx="109728" cy="109728"/>
          </a:xfrm>
          <a:prstGeom prst="ellipse">
            <a:avLst/>
          </a:prstGeom>
          <a:solidFill>
            <a:srgbClr val="322D2A"/>
          </a:solidFill>
          <a:ln/>
        </p:spPr>
      </p:sp>
      <p:sp>
        <p:nvSpPr>
          <p:cNvPr id="75" name="Shape 72"/>
          <p:cNvSpPr/>
          <p:nvPr/>
        </p:nvSpPr>
        <p:spPr>
          <a:xfrm>
            <a:off x="7488936" y="2916936"/>
            <a:ext cx="109728" cy="109728"/>
          </a:xfrm>
          <a:prstGeom prst="ellipse">
            <a:avLst/>
          </a:prstGeom>
          <a:solidFill>
            <a:srgbClr val="322D2A"/>
          </a:solidFill>
          <a:ln/>
        </p:spPr>
      </p:sp>
      <p:sp>
        <p:nvSpPr>
          <p:cNvPr id="76" name="Shape 73"/>
          <p:cNvSpPr/>
          <p:nvPr/>
        </p:nvSpPr>
        <p:spPr>
          <a:xfrm>
            <a:off x="8037576" y="2916936"/>
            <a:ext cx="109728" cy="109728"/>
          </a:xfrm>
          <a:prstGeom prst="ellipse">
            <a:avLst/>
          </a:prstGeom>
          <a:solidFill>
            <a:srgbClr val="322D2A"/>
          </a:solidFill>
          <a:ln/>
        </p:spPr>
      </p:sp>
      <p:sp>
        <p:nvSpPr>
          <p:cNvPr id="77" name="Shape 74"/>
          <p:cNvSpPr/>
          <p:nvPr/>
        </p:nvSpPr>
        <p:spPr>
          <a:xfrm>
            <a:off x="8586216" y="2916936"/>
            <a:ext cx="109728" cy="109728"/>
          </a:xfrm>
          <a:prstGeom prst="ellipse">
            <a:avLst/>
          </a:prstGeom>
          <a:solidFill>
            <a:srgbClr val="8F8974"/>
          </a:solidFill>
          <a:ln/>
        </p:spPr>
      </p:sp>
      <p:sp>
        <p:nvSpPr>
          <p:cNvPr id="78" name="Shape 75"/>
          <p:cNvSpPr/>
          <p:nvPr/>
        </p:nvSpPr>
        <p:spPr>
          <a:xfrm>
            <a:off x="9134856" y="2916936"/>
            <a:ext cx="109728" cy="109728"/>
          </a:xfrm>
          <a:prstGeom prst="ellipse">
            <a:avLst/>
          </a:prstGeom>
          <a:solidFill>
            <a:srgbClr val="8F8974"/>
          </a:solidFill>
          <a:ln/>
        </p:spPr>
      </p:sp>
      <p:sp>
        <p:nvSpPr>
          <p:cNvPr id="79" name="Shape 76"/>
          <p:cNvSpPr/>
          <p:nvPr/>
        </p:nvSpPr>
        <p:spPr>
          <a:xfrm>
            <a:off x="9683496" y="2916936"/>
            <a:ext cx="109728" cy="109728"/>
          </a:xfrm>
          <a:prstGeom prst="ellipse">
            <a:avLst/>
          </a:prstGeom>
          <a:solidFill>
            <a:srgbClr val="8F8974"/>
          </a:solidFill>
          <a:ln/>
        </p:spPr>
      </p:sp>
      <p:sp>
        <p:nvSpPr>
          <p:cNvPr id="80" name="Shape 77"/>
          <p:cNvSpPr/>
          <p:nvPr/>
        </p:nvSpPr>
        <p:spPr>
          <a:xfrm>
            <a:off x="10232136" y="2916936"/>
            <a:ext cx="109728" cy="109728"/>
          </a:xfrm>
          <a:prstGeom prst="ellipse">
            <a:avLst/>
          </a:prstGeom>
          <a:solidFill>
            <a:srgbClr val="8F8974"/>
          </a:solidFill>
          <a:ln/>
        </p:spPr>
      </p:sp>
      <p:sp>
        <p:nvSpPr>
          <p:cNvPr id="81" name="Shape 78"/>
          <p:cNvSpPr/>
          <p:nvPr/>
        </p:nvSpPr>
        <p:spPr>
          <a:xfrm>
            <a:off x="10780776" y="2916936"/>
            <a:ext cx="109728" cy="109728"/>
          </a:xfrm>
          <a:prstGeom prst="ellipse">
            <a:avLst/>
          </a:prstGeom>
          <a:solidFill>
            <a:srgbClr val="8F8974"/>
          </a:solidFill>
          <a:ln/>
        </p:spPr>
      </p:sp>
      <p:sp>
        <p:nvSpPr>
          <p:cNvPr id="82" name="Shape 79"/>
          <p:cNvSpPr/>
          <p:nvPr/>
        </p:nvSpPr>
        <p:spPr>
          <a:xfrm>
            <a:off x="2514600" y="3566160"/>
            <a:ext cx="8778240" cy="0"/>
          </a:xfrm>
          <a:prstGeom prst="line">
            <a:avLst/>
          </a:prstGeom>
          <a:noFill/>
          <a:ln w="12700">
            <a:solidFill>
              <a:srgbClr val="DCD9D0"/>
            </a:solidFill>
            <a:prstDash val="solid"/>
          </a:ln>
        </p:spPr>
      </p:sp>
      <p:sp>
        <p:nvSpPr>
          <p:cNvPr id="83" name="Shape 80"/>
          <p:cNvSpPr/>
          <p:nvPr/>
        </p:nvSpPr>
        <p:spPr>
          <a:xfrm>
            <a:off x="3026664" y="3483864"/>
            <a:ext cx="164592" cy="164592"/>
          </a:xfrm>
          <a:prstGeom prst="ellipse">
            <a:avLst/>
          </a:prstGeom>
          <a:solidFill>
            <a:srgbClr val="FFFFFF"/>
          </a:solidFill>
          <a:ln w="15875">
            <a:solidFill>
              <a:srgbClr val="322D2A"/>
            </a:solidFill>
            <a:prstDash val="solid"/>
          </a:ln>
        </p:spPr>
      </p:sp>
      <p:sp>
        <p:nvSpPr>
          <p:cNvPr id="84" name="Shape 81"/>
          <p:cNvSpPr/>
          <p:nvPr/>
        </p:nvSpPr>
        <p:spPr>
          <a:xfrm>
            <a:off x="3200400" y="3566160"/>
            <a:ext cx="1645920" cy="0"/>
          </a:xfrm>
          <a:prstGeom prst="line">
            <a:avLst/>
          </a:prstGeom>
          <a:noFill/>
          <a:ln w="19050">
            <a:solidFill>
              <a:srgbClr val="A35A00"/>
            </a:solidFill>
            <a:prstDash val="solid"/>
            <a:tailEnd type="triangle"/>
          </a:ln>
        </p:spPr>
      </p:sp>
      <p:sp>
        <p:nvSpPr>
          <p:cNvPr id="85" name="Shape 82"/>
          <p:cNvSpPr/>
          <p:nvPr/>
        </p:nvSpPr>
        <p:spPr>
          <a:xfrm>
            <a:off x="4855464" y="3483864"/>
            <a:ext cx="164592" cy="164592"/>
          </a:xfrm>
          <a:prstGeom prst="ellipse">
            <a:avLst/>
          </a:prstGeom>
          <a:solidFill>
            <a:srgbClr val="322D2A"/>
          </a:solidFill>
          <a:ln/>
        </p:spPr>
      </p:sp>
      <p:sp>
        <p:nvSpPr>
          <p:cNvPr id="86" name="Text 83"/>
          <p:cNvSpPr txBox="1"/>
          <p:nvPr/>
        </p:nvSpPr>
        <p:spPr>
          <a:xfrm>
            <a:off x="3291840" y="3255264"/>
            <a:ext cx="1737360" cy="182880"/>
          </a:xfrm>
          <a:prstGeom prst="rect">
            <a:avLst/>
          </a:prstGeom>
          <a:noFill/>
          <a:ln/>
        </p:spPr>
        <p:txBody>
          <a:bodyPr wrap="square" lIns="0" tIns="0" rIns="0" bIns="0" rtlCol="0" anchor="t"/>
          <a:lstStyle/>
          <a:p>
            <a:pPr indent="0" marL="0">
              <a:buNone/>
            </a:pPr>
            <a:r>
              <a:rPr lang="en-US" sz="900" spc="50" kern="0" dirty="0">
                <a:solidFill>
                  <a:srgbClr val="A35A00"/>
                </a:solidFill>
                <a:latin typeface="Consolas" pitchFamily="34" charset="0"/>
                <a:ea typeface="Consolas" pitchFamily="34" charset="-122"/>
                <a:cs typeface="Consolas" pitchFamily="34" charset="-120"/>
              </a:rPr>
              <a:t>+4 ч · допущение</a:t>
            </a:r>
            <a:endParaRPr lang="en-US" sz="900" dirty="0"/>
          </a:p>
        </p:txBody>
      </p:sp>
      <p:sp>
        <p:nvSpPr>
          <p:cNvPr id="87" name="Text 84"/>
          <p:cNvSpPr txBox="1"/>
          <p:nvPr/>
        </p:nvSpPr>
        <p:spPr>
          <a:xfrm>
            <a:off x="2651760" y="3694176"/>
            <a:ext cx="914400" cy="182880"/>
          </a:xfrm>
          <a:prstGeom prst="rect">
            <a:avLst/>
          </a:prstGeom>
          <a:noFill/>
          <a:ln/>
        </p:spPr>
        <p:txBody>
          <a:bodyPr wrap="square" lIns="0" tIns="0" rIns="0" bIns="0" rtlCol="0" anchor="t"/>
          <a:lstStyle/>
          <a:p>
            <a:pPr algn="ctr" indent="0" marL="0">
              <a:buNone/>
            </a:pPr>
            <a:r>
              <a:rPr lang="en-US" sz="900" spc="50" kern="0" dirty="0">
                <a:solidFill>
                  <a:srgbClr val="5A564E"/>
                </a:solidFill>
                <a:latin typeface="Consolas" pitchFamily="34" charset="0"/>
                <a:ea typeface="Consolas" pitchFamily="34" charset="-122"/>
                <a:cs typeface="Consolas" pitchFamily="34" charset="-120"/>
              </a:rPr>
              <a:t>отбор</a:t>
            </a:r>
            <a:endParaRPr lang="en-US" sz="900" dirty="0"/>
          </a:p>
        </p:txBody>
      </p:sp>
      <p:sp>
        <p:nvSpPr>
          <p:cNvPr id="88" name="Text 85"/>
          <p:cNvSpPr txBox="1"/>
          <p:nvPr/>
        </p:nvSpPr>
        <p:spPr>
          <a:xfrm>
            <a:off x="4114800" y="3694176"/>
            <a:ext cx="1645920" cy="182880"/>
          </a:xfrm>
          <a:prstGeom prst="rect">
            <a:avLst/>
          </a:prstGeom>
          <a:noFill/>
          <a:ln/>
        </p:spPr>
        <p:txBody>
          <a:bodyPr wrap="square" lIns="0" tIns="0" rIns="0" bIns="0" rtlCol="0" anchor="t"/>
          <a:lstStyle/>
          <a:p>
            <a:pPr algn="ctr" indent="0" marL="0">
              <a:buNone/>
            </a:pPr>
            <a:r>
              <a:rPr lang="en-US" sz="900" spc="50" kern="0" dirty="0">
                <a:solidFill>
                  <a:srgbClr val="322D2A"/>
                </a:solidFill>
                <a:latin typeface="Consolas" pitchFamily="34" charset="0"/>
                <a:ea typeface="Consolas" pitchFamily="34" charset="-122"/>
                <a:cs typeface="Consolas" pitchFamily="34" charset="-120"/>
              </a:rPr>
              <a:t>результат доступен</a:t>
            </a:r>
            <a:endParaRPr lang="en-US" sz="900" dirty="0"/>
          </a:p>
        </p:txBody>
      </p:sp>
      <p:sp>
        <p:nvSpPr>
          <p:cNvPr id="89" name="Shape 86"/>
          <p:cNvSpPr/>
          <p:nvPr/>
        </p:nvSpPr>
        <p:spPr>
          <a:xfrm>
            <a:off x="7141464" y="3483864"/>
            <a:ext cx="164592" cy="164592"/>
          </a:xfrm>
          <a:prstGeom prst="ellipse">
            <a:avLst/>
          </a:prstGeom>
          <a:solidFill>
            <a:srgbClr val="FFFFFF"/>
          </a:solidFill>
          <a:ln w="15875">
            <a:solidFill>
              <a:srgbClr val="322D2A"/>
            </a:solidFill>
            <a:prstDash val="solid"/>
          </a:ln>
        </p:spPr>
      </p:sp>
      <p:sp>
        <p:nvSpPr>
          <p:cNvPr id="90" name="Shape 87"/>
          <p:cNvSpPr/>
          <p:nvPr/>
        </p:nvSpPr>
        <p:spPr>
          <a:xfrm>
            <a:off x="7315200" y="3566160"/>
            <a:ext cx="1645920" cy="0"/>
          </a:xfrm>
          <a:prstGeom prst="line">
            <a:avLst/>
          </a:prstGeom>
          <a:noFill/>
          <a:ln w="15875">
            <a:solidFill>
              <a:srgbClr val="8F8974"/>
            </a:solidFill>
            <a:prstDash val="dash"/>
            <a:tailEnd type="triangle"/>
          </a:ln>
        </p:spPr>
      </p:sp>
      <p:sp>
        <p:nvSpPr>
          <p:cNvPr id="91" name="Shape 88"/>
          <p:cNvSpPr/>
          <p:nvPr/>
        </p:nvSpPr>
        <p:spPr>
          <a:xfrm>
            <a:off x="8970264" y="3483864"/>
            <a:ext cx="164592" cy="164592"/>
          </a:xfrm>
          <a:prstGeom prst="ellipse">
            <a:avLst/>
          </a:prstGeom>
          <a:solidFill>
            <a:srgbClr val="FFFFFF"/>
          </a:solidFill>
          <a:ln w="15875">
            <a:solidFill>
              <a:srgbClr val="8F8974"/>
            </a:solidFill>
            <a:prstDash val="solid"/>
          </a:ln>
        </p:spPr>
      </p:sp>
      <p:sp>
        <p:nvSpPr>
          <p:cNvPr id="92" name="Text 89"/>
          <p:cNvSpPr txBox="1"/>
          <p:nvPr/>
        </p:nvSpPr>
        <p:spPr>
          <a:xfrm>
            <a:off x="6766560" y="3694176"/>
            <a:ext cx="914400" cy="182880"/>
          </a:xfrm>
          <a:prstGeom prst="rect">
            <a:avLst/>
          </a:prstGeom>
          <a:noFill/>
          <a:ln/>
        </p:spPr>
        <p:txBody>
          <a:bodyPr wrap="square" lIns="0" tIns="0" rIns="0" bIns="0" rtlCol="0" anchor="t"/>
          <a:lstStyle/>
          <a:p>
            <a:pPr algn="ctr" indent="0" marL="0">
              <a:buNone/>
            </a:pPr>
            <a:r>
              <a:rPr lang="en-US" sz="900" spc="50" kern="0" dirty="0">
                <a:solidFill>
                  <a:srgbClr val="5A564E"/>
                </a:solidFill>
                <a:latin typeface="Consolas" pitchFamily="34" charset="0"/>
                <a:ea typeface="Consolas" pitchFamily="34" charset="-122"/>
                <a:cs typeface="Consolas" pitchFamily="34" charset="-120"/>
              </a:rPr>
              <a:t>отбор</a:t>
            </a:r>
            <a:endParaRPr lang="en-US" sz="900" dirty="0"/>
          </a:p>
        </p:txBody>
      </p:sp>
      <p:sp>
        <p:nvSpPr>
          <p:cNvPr id="93" name="Text 90"/>
          <p:cNvSpPr txBox="1"/>
          <p:nvPr/>
        </p:nvSpPr>
        <p:spPr>
          <a:xfrm>
            <a:off x="8732520" y="3694176"/>
            <a:ext cx="1737360" cy="182880"/>
          </a:xfrm>
          <a:prstGeom prst="rect">
            <a:avLst/>
          </a:prstGeom>
          <a:noFill/>
          <a:ln/>
        </p:spPr>
        <p:txBody>
          <a:bodyPr wrap="square" lIns="0" tIns="0" rIns="0" bIns="0" rtlCol="0" anchor="t"/>
          <a:lstStyle/>
          <a:p>
            <a:pPr indent="0" marL="0">
              <a:buNone/>
            </a:pPr>
            <a:r>
              <a:rPr lang="en-US" sz="900" spc="50" kern="0" dirty="0">
                <a:solidFill>
                  <a:srgbClr val="5A564E"/>
                </a:solidFill>
                <a:latin typeface="Consolas" pitchFamily="34" charset="0"/>
                <a:ea typeface="Consolas" pitchFamily="34" charset="-122"/>
                <a:cs typeface="Consolas" pitchFamily="34" charset="-120"/>
              </a:rPr>
              <a:t>ещё не доступен</a:t>
            </a:r>
            <a:endParaRPr lang="en-US" sz="900" dirty="0"/>
          </a:p>
        </p:txBody>
      </p:sp>
      <p:sp>
        <p:nvSpPr>
          <p:cNvPr id="94" name="Shape 91"/>
          <p:cNvSpPr/>
          <p:nvPr/>
        </p:nvSpPr>
        <p:spPr>
          <a:xfrm>
            <a:off x="8549640" y="2057400"/>
            <a:ext cx="0" cy="1965960"/>
          </a:xfrm>
          <a:prstGeom prst="line">
            <a:avLst/>
          </a:prstGeom>
          <a:noFill/>
          <a:ln w="25400">
            <a:solidFill>
              <a:srgbClr val="322D2A"/>
            </a:solidFill>
            <a:prstDash val="solid"/>
          </a:ln>
        </p:spPr>
      </p:sp>
      <p:sp>
        <p:nvSpPr>
          <p:cNvPr id="95" name="Text 92"/>
          <p:cNvSpPr txBox="1"/>
          <p:nvPr/>
        </p:nvSpPr>
        <p:spPr>
          <a:xfrm>
            <a:off x="6675120" y="2130552"/>
            <a:ext cx="1783080" cy="182880"/>
          </a:xfrm>
          <a:prstGeom prst="rect">
            <a:avLst/>
          </a:prstGeom>
          <a:noFill/>
          <a:ln/>
        </p:spPr>
        <p:txBody>
          <a:bodyPr wrap="square" lIns="0" tIns="0" rIns="0" bIns="0" rtlCol="0" anchor="t"/>
          <a:lstStyle/>
          <a:p>
            <a:pPr algn="r" indent="0" marL="0">
              <a:buNone/>
            </a:pPr>
            <a:r>
              <a:rPr lang="en-US" sz="900" spc="100" kern="0" dirty="0">
                <a:solidFill>
                  <a:srgbClr val="322D2A"/>
                </a:solidFill>
                <a:latin typeface="Consolas" pitchFamily="34" charset="0"/>
                <a:ea typeface="Consolas" pitchFamily="34" charset="-122"/>
                <a:cs typeface="Consolas" pitchFamily="34" charset="-120"/>
              </a:rPr>
              <a:t>МОМЕНТ РЕШЕНИЯ t</a:t>
            </a:r>
            <a:endParaRPr lang="en-US" sz="900" dirty="0"/>
          </a:p>
        </p:txBody>
      </p:sp>
      <p:sp>
        <p:nvSpPr>
          <p:cNvPr id="96" name="Shape 93"/>
          <p:cNvSpPr/>
          <p:nvPr/>
        </p:nvSpPr>
        <p:spPr>
          <a:xfrm>
            <a:off x="548640" y="4434840"/>
            <a:ext cx="2072579" cy="1371600"/>
          </a:xfrm>
          <a:prstGeom prst="roundRect">
            <a:avLst>
              <a:gd name="adj" fmla="val 4000"/>
            </a:avLst>
          </a:prstGeom>
          <a:solidFill>
            <a:srgbClr val="FFFFFF"/>
          </a:solidFill>
          <a:ln w="9525">
            <a:solidFill>
              <a:srgbClr val="322D2A"/>
            </a:solidFill>
            <a:prstDash val="solid"/>
          </a:ln>
        </p:spPr>
      </p:sp>
      <p:sp>
        <p:nvSpPr>
          <p:cNvPr id="97" name="Text 94"/>
          <p:cNvSpPr txBox="1"/>
          <p:nvPr/>
        </p:nvSpPr>
        <p:spPr>
          <a:xfrm>
            <a:off x="731520" y="4617720"/>
            <a:ext cx="1706819" cy="182880"/>
          </a:xfrm>
          <a:prstGeom prst="rect">
            <a:avLst/>
          </a:prstGeom>
          <a:noFill/>
          <a:ln/>
        </p:spPr>
        <p:txBody>
          <a:bodyPr wrap="square" lIns="0" tIns="0" rIns="0" bIns="0" rtlCol="0" anchor="t"/>
          <a:lstStyle/>
          <a:p>
            <a:pPr indent="0" marL="0">
              <a:buNone/>
            </a:pPr>
            <a:r>
              <a:rPr lang="en-US" sz="900" spc="100" kern="0" dirty="0">
                <a:solidFill>
                  <a:srgbClr val="5A564E"/>
                </a:solidFill>
                <a:latin typeface="Consolas" pitchFamily="34" charset="0"/>
                <a:ea typeface="Consolas" pitchFamily="34" charset="-122"/>
                <a:cs typeface="Consolas" pitchFamily="34" charset="-120"/>
              </a:rPr>
              <a:t>ЛИМС УСТАРЕЛ</a:t>
            </a:r>
            <a:endParaRPr lang="en-US" sz="900" dirty="0"/>
          </a:p>
        </p:txBody>
      </p:sp>
      <p:sp>
        <p:nvSpPr>
          <p:cNvPr id="98" name="Text 95"/>
          <p:cNvSpPr txBox="1"/>
          <p:nvPr/>
        </p:nvSpPr>
        <p:spPr>
          <a:xfrm>
            <a:off x="731520" y="4846320"/>
            <a:ext cx="1706819" cy="438912"/>
          </a:xfrm>
          <a:prstGeom prst="rect">
            <a:avLst/>
          </a:prstGeom>
          <a:noFill/>
          <a:ln/>
        </p:spPr>
        <p:txBody>
          <a:bodyPr wrap="square" lIns="0" tIns="0" rIns="0" bIns="0" rtlCol="0" anchor="ctr"/>
          <a:lstStyle/>
          <a:p>
            <a:pPr indent="0" marL="0">
              <a:buNone/>
            </a:pPr>
            <a:r>
              <a:rPr lang="en-US" sz="2400" dirty="0">
                <a:solidFill>
                  <a:srgbClr val="322D2A"/>
                </a:solidFill>
                <a:latin typeface="Segoe UI Semibold" pitchFamily="34" charset="0"/>
                <a:ea typeface="Segoe UI Semibold" pitchFamily="34" charset="-122"/>
                <a:cs typeface="Segoe UI Semibold" pitchFamily="34" charset="-120"/>
              </a:rPr>
              <a:t>&gt; 48 ч</a:t>
            </a:r>
            <a:endParaRPr lang="en-US" sz="2400" dirty="0"/>
          </a:p>
        </p:txBody>
      </p:sp>
      <p:sp>
        <p:nvSpPr>
          <p:cNvPr id="99" name="Text 96"/>
          <p:cNvSpPr txBox="1"/>
          <p:nvPr/>
        </p:nvSpPr>
        <p:spPr>
          <a:xfrm>
            <a:off x="731520" y="5321808"/>
            <a:ext cx="1706819" cy="411480"/>
          </a:xfrm>
          <a:prstGeom prst="rect">
            <a:avLst/>
          </a:prstGeom>
          <a:noFill/>
          <a:ln/>
        </p:spPr>
        <p:txBody>
          <a:bodyPr wrap="square" lIns="0" tIns="0" rIns="0" bIns="0" rtlCol="0" anchor="t"/>
          <a:lstStyle/>
          <a:p>
            <a:pPr indent="0" marL="0">
              <a:buNone/>
            </a:pPr>
            <a:r>
              <a:rPr lang="en-US" sz="1100" dirty="0">
                <a:solidFill>
                  <a:srgbClr val="5A564E"/>
                </a:solidFill>
                <a:latin typeface="Segoe UI" pitchFamily="34" charset="0"/>
                <a:ea typeface="Segoe UI" pitchFamily="34" charset="-122"/>
                <a:cs typeface="Segoe UI" pitchFamily="34" charset="-120"/>
              </a:rPr>
              <a:t>два суточных интервала отбора проб</a:t>
            </a:r>
            <a:endParaRPr lang="en-US" sz="1100" dirty="0"/>
          </a:p>
        </p:txBody>
      </p:sp>
      <p:sp>
        <p:nvSpPr>
          <p:cNvPr id="100" name="Shape 97"/>
          <p:cNvSpPr/>
          <p:nvPr/>
        </p:nvSpPr>
        <p:spPr>
          <a:xfrm>
            <a:off x="2804099" y="4434840"/>
            <a:ext cx="2072579" cy="1371600"/>
          </a:xfrm>
          <a:prstGeom prst="roundRect">
            <a:avLst>
              <a:gd name="adj" fmla="val 4000"/>
            </a:avLst>
          </a:prstGeom>
          <a:solidFill>
            <a:srgbClr val="FFFFFF"/>
          </a:solidFill>
          <a:ln w="9525">
            <a:solidFill>
              <a:srgbClr val="322D2A"/>
            </a:solidFill>
            <a:prstDash val="solid"/>
          </a:ln>
        </p:spPr>
      </p:sp>
      <p:sp>
        <p:nvSpPr>
          <p:cNvPr id="101" name="Text 98"/>
          <p:cNvSpPr txBox="1"/>
          <p:nvPr/>
        </p:nvSpPr>
        <p:spPr>
          <a:xfrm>
            <a:off x="2986979" y="4617720"/>
            <a:ext cx="1706819" cy="182880"/>
          </a:xfrm>
          <a:prstGeom prst="rect">
            <a:avLst/>
          </a:prstGeom>
          <a:noFill/>
          <a:ln/>
        </p:spPr>
        <p:txBody>
          <a:bodyPr wrap="square" lIns="0" tIns="0" rIns="0" bIns="0" rtlCol="0" anchor="t"/>
          <a:lstStyle/>
          <a:p>
            <a:pPr indent="0" marL="0">
              <a:buNone/>
            </a:pPr>
            <a:r>
              <a:rPr lang="en-US" sz="900" spc="100" kern="0" dirty="0">
                <a:solidFill>
                  <a:srgbClr val="5A564E"/>
                </a:solidFill>
                <a:latin typeface="Consolas" pitchFamily="34" charset="0"/>
                <a:ea typeface="Consolas" pitchFamily="34" charset="-122"/>
                <a:cs typeface="Consolas" pitchFamily="34" charset="-120"/>
              </a:rPr>
              <a:t>ПАК УСТАРЕЛ</a:t>
            </a:r>
            <a:endParaRPr lang="en-US" sz="900" dirty="0"/>
          </a:p>
        </p:txBody>
      </p:sp>
      <p:sp>
        <p:nvSpPr>
          <p:cNvPr id="102" name="Text 99"/>
          <p:cNvSpPr txBox="1"/>
          <p:nvPr/>
        </p:nvSpPr>
        <p:spPr>
          <a:xfrm>
            <a:off x="2986979" y="4846320"/>
            <a:ext cx="1706819" cy="438912"/>
          </a:xfrm>
          <a:prstGeom prst="rect">
            <a:avLst/>
          </a:prstGeom>
          <a:noFill/>
          <a:ln/>
        </p:spPr>
        <p:txBody>
          <a:bodyPr wrap="square" lIns="0" tIns="0" rIns="0" bIns="0" rtlCol="0" anchor="ctr"/>
          <a:lstStyle/>
          <a:p>
            <a:pPr indent="0" marL="0">
              <a:buNone/>
            </a:pPr>
            <a:r>
              <a:rPr lang="en-US" sz="2400" dirty="0">
                <a:solidFill>
                  <a:srgbClr val="322D2A"/>
                </a:solidFill>
                <a:latin typeface="Segoe UI Semibold" pitchFamily="34" charset="0"/>
                <a:ea typeface="Segoe UI Semibold" pitchFamily="34" charset="-122"/>
                <a:cs typeface="Segoe UI Semibold" pitchFamily="34" charset="-120"/>
              </a:rPr>
              <a:t>&gt; 30 мин</a:t>
            </a:r>
            <a:endParaRPr lang="en-US" sz="2400" dirty="0"/>
          </a:p>
        </p:txBody>
      </p:sp>
      <p:sp>
        <p:nvSpPr>
          <p:cNvPr id="103" name="Text 100"/>
          <p:cNvSpPr txBox="1"/>
          <p:nvPr/>
        </p:nvSpPr>
        <p:spPr>
          <a:xfrm>
            <a:off x="2986979" y="5321808"/>
            <a:ext cx="1706819" cy="411480"/>
          </a:xfrm>
          <a:prstGeom prst="rect">
            <a:avLst/>
          </a:prstGeom>
          <a:noFill/>
          <a:ln/>
        </p:spPr>
        <p:txBody>
          <a:bodyPr wrap="square" lIns="0" tIns="0" rIns="0" bIns="0" rtlCol="0" anchor="t"/>
          <a:lstStyle/>
          <a:p>
            <a:pPr indent="0" marL="0">
              <a:buNone/>
            </a:pPr>
            <a:r>
              <a:rPr lang="en-US" sz="1100" dirty="0">
                <a:solidFill>
                  <a:srgbClr val="5A564E"/>
                </a:solidFill>
                <a:latin typeface="Segoe UI" pitchFamily="34" charset="0"/>
                <a:ea typeface="Segoe UI" pitchFamily="34" charset="-122"/>
                <a:cs typeface="Segoe UI" pitchFamily="34" charset="-120"/>
              </a:rPr>
              <a:t>три периода опроса</a:t>
            </a:r>
            <a:endParaRPr lang="en-US" sz="1100" dirty="0"/>
          </a:p>
        </p:txBody>
      </p:sp>
      <p:sp>
        <p:nvSpPr>
          <p:cNvPr id="104" name="Shape 101"/>
          <p:cNvSpPr/>
          <p:nvPr/>
        </p:nvSpPr>
        <p:spPr>
          <a:xfrm>
            <a:off x="5059558" y="4434840"/>
            <a:ext cx="2072579" cy="1371600"/>
          </a:xfrm>
          <a:prstGeom prst="roundRect">
            <a:avLst>
              <a:gd name="adj" fmla="val 4000"/>
            </a:avLst>
          </a:prstGeom>
          <a:solidFill>
            <a:srgbClr val="FFFFFF"/>
          </a:solidFill>
          <a:ln w="9525">
            <a:solidFill>
              <a:srgbClr val="322D2A"/>
            </a:solidFill>
            <a:prstDash val="solid"/>
          </a:ln>
        </p:spPr>
      </p:sp>
      <p:sp>
        <p:nvSpPr>
          <p:cNvPr id="105" name="Text 102"/>
          <p:cNvSpPr txBox="1"/>
          <p:nvPr/>
        </p:nvSpPr>
        <p:spPr>
          <a:xfrm>
            <a:off x="5242438" y="4617720"/>
            <a:ext cx="1706819" cy="182880"/>
          </a:xfrm>
          <a:prstGeom prst="rect">
            <a:avLst/>
          </a:prstGeom>
          <a:noFill/>
          <a:ln/>
        </p:spPr>
        <p:txBody>
          <a:bodyPr wrap="square" lIns="0" tIns="0" rIns="0" bIns="0" rtlCol="0" anchor="t"/>
          <a:lstStyle/>
          <a:p>
            <a:pPr indent="0" marL="0">
              <a:buNone/>
            </a:pPr>
            <a:r>
              <a:rPr lang="en-US" sz="900" spc="100" kern="0" dirty="0">
                <a:solidFill>
                  <a:srgbClr val="5A564E"/>
                </a:solidFill>
                <a:latin typeface="Consolas" pitchFamily="34" charset="0"/>
                <a:ea typeface="Consolas" pitchFamily="34" charset="-122"/>
                <a:cs typeface="Consolas" pitchFamily="34" charset="-120"/>
              </a:rPr>
              <a:t>ДАТЧИК ЗАВИС</a:t>
            </a:r>
            <a:endParaRPr lang="en-US" sz="900" dirty="0"/>
          </a:p>
        </p:txBody>
      </p:sp>
      <p:sp>
        <p:nvSpPr>
          <p:cNvPr id="106" name="Text 103"/>
          <p:cNvSpPr txBox="1"/>
          <p:nvPr/>
        </p:nvSpPr>
        <p:spPr>
          <a:xfrm>
            <a:off x="5242438" y="4846320"/>
            <a:ext cx="1706819" cy="438912"/>
          </a:xfrm>
          <a:prstGeom prst="rect">
            <a:avLst/>
          </a:prstGeom>
          <a:noFill/>
          <a:ln/>
        </p:spPr>
        <p:txBody>
          <a:bodyPr wrap="square" lIns="0" tIns="0" rIns="0" bIns="0" rtlCol="0" anchor="ctr"/>
          <a:lstStyle/>
          <a:p>
            <a:pPr indent="0" marL="0">
              <a:buNone/>
            </a:pPr>
            <a:r>
              <a:rPr lang="en-US" sz="2400" dirty="0">
                <a:solidFill>
                  <a:srgbClr val="322D2A"/>
                </a:solidFill>
                <a:latin typeface="Segoe UI Semibold" pitchFamily="34" charset="0"/>
                <a:ea typeface="Segoe UI Semibold" pitchFamily="34" charset="-122"/>
                <a:cs typeface="Segoe UI Semibold" pitchFamily="34" charset="-120"/>
              </a:rPr>
              <a:t>4 подряд</a:t>
            </a:r>
            <a:endParaRPr lang="en-US" sz="2400" dirty="0"/>
          </a:p>
        </p:txBody>
      </p:sp>
      <p:sp>
        <p:nvSpPr>
          <p:cNvPr id="107" name="Text 104"/>
          <p:cNvSpPr txBox="1"/>
          <p:nvPr/>
        </p:nvSpPr>
        <p:spPr>
          <a:xfrm>
            <a:off x="5242438" y="5321808"/>
            <a:ext cx="1706819" cy="411480"/>
          </a:xfrm>
          <a:prstGeom prst="rect">
            <a:avLst/>
          </a:prstGeom>
          <a:noFill/>
          <a:ln/>
        </p:spPr>
        <p:txBody>
          <a:bodyPr wrap="square" lIns="0" tIns="0" rIns="0" bIns="0" rtlCol="0" anchor="t"/>
          <a:lstStyle/>
          <a:p>
            <a:pPr indent="0" marL="0">
              <a:buNone/>
            </a:pPr>
            <a:r>
              <a:rPr lang="en-US" sz="1100" dirty="0">
                <a:solidFill>
                  <a:srgbClr val="5A564E"/>
                </a:solidFill>
                <a:latin typeface="Segoe UI" pitchFamily="34" charset="0"/>
                <a:ea typeface="Segoe UI" pitchFamily="34" charset="-122"/>
                <a:cs typeface="Segoe UI" pitchFamily="34" charset="-120"/>
              </a:rPr>
              <a:t>одинаковых показания</a:t>
            </a:r>
            <a:endParaRPr lang="en-US" sz="1100" dirty="0"/>
          </a:p>
        </p:txBody>
      </p:sp>
      <p:sp>
        <p:nvSpPr>
          <p:cNvPr id="108" name="Shape 105"/>
          <p:cNvSpPr/>
          <p:nvPr/>
        </p:nvSpPr>
        <p:spPr>
          <a:xfrm>
            <a:off x="7315017" y="4434840"/>
            <a:ext cx="2072579" cy="1371600"/>
          </a:xfrm>
          <a:prstGeom prst="roundRect">
            <a:avLst>
              <a:gd name="adj" fmla="val 4000"/>
            </a:avLst>
          </a:prstGeom>
          <a:solidFill>
            <a:srgbClr val="FFFFFF"/>
          </a:solidFill>
          <a:ln w="9525">
            <a:solidFill>
              <a:srgbClr val="322D2A"/>
            </a:solidFill>
            <a:prstDash val="solid"/>
          </a:ln>
        </p:spPr>
      </p:sp>
      <p:sp>
        <p:nvSpPr>
          <p:cNvPr id="109" name="Text 106"/>
          <p:cNvSpPr txBox="1"/>
          <p:nvPr/>
        </p:nvSpPr>
        <p:spPr>
          <a:xfrm>
            <a:off x="7497897" y="4617720"/>
            <a:ext cx="1706819" cy="182880"/>
          </a:xfrm>
          <a:prstGeom prst="rect">
            <a:avLst/>
          </a:prstGeom>
          <a:noFill/>
          <a:ln/>
        </p:spPr>
        <p:txBody>
          <a:bodyPr wrap="square" lIns="0" tIns="0" rIns="0" bIns="0" rtlCol="0" anchor="t"/>
          <a:lstStyle/>
          <a:p>
            <a:pPr indent="0" marL="0">
              <a:buNone/>
            </a:pPr>
            <a:r>
              <a:rPr lang="en-US" sz="900" spc="100" kern="0" dirty="0">
                <a:solidFill>
                  <a:srgbClr val="5A564E"/>
                </a:solidFill>
                <a:latin typeface="Consolas" pitchFamily="34" charset="0"/>
                <a:ea typeface="Consolas" pitchFamily="34" charset="-122"/>
                <a:cs typeface="Consolas" pitchFamily="34" charset="-120"/>
              </a:rPr>
              <a:t>КОНФЛИКТ ПАК–ЛИМС</a:t>
            </a:r>
            <a:endParaRPr lang="en-US" sz="900" dirty="0"/>
          </a:p>
        </p:txBody>
      </p:sp>
      <p:sp>
        <p:nvSpPr>
          <p:cNvPr id="110" name="Text 107"/>
          <p:cNvSpPr txBox="1"/>
          <p:nvPr/>
        </p:nvSpPr>
        <p:spPr>
          <a:xfrm>
            <a:off x="7497897" y="4846320"/>
            <a:ext cx="1706819" cy="438912"/>
          </a:xfrm>
          <a:prstGeom prst="rect">
            <a:avLst/>
          </a:prstGeom>
          <a:noFill/>
          <a:ln/>
        </p:spPr>
        <p:txBody>
          <a:bodyPr wrap="square" lIns="0" tIns="0" rIns="0" bIns="0" rtlCol="0" anchor="ctr"/>
          <a:lstStyle/>
          <a:p>
            <a:pPr indent="0" marL="0">
              <a:buNone/>
            </a:pPr>
            <a:r>
              <a:rPr lang="en-US" sz="2400" dirty="0">
                <a:solidFill>
                  <a:srgbClr val="322D2A"/>
                </a:solidFill>
                <a:latin typeface="Segoe UI Semibold" pitchFamily="34" charset="0"/>
                <a:ea typeface="Segoe UI Semibold" pitchFamily="34" charset="-122"/>
                <a:cs typeface="Segoe UI Semibold" pitchFamily="34" charset="-120"/>
              </a:rPr>
              <a:t>&gt; 4,75</a:t>
            </a:r>
            <a:endParaRPr lang="en-US" sz="2400" dirty="0"/>
          </a:p>
        </p:txBody>
      </p:sp>
      <p:sp>
        <p:nvSpPr>
          <p:cNvPr id="111" name="Text 108"/>
          <p:cNvSpPr txBox="1"/>
          <p:nvPr/>
        </p:nvSpPr>
        <p:spPr>
          <a:xfrm>
            <a:off x="7497897" y="5321808"/>
            <a:ext cx="1706819" cy="411480"/>
          </a:xfrm>
          <a:prstGeom prst="rect">
            <a:avLst/>
          </a:prstGeom>
          <a:noFill/>
          <a:ln/>
        </p:spPr>
        <p:txBody>
          <a:bodyPr wrap="square" lIns="0" tIns="0" rIns="0" bIns="0" rtlCol="0" anchor="t"/>
          <a:lstStyle/>
          <a:p>
            <a:pPr indent="0" marL="0">
              <a:buNone/>
            </a:pPr>
            <a:r>
              <a:rPr lang="en-US" sz="1100" dirty="0">
                <a:solidFill>
                  <a:srgbClr val="5A564E"/>
                </a:solidFill>
                <a:latin typeface="Segoe UI" pitchFamily="34" charset="0"/>
                <a:ea typeface="Segoe UI" pitchFamily="34" charset="-122"/>
                <a:cs typeface="Segoe UI" pitchFamily="34" charset="-120"/>
              </a:rPr>
              <a:t>мг/кг · 95-й перцентиль расхождения</a:t>
            </a:r>
            <a:endParaRPr lang="en-US" sz="1100" dirty="0"/>
          </a:p>
        </p:txBody>
      </p:sp>
      <p:sp>
        <p:nvSpPr>
          <p:cNvPr id="112" name="Shape 109"/>
          <p:cNvSpPr/>
          <p:nvPr/>
        </p:nvSpPr>
        <p:spPr>
          <a:xfrm>
            <a:off x="9570476" y="4434840"/>
            <a:ext cx="2072579" cy="1371600"/>
          </a:xfrm>
          <a:prstGeom prst="roundRect">
            <a:avLst>
              <a:gd name="adj" fmla="val 4000"/>
            </a:avLst>
          </a:prstGeom>
          <a:solidFill>
            <a:srgbClr val="FFFFFF"/>
          </a:solidFill>
          <a:ln w="9525">
            <a:solidFill>
              <a:srgbClr val="322D2A"/>
            </a:solidFill>
            <a:prstDash val="solid"/>
          </a:ln>
        </p:spPr>
      </p:sp>
      <p:sp>
        <p:nvSpPr>
          <p:cNvPr id="113" name="Text 110"/>
          <p:cNvSpPr txBox="1"/>
          <p:nvPr/>
        </p:nvSpPr>
        <p:spPr>
          <a:xfrm>
            <a:off x="9753356" y="4617720"/>
            <a:ext cx="1706819" cy="182880"/>
          </a:xfrm>
          <a:prstGeom prst="rect">
            <a:avLst/>
          </a:prstGeom>
          <a:noFill/>
          <a:ln/>
        </p:spPr>
        <p:txBody>
          <a:bodyPr wrap="square" lIns="0" tIns="0" rIns="0" bIns="0" rtlCol="0" anchor="t"/>
          <a:lstStyle/>
          <a:p>
            <a:pPr indent="0" marL="0">
              <a:buNone/>
            </a:pPr>
            <a:r>
              <a:rPr lang="en-US" sz="900" spc="100" kern="0" dirty="0">
                <a:solidFill>
                  <a:srgbClr val="5A564E"/>
                </a:solidFill>
                <a:latin typeface="Consolas" pitchFamily="34" charset="0"/>
                <a:ea typeface="Consolas" pitchFamily="34" charset="-122"/>
                <a:cs typeface="Consolas" pitchFamily="34" charset="-120"/>
              </a:rPr>
              <a:t>ТЕЛЕМЕТРИЯ НЕПОЛНА</a:t>
            </a:r>
            <a:endParaRPr lang="en-US" sz="900" dirty="0"/>
          </a:p>
        </p:txBody>
      </p:sp>
      <p:sp>
        <p:nvSpPr>
          <p:cNvPr id="114" name="Text 111"/>
          <p:cNvSpPr txBox="1"/>
          <p:nvPr/>
        </p:nvSpPr>
        <p:spPr>
          <a:xfrm>
            <a:off x="9753356" y="4846320"/>
            <a:ext cx="1706819" cy="438912"/>
          </a:xfrm>
          <a:prstGeom prst="rect">
            <a:avLst/>
          </a:prstGeom>
          <a:noFill/>
          <a:ln/>
        </p:spPr>
        <p:txBody>
          <a:bodyPr wrap="square" lIns="0" tIns="0" rIns="0" bIns="0" rtlCol="0" anchor="ctr"/>
          <a:lstStyle/>
          <a:p>
            <a:pPr indent="0" marL="0">
              <a:buNone/>
            </a:pPr>
            <a:r>
              <a:rPr lang="en-US" sz="2400" dirty="0">
                <a:solidFill>
                  <a:srgbClr val="322D2A"/>
                </a:solidFill>
                <a:latin typeface="Segoe UI Semibold" pitchFamily="34" charset="0"/>
                <a:ea typeface="Segoe UI Semibold" pitchFamily="34" charset="-122"/>
                <a:cs typeface="Segoe UI Semibold" pitchFamily="34" charset="-120"/>
              </a:rPr>
              <a:t>≥ 10 из 96</a:t>
            </a:r>
            <a:endParaRPr lang="en-US" sz="2400" dirty="0"/>
          </a:p>
        </p:txBody>
      </p:sp>
      <p:sp>
        <p:nvSpPr>
          <p:cNvPr id="115" name="Text 112"/>
          <p:cNvSpPr txBox="1"/>
          <p:nvPr/>
        </p:nvSpPr>
        <p:spPr>
          <a:xfrm>
            <a:off x="9753356" y="5321808"/>
            <a:ext cx="1706819" cy="411480"/>
          </a:xfrm>
          <a:prstGeom prst="rect">
            <a:avLst/>
          </a:prstGeom>
          <a:noFill/>
          <a:ln/>
        </p:spPr>
        <p:txBody>
          <a:bodyPr wrap="square" lIns="0" tIns="0" rIns="0" bIns="0" rtlCol="0" anchor="t"/>
          <a:lstStyle/>
          <a:p>
            <a:pPr indent="0" marL="0">
              <a:buNone/>
            </a:pPr>
            <a:r>
              <a:rPr lang="en-US" sz="1100" dirty="0">
                <a:solidFill>
                  <a:srgbClr val="5A564E"/>
                </a:solidFill>
                <a:latin typeface="Segoe UI" pitchFamily="34" charset="0"/>
                <a:ea typeface="Segoe UI" pitchFamily="34" charset="-122"/>
                <a:cs typeface="Segoe UI" pitchFamily="34" charset="-120"/>
              </a:rPr>
              <a:t>пропавших датчиков</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FE9"/>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228600"/>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ПРОГНОЗ · СЕРА ПОТОКА ПОСЛЕ ГИДРООЧИСТКИ · ГОРИЗОНТ 2 Ч</a:t>
            </a:r>
            <a:endParaRPr lang="en-US" sz="1000" dirty="0"/>
          </a:p>
        </p:txBody>
      </p:sp>
      <p:sp>
        <p:nvSpPr>
          <p:cNvPr id="3" name="Text 1"/>
          <p:cNvSpPr txBox="1"/>
          <p:nvPr/>
        </p:nvSpPr>
        <p:spPr>
          <a:xfrm>
            <a:off x="548640" y="731520"/>
            <a:ext cx="10424160" cy="566928"/>
          </a:xfrm>
          <a:prstGeom prst="rect">
            <a:avLst/>
          </a:prstGeom>
          <a:noFill/>
          <a:ln/>
        </p:spPr>
        <p:txBody>
          <a:bodyPr wrap="square" lIns="0" tIns="0" rIns="0" bIns="0" rtlCol="0" anchor="ctr"/>
          <a:lstStyle/>
          <a:p>
            <a:pPr indent="0" marL="0">
              <a:buNone/>
            </a:pPr>
            <a:r>
              <a:rPr lang="en-US" sz="3000" dirty="0">
                <a:solidFill>
                  <a:srgbClr val="322D2A"/>
                </a:solidFill>
                <a:latin typeface="Segoe UI Semibold" pitchFamily="34" charset="0"/>
                <a:ea typeface="Segoe UI Semibold" pitchFamily="34" charset="-122"/>
                <a:cs typeface="Segoe UI Semibold" pitchFamily="34" charset="-120"/>
              </a:rPr>
              <a:t>Прогноз серы потока проверен по времени</a:t>
            </a:r>
            <a:endParaRPr lang="en-US" sz="3000" dirty="0"/>
          </a:p>
        </p:txBody>
      </p:sp>
      <p:sp>
        <p:nvSpPr>
          <p:cNvPr id="4" name="Text 2"/>
          <p:cNvSpPr txBox="1"/>
          <p:nvPr/>
        </p:nvSpPr>
        <p:spPr>
          <a:xfrm>
            <a:off x="548640" y="1335024"/>
            <a:ext cx="10424160" cy="329184"/>
          </a:xfrm>
          <a:prstGeom prst="rect">
            <a:avLst/>
          </a:prstGeom>
          <a:noFill/>
          <a:ln/>
        </p:spPr>
        <p:txBody>
          <a:bodyPr wrap="square" lIns="0" tIns="0" rIns="0" bIns="0" rtlCol="0" anchor="ctr"/>
          <a:lstStyle/>
          <a:p>
            <a:pPr indent="0" marL="0">
              <a:buNone/>
            </a:pPr>
            <a:r>
              <a:rPr lang="en-US" sz="1500" dirty="0">
                <a:solidFill>
                  <a:srgbClr val="5A564E"/>
                </a:solidFill>
                <a:latin typeface="Segoe UI" pitchFamily="34" charset="0"/>
                <a:ea typeface="Segoe UI" pitchFamily="34" charset="-122"/>
                <a:cs typeface="Segoe UI" pitchFamily="34" charset="-120"/>
              </a:rPr>
              <a:t>Метод выбран на пяти rolling-периодах до 2026 года и один раз проверен на отделённом 2026-м.</a:t>
            </a:r>
            <a:endParaRPr lang="en-US" sz="1500" dirty="0"/>
          </a:p>
        </p:txBody>
      </p:sp>
      <p:pic>
        <p:nvPicPr>
          <p:cNvPr id="5" name="Image 0" descr="preencoded.png">    </p:cNvPr>
          <p:cNvPicPr>
            <a:picLocks noChangeAspect="1"/>
          </p:cNvPicPr>
          <p:nvPr/>
        </p:nvPicPr>
        <p:blipFill>
          <a:blip r:embed="rId1"/>
          <a:stretch>
            <a:fillRect/>
          </a:stretch>
        </p:blipFill>
        <p:spPr>
          <a:xfrm>
            <a:off x="11277295" y="420624"/>
            <a:ext cx="365760" cy="365760"/>
          </a:xfrm>
          <a:prstGeom prst="rect">
            <a:avLst/>
          </a:prstGeom>
        </p:spPr>
      </p:pic>
      <p:sp>
        <p:nvSpPr>
          <p:cNvPr id="6" name="Text 3"/>
          <p:cNvSpPr txBox="1"/>
          <p:nvPr/>
        </p:nvSpPr>
        <p:spPr>
          <a:xfrm>
            <a:off x="10180015" y="6309360"/>
            <a:ext cx="1463040" cy="228600"/>
          </a:xfrm>
          <a:prstGeom prst="rect">
            <a:avLst/>
          </a:prstGeom>
          <a:noFill/>
          <a:ln/>
        </p:spPr>
        <p:txBody>
          <a:bodyPr wrap="square" lIns="0" tIns="0" rIns="0" bIns="0" rtlCol="0" anchor="t"/>
          <a:lstStyle/>
          <a:p>
            <a:pPr algn="r" indent="0" marL="0">
              <a:buNone/>
            </a:pPr>
            <a:r>
              <a:rPr lang="en-US" sz="1100" spc="100" kern="0" dirty="0">
                <a:solidFill>
                  <a:srgbClr val="5A564E"/>
                </a:solidFill>
                <a:latin typeface="Consolas" pitchFamily="34" charset="0"/>
                <a:ea typeface="Consolas" pitchFamily="34" charset="-122"/>
                <a:cs typeface="Consolas" pitchFamily="34" charset="-120"/>
              </a:rPr>
              <a:t>04 / 10</a:t>
            </a:r>
            <a:endParaRPr lang="en-US" sz="1100" dirty="0"/>
          </a:p>
        </p:txBody>
      </p:sp>
      <p:sp>
        <p:nvSpPr>
          <p:cNvPr id="7" name="Text 4"/>
          <p:cNvSpPr txBox="1"/>
          <p:nvPr/>
        </p:nvSpPr>
        <p:spPr>
          <a:xfrm>
            <a:off x="548640" y="6291072"/>
            <a:ext cx="9692640" cy="274320"/>
          </a:xfrm>
          <a:prstGeom prst="rect">
            <a:avLst/>
          </a:prstGeom>
          <a:noFill/>
          <a:ln/>
        </p:spPr>
        <p:txBody>
          <a:bodyPr wrap="square" lIns="0" tIns="0" rIns="0" bIns="0" rtlCol="0" anchor="ctr"/>
          <a:lstStyle/>
          <a:p>
            <a:pPr indent="0" marL="0">
              <a:buNone/>
            </a:pPr>
            <a:r>
              <a:rPr lang="en-US" sz="1100" dirty="0">
                <a:solidFill>
                  <a:srgbClr val="5A564E"/>
                </a:solidFill>
                <a:latin typeface="Segoe UI" pitchFamily="34" charset="0"/>
                <a:ea typeface="Segoe UI" pitchFamily="34" charset="-122"/>
                <a:cs typeface="Segoe UI" pitchFamily="34" charset="-120"/>
              </a:rPr>
              <a:t>Эти числа относятся к потоку после ГО и не описывают паспорт готовой партии.</a:t>
            </a:r>
            <a:endParaRPr lang="en-US" sz="1100" dirty="0"/>
          </a:p>
        </p:txBody>
      </p:sp>
      <p:sp>
        <p:nvSpPr>
          <p:cNvPr id="8" name="Shape 5"/>
          <p:cNvSpPr/>
          <p:nvPr/>
        </p:nvSpPr>
        <p:spPr>
          <a:xfrm>
            <a:off x="548640" y="1874520"/>
            <a:ext cx="6035040" cy="3931920"/>
          </a:xfrm>
          <a:prstGeom prst="roundRect">
            <a:avLst>
              <a:gd name="adj" fmla="val 1395"/>
            </a:avLst>
          </a:prstGeom>
          <a:solidFill>
            <a:srgbClr val="FFFFFF"/>
          </a:solidFill>
          <a:ln w="9525">
            <a:solidFill>
              <a:srgbClr val="322D2A"/>
            </a:solidFill>
            <a:prstDash val="solid"/>
          </a:ln>
        </p:spPr>
      </p:sp>
      <p:sp>
        <p:nvSpPr>
          <p:cNvPr id="9" name="Text 6"/>
          <p:cNvSpPr txBox="1"/>
          <p:nvPr/>
        </p:nvSpPr>
        <p:spPr>
          <a:xfrm>
            <a:off x="822960" y="2103120"/>
            <a:ext cx="5486400" cy="201168"/>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MAE, МГ/КГ · 233 ОБЩИЕ ПРОБЫ 2026 ГОДА</a:t>
            </a:r>
            <a:endParaRPr lang="en-US" sz="1000" dirty="0"/>
          </a:p>
        </p:txBody>
      </p:sp>
      <p:sp>
        <p:nvSpPr>
          <p:cNvPr id="10" name="Text 7"/>
          <p:cNvSpPr txBox="1"/>
          <p:nvPr/>
        </p:nvSpPr>
        <p:spPr>
          <a:xfrm>
            <a:off x="731520" y="5074920"/>
            <a:ext cx="457200" cy="182880"/>
          </a:xfrm>
          <a:prstGeom prst="rect">
            <a:avLst/>
          </a:prstGeom>
          <a:noFill/>
          <a:ln/>
        </p:spPr>
        <p:txBody>
          <a:bodyPr wrap="square" lIns="0" tIns="0" rIns="0" bIns="0" rtlCol="0" anchor="t"/>
          <a:lstStyle/>
          <a:p>
            <a:pPr algn="r" indent="0" marL="0">
              <a:buNone/>
            </a:pPr>
            <a:r>
              <a:rPr lang="en-US" sz="900" dirty="0">
                <a:solidFill>
                  <a:srgbClr val="5A564E"/>
                </a:solidFill>
                <a:latin typeface="Consolas" pitchFamily="34" charset="0"/>
                <a:ea typeface="Consolas" pitchFamily="34" charset="-122"/>
                <a:cs typeface="Consolas" pitchFamily="34" charset="-120"/>
              </a:rPr>
              <a:t>0</a:t>
            </a:r>
            <a:endParaRPr lang="en-US" sz="900" dirty="0"/>
          </a:p>
        </p:txBody>
      </p:sp>
      <p:sp>
        <p:nvSpPr>
          <p:cNvPr id="11" name="Shape 8"/>
          <p:cNvSpPr/>
          <p:nvPr/>
        </p:nvSpPr>
        <p:spPr>
          <a:xfrm>
            <a:off x="1325880" y="4537710"/>
            <a:ext cx="4983480" cy="0"/>
          </a:xfrm>
          <a:prstGeom prst="line">
            <a:avLst/>
          </a:prstGeom>
          <a:noFill/>
          <a:ln w="9525">
            <a:solidFill>
              <a:srgbClr val="E9E7E0"/>
            </a:solidFill>
            <a:prstDash val="solid"/>
          </a:ln>
        </p:spPr>
      </p:sp>
      <p:sp>
        <p:nvSpPr>
          <p:cNvPr id="12" name="Text 9"/>
          <p:cNvSpPr txBox="1"/>
          <p:nvPr/>
        </p:nvSpPr>
        <p:spPr>
          <a:xfrm>
            <a:off x="731520" y="4446270"/>
            <a:ext cx="457200" cy="182880"/>
          </a:xfrm>
          <a:prstGeom prst="rect">
            <a:avLst/>
          </a:prstGeom>
          <a:noFill/>
          <a:ln/>
        </p:spPr>
        <p:txBody>
          <a:bodyPr wrap="square" lIns="0" tIns="0" rIns="0" bIns="0" rtlCol="0" anchor="t"/>
          <a:lstStyle/>
          <a:p>
            <a:pPr algn="r" indent="0" marL="0">
              <a:buNone/>
            </a:pPr>
            <a:r>
              <a:rPr lang="en-US" sz="900" dirty="0">
                <a:solidFill>
                  <a:srgbClr val="5A564E"/>
                </a:solidFill>
                <a:latin typeface="Consolas" pitchFamily="34" charset="0"/>
                <a:ea typeface="Consolas" pitchFamily="34" charset="-122"/>
                <a:cs typeface="Consolas" pitchFamily="34" charset="-120"/>
              </a:rPr>
              <a:t>0,5</a:t>
            </a:r>
            <a:endParaRPr lang="en-US" sz="900" dirty="0"/>
          </a:p>
        </p:txBody>
      </p:sp>
      <p:sp>
        <p:nvSpPr>
          <p:cNvPr id="13" name="Shape 10"/>
          <p:cNvSpPr/>
          <p:nvPr/>
        </p:nvSpPr>
        <p:spPr>
          <a:xfrm>
            <a:off x="1325880" y="3909060"/>
            <a:ext cx="4983480" cy="0"/>
          </a:xfrm>
          <a:prstGeom prst="line">
            <a:avLst/>
          </a:prstGeom>
          <a:noFill/>
          <a:ln w="9525">
            <a:solidFill>
              <a:srgbClr val="E9E7E0"/>
            </a:solidFill>
            <a:prstDash val="solid"/>
          </a:ln>
        </p:spPr>
      </p:sp>
      <p:sp>
        <p:nvSpPr>
          <p:cNvPr id="14" name="Text 11"/>
          <p:cNvSpPr txBox="1"/>
          <p:nvPr/>
        </p:nvSpPr>
        <p:spPr>
          <a:xfrm>
            <a:off x="731520" y="3817620"/>
            <a:ext cx="457200" cy="182880"/>
          </a:xfrm>
          <a:prstGeom prst="rect">
            <a:avLst/>
          </a:prstGeom>
          <a:noFill/>
          <a:ln/>
        </p:spPr>
        <p:txBody>
          <a:bodyPr wrap="square" lIns="0" tIns="0" rIns="0" bIns="0" rtlCol="0" anchor="t"/>
          <a:lstStyle/>
          <a:p>
            <a:pPr algn="r" indent="0" marL="0">
              <a:buNone/>
            </a:pPr>
            <a:r>
              <a:rPr lang="en-US" sz="900" dirty="0">
                <a:solidFill>
                  <a:srgbClr val="5A564E"/>
                </a:solidFill>
                <a:latin typeface="Consolas" pitchFamily="34" charset="0"/>
                <a:ea typeface="Consolas" pitchFamily="34" charset="-122"/>
                <a:cs typeface="Consolas" pitchFamily="34" charset="-120"/>
              </a:rPr>
              <a:t>1,0</a:t>
            </a:r>
            <a:endParaRPr lang="en-US" sz="900" dirty="0"/>
          </a:p>
        </p:txBody>
      </p:sp>
      <p:sp>
        <p:nvSpPr>
          <p:cNvPr id="15" name="Shape 12"/>
          <p:cNvSpPr/>
          <p:nvPr/>
        </p:nvSpPr>
        <p:spPr>
          <a:xfrm>
            <a:off x="1325880" y="3280410"/>
            <a:ext cx="4983480" cy="0"/>
          </a:xfrm>
          <a:prstGeom prst="line">
            <a:avLst/>
          </a:prstGeom>
          <a:noFill/>
          <a:ln w="9525">
            <a:solidFill>
              <a:srgbClr val="E9E7E0"/>
            </a:solidFill>
            <a:prstDash val="solid"/>
          </a:ln>
        </p:spPr>
      </p:sp>
      <p:sp>
        <p:nvSpPr>
          <p:cNvPr id="16" name="Text 13"/>
          <p:cNvSpPr txBox="1"/>
          <p:nvPr/>
        </p:nvSpPr>
        <p:spPr>
          <a:xfrm>
            <a:off x="731520" y="3188970"/>
            <a:ext cx="457200" cy="182880"/>
          </a:xfrm>
          <a:prstGeom prst="rect">
            <a:avLst/>
          </a:prstGeom>
          <a:noFill/>
          <a:ln/>
        </p:spPr>
        <p:txBody>
          <a:bodyPr wrap="square" lIns="0" tIns="0" rIns="0" bIns="0" rtlCol="0" anchor="t"/>
          <a:lstStyle/>
          <a:p>
            <a:pPr algn="r" indent="0" marL="0">
              <a:buNone/>
            </a:pPr>
            <a:r>
              <a:rPr lang="en-US" sz="900" dirty="0">
                <a:solidFill>
                  <a:srgbClr val="5A564E"/>
                </a:solidFill>
                <a:latin typeface="Consolas" pitchFamily="34" charset="0"/>
                <a:ea typeface="Consolas" pitchFamily="34" charset="-122"/>
                <a:cs typeface="Consolas" pitchFamily="34" charset="-120"/>
              </a:rPr>
              <a:t>1,5</a:t>
            </a:r>
            <a:endParaRPr lang="en-US" sz="900" dirty="0"/>
          </a:p>
        </p:txBody>
      </p:sp>
      <p:sp>
        <p:nvSpPr>
          <p:cNvPr id="17" name="Shape 14"/>
          <p:cNvSpPr/>
          <p:nvPr/>
        </p:nvSpPr>
        <p:spPr>
          <a:xfrm>
            <a:off x="1325880" y="2651760"/>
            <a:ext cx="4983480" cy="0"/>
          </a:xfrm>
          <a:prstGeom prst="line">
            <a:avLst/>
          </a:prstGeom>
          <a:noFill/>
          <a:ln w="9525">
            <a:solidFill>
              <a:srgbClr val="E9E7E0"/>
            </a:solidFill>
            <a:prstDash val="solid"/>
          </a:ln>
        </p:spPr>
      </p:sp>
      <p:sp>
        <p:nvSpPr>
          <p:cNvPr id="18" name="Text 15"/>
          <p:cNvSpPr txBox="1"/>
          <p:nvPr/>
        </p:nvSpPr>
        <p:spPr>
          <a:xfrm>
            <a:off x="731520" y="2560320"/>
            <a:ext cx="457200" cy="182880"/>
          </a:xfrm>
          <a:prstGeom prst="rect">
            <a:avLst/>
          </a:prstGeom>
          <a:noFill/>
          <a:ln/>
        </p:spPr>
        <p:txBody>
          <a:bodyPr wrap="square" lIns="0" tIns="0" rIns="0" bIns="0" rtlCol="0" anchor="t"/>
          <a:lstStyle/>
          <a:p>
            <a:pPr algn="r" indent="0" marL="0">
              <a:buNone/>
            </a:pPr>
            <a:r>
              <a:rPr lang="en-US" sz="900" dirty="0">
                <a:solidFill>
                  <a:srgbClr val="5A564E"/>
                </a:solidFill>
                <a:latin typeface="Consolas" pitchFamily="34" charset="0"/>
                <a:ea typeface="Consolas" pitchFamily="34" charset="-122"/>
                <a:cs typeface="Consolas" pitchFamily="34" charset="-120"/>
              </a:rPr>
              <a:t>2,0</a:t>
            </a:r>
            <a:endParaRPr lang="en-US" sz="900" dirty="0"/>
          </a:p>
        </p:txBody>
      </p:sp>
      <p:sp>
        <p:nvSpPr>
          <p:cNvPr id="19" name="Shape 16"/>
          <p:cNvSpPr/>
          <p:nvPr/>
        </p:nvSpPr>
        <p:spPr>
          <a:xfrm>
            <a:off x="1989734" y="2900705"/>
            <a:ext cx="1463040" cy="2265655"/>
          </a:xfrm>
          <a:prstGeom prst="rect">
            <a:avLst/>
          </a:prstGeom>
          <a:solidFill>
            <a:srgbClr val="8F8974"/>
          </a:solidFill>
          <a:ln/>
        </p:spPr>
      </p:sp>
      <p:sp>
        <p:nvSpPr>
          <p:cNvPr id="20" name="Text 17"/>
          <p:cNvSpPr txBox="1"/>
          <p:nvPr/>
        </p:nvSpPr>
        <p:spPr>
          <a:xfrm>
            <a:off x="1806854" y="2489225"/>
            <a:ext cx="1828800" cy="365760"/>
          </a:xfrm>
          <a:prstGeom prst="rect">
            <a:avLst/>
          </a:prstGeom>
          <a:noFill/>
          <a:ln/>
        </p:spPr>
        <p:txBody>
          <a:bodyPr wrap="square" lIns="0" tIns="0" rIns="0" bIns="0" rtlCol="0" anchor="ctr"/>
          <a:lstStyle/>
          <a:p>
            <a:pPr algn="ctr" indent="0" marL="0">
              <a:buNone/>
            </a:pPr>
            <a:r>
              <a:rPr lang="en-US" sz="2000" dirty="0">
                <a:solidFill>
                  <a:srgbClr val="322D2A"/>
                </a:solidFill>
                <a:latin typeface="Consolas" pitchFamily="34" charset="0"/>
                <a:ea typeface="Consolas" pitchFamily="34" charset="-122"/>
                <a:cs typeface="Consolas" pitchFamily="34" charset="-120"/>
              </a:rPr>
              <a:t>1,802</a:t>
            </a:r>
            <a:endParaRPr lang="en-US" sz="2000" dirty="0"/>
          </a:p>
        </p:txBody>
      </p:sp>
      <p:sp>
        <p:nvSpPr>
          <p:cNvPr id="21" name="Text 18"/>
          <p:cNvSpPr txBox="1"/>
          <p:nvPr/>
        </p:nvSpPr>
        <p:spPr>
          <a:xfrm>
            <a:off x="1532534" y="5276088"/>
            <a:ext cx="2377440" cy="274320"/>
          </a:xfrm>
          <a:prstGeom prst="rect">
            <a:avLst/>
          </a:prstGeom>
          <a:noFill/>
          <a:ln/>
        </p:spPr>
        <p:txBody>
          <a:bodyPr wrap="square" lIns="0" tIns="0" rIns="0" bIns="0" rtlCol="0" anchor="t"/>
          <a:lstStyle/>
          <a:p>
            <a:pPr algn="ctr" indent="0" marL="0">
              <a:buNone/>
            </a:pPr>
            <a:r>
              <a:rPr lang="en-US" sz="1300" dirty="0">
                <a:solidFill>
                  <a:srgbClr val="322D2A"/>
                </a:solidFill>
                <a:latin typeface="Segoe UI" pitchFamily="34" charset="0"/>
                <a:ea typeface="Segoe UI" pitchFamily="34" charset="-122"/>
                <a:cs typeface="Segoe UI" pitchFamily="34" charset="-120"/>
              </a:rPr>
              <a:t>Последний ПАК</a:t>
            </a:r>
            <a:endParaRPr lang="en-US" sz="1300" dirty="0"/>
          </a:p>
        </p:txBody>
      </p:sp>
      <p:sp>
        <p:nvSpPr>
          <p:cNvPr id="22" name="Shape 19"/>
          <p:cNvSpPr/>
          <p:nvPr/>
        </p:nvSpPr>
        <p:spPr>
          <a:xfrm>
            <a:off x="4182466" y="3134563"/>
            <a:ext cx="1463040" cy="2031797"/>
          </a:xfrm>
          <a:prstGeom prst="rect">
            <a:avLst/>
          </a:prstGeom>
          <a:solidFill>
            <a:srgbClr val="322D2A"/>
          </a:solidFill>
          <a:ln/>
        </p:spPr>
      </p:sp>
      <p:sp>
        <p:nvSpPr>
          <p:cNvPr id="23" name="Text 20"/>
          <p:cNvSpPr txBox="1"/>
          <p:nvPr/>
        </p:nvSpPr>
        <p:spPr>
          <a:xfrm>
            <a:off x="3999586" y="2723083"/>
            <a:ext cx="1828800" cy="365760"/>
          </a:xfrm>
          <a:prstGeom prst="rect">
            <a:avLst/>
          </a:prstGeom>
          <a:noFill/>
          <a:ln/>
        </p:spPr>
        <p:txBody>
          <a:bodyPr wrap="square" lIns="0" tIns="0" rIns="0" bIns="0" rtlCol="0" anchor="ctr"/>
          <a:lstStyle/>
          <a:p>
            <a:pPr algn="ctr" indent="0" marL="0">
              <a:buNone/>
            </a:pPr>
            <a:r>
              <a:rPr lang="en-US" sz="2000" dirty="0">
                <a:solidFill>
                  <a:srgbClr val="322D2A"/>
                </a:solidFill>
                <a:latin typeface="Consolas" pitchFamily="34" charset="0"/>
                <a:ea typeface="Consolas" pitchFamily="34" charset="-122"/>
                <a:cs typeface="Consolas" pitchFamily="34" charset="-120"/>
              </a:rPr>
              <a:t>1,616</a:t>
            </a:r>
            <a:endParaRPr lang="en-US" sz="2000" dirty="0"/>
          </a:p>
        </p:txBody>
      </p:sp>
      <p:sp>
        <p:nvSpPr>
          <p:cNvPr id="24" name="Text 21"/>
          <p:cNvSpPr txBox="1"/>
          <p:nvPr/>
        </p:nvSpPr>
        <p:spPr>
          <a:xfrm>
            <a:off x="3725266" y="5276088"/>
            <a:ext cx="2377440" cy="274320"/>
          </a:xfrm>
          <a:prstGeom prst="rect">
            <a:avLst/>
          </a:prstGeom>
          <a:noFill/>
          <a:ln/>
        </p:spPr>
        <p:txBody>
          <a:bodyPr wrap="square" lIns="0" tIns="0" rIns="0" bIns="0" rtlCol="0" anchor="t"/>
          <a:lstStyle/>
          <a:p>
            <a:pPr algn="ctr" indent="0" marL="0">
              <a:buNone/>
            </a:pPr>
            <a:r>
              <a:rPr lang="en-US" sz="1300" dirty="0">
                <a:solidFill>
                  <a:srgbClr val="322D2A"/>
                </a:solidFill>
                <a:latin typeface="Segoe UI" pitchFamily="34" charset="0"/>
                <a:ea typeface="Segoe UI" pitchFamily="34" charset="-122"/>
                <a:cs typeface="Segoe UI" pitchFamily="34" charset="-120"/>
              </a:rPr>
              <a:t>ПАК + поправка</a:t>
            </a:r>
            <a:endParaRPr lang="en-US" sz="1300" dirty="0"/>
          </a:p>
        </p:txBody>
      </p:sp>
      <p:sp>
        <p:nvSpPr>
          <p:cNvPr id="25" name="Shape 22"/>
          <p:cNvSpPr/>
          <p:nvPr/>
        </p:nvSpPr>
        <p:spPr>
          <a:xfrm>
            <a:off x="1325880" y="5166360"/>
            <a:ext cx="4983480" cy="0"/>
          </a:xfrm>
          <a:prstGeom prst="line">
            <a:avLst/>
          </a:prstGeom>
          <a:noFill/>
          <a:ln w="12700">
            <a:solidFill>
              <a:srgbClr val="322D2A"/>
            </a:solidFill>
            <a:prstDash val="solid"/>
          </a:ln>
        </p:spPr>
      </p:sp>
      <p:sp>
        <p:nvSpPr>
          <p:cNvPr id="26" name="Text 23"/>
          <p:cNvSpPr txBox="1"/>
          <p:nvPr/>
        </p:nvSpPr>
        <p:spPr>
          <a:xfrm>
            <a:off x="6949440" y="1828800"/>
            <a:ext cx="4693615" cy="868680"/>
          </a:xfrm>
          <a:prstGeom prst="rect">
            <a:avLst/>
          </a:prstGeom>
          <a:noFill/>
          <a:ln/>
        </p:spPr>
        <p:txBody>
          <a:bodyPr wrap="square" lIns="0" tIns="0" rIns="0" bIns="0" rtlCol="0" anchor="ctr"/>
          <a:lstStyle/>
          <a:p>
            <a:pPr indent="0" marL="0">
              <a:buNone/>
            </a:pPr>
            <a:r>
              <a:rPr lang="en-US" sz="5600" dirty="0">
                <a:solidFill>
                  <a:srgbClr val="322D2A"/>
                </a:solidFill>
                <a:latin typeface="Segoe UI Semibold" pitchFamily="34" charset="0"/>
                <a:ea typeface="Segoe UI Semibold" pitchFamily="34" charset="-122"/>
                <a:cs typeface="Segoe UI Semibold" pitchFamily="34" charset="-120"/>
              </a:rPr>
              <a:t>−10,3 %</a:t>
            </a:r>
            <a:endParaRPr lang="en-US" sz="5600" dirty="0"/>
          </a:p>
        </p:txBody>
      </p:sp>
      <p:sp>
        <p:nvSpPr>
          <p:cNvPr id="27" name="Text 24"/>
          <p:cNvSpPr txBox="1"/>
          <p:nvPr/>
        </p:nvSpPr>
        <p:spPr>
          <a:xfrm>
            <a:off x="6949440" y="2724912"/>
            <a:ext cx="4693615" cy="274320"/>
          </a:xfrm>
          <a:prstGeom prst="rect">
            <a:avLst/>
          </a:prstGeom>
          <a:noFill/>
          <a:ln/>
        </p:spPr>
        <p:txBody>
          <a:bodyPr wrap="square" lIns="0" tIns="0" rIns="0" bIns="0" rtlCol="0" anchor="t"/>
          <a:lstStyle/>
          <a:p>
            <a:pPr indent="0" marL="0">
              <a:buNone/>
            </a:pPr>
            <a:r>
              <a:rPr lang="en-US" sz="1400" dirty="0">
                <a:solidFill>
                  <a:srgbClr val="5A564E"/>
                </a:solidFill>
                <a:latin typeface="Segoe UI" pitchFamily="34" charset="0"/>
                <a:ea typeface="Segoe UI" pitchFamily="34" charset="-122"/>
                <a:cs typeface="Segoe UI" pitchFamily="34" charset="-120"/>
              </a:rPr>
              <a:t>средняя ошибка прогноза серы: 1,802 → 1,616 мг/кг</a:t>
            </a:r>
            <a:endParaRPr lang="en-US" sz="1400" dirty="0"/>
          </a:p>
        </p:txBody>
      </p:sp>
      <p:sp>
        <p:nvSpPr>
          <p:cNvPr id="28" name="Shape 25"/>
          <p:cNvSpPr/>
          <p:nvPr/>
        </p:nvSpPr>
        <p:spPr>
          <a:xfrm>
            <a:off x="6949440" y="3383280"/>
            <a:ext cx="4693615" cy="2423160"/>
          </a:xfrm>
          <a:prstGeom prst="roundRect">
            <a:avLst>
              <a:gd name="adj" fmla="val 2264"/>
            </a:avLst>
          </a:prstGeom>
          <a:solidFill>
            <a:srgbClr val="FFFFFF"/>
          </a:solidFill>
          <a:ln w="9525">
            <a:solidFill>
              <a:srgbClr val="322D2A"/>
            </a:solidFill>
            <a:prstDash val="solid"/>
          </a:ln>
        </p:spPr>
      </p:sp>
      <p:sp>
        <p:nvSpPr>
          <p:cNvPr id="29" name="Text 26"/>
          <p:cNvSpPr txBox="1"/>
          <p:nvPr/>
        </p:nvSpPr>
        <p:spPr>
          <a:xfrm>
            <a:off x="7223760" y="3611880"/>
            <a:ext cx="4144975" cy="201168"/>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ФАКТ ВЫШЕ ВЕРХНЕЙ ГРАНИЦЫ ПРОГНОЗА</a:t>
            </a:r>
            <a:endParaRPr lang="en-US" sz="1000" dirty="0"/>
          </a:p>
        </p:txBody>
      </p:sp>
      <p:sp>
        <p:nvSpPr>
          <p:cNvPr id="30" name="Text 27"/>
          <p:cNvSpPr txBox="1"/>
          <p:nvPr/>
        </p:nvSpPr>
        <p:spPr>
          <a:xfrm>
            <a:off x="7223760" y="3840480"/>
            <a:ext cx="2286000" cy="566928"/>
          </a:xfrm>
          <a:prstGeom prst="rect">
            <a:avLst/>
          </a:prstGeom>
          <a:noFill/>
          <a:ln/>
        </p:spPr>
        <p:txBody>
          <a:bodyPr wrap="square" lIns="0" tIns="0" rIns="0" bIns="0" rtlCol="0" anchor="ctr"/>
          <a:lstStyle/>
          <a:p>
            <a:pPr indent="0" marL="0">
              <a:buNone/>
            </a:pPr>
            <a:r>
              <a:rPr lang="en-US" sz="3400" dirty="0">
                <a:solidFill>
                  <a:srgbClr val="A35A00"/>
                </a:solidFill>
                <a:latin typeface="Segoe UI Semibold" pitchFamily="34" charset="0"/>
                <a:ea typeface="Segoe UI Semibold" pitchFamily="34" charset="-122"/>
                <a:cs typeface="Segoe UI Semibold" pitchFamily="34" charset="-120"/>
              </a:rPr>
              <a:t>6,01 %</a:t>
            </a:r>
            <a:endParaRPr lang="en-US" sz="3400" dirty="0"/>
          </a:p>
        </p:txBody>
      </p:sp>
      <p:sp>
        <p:nvSpPr>
          <p:cNvPr id="31" name="Text 28"/>
          <p:cNvSpPr txBox="1"/>
          <p:nvPr/>
        </p:nvSpPr>
        <p:spPr>
          <a:xfrm>
            <a:off x="8961120" y="3950208"/>
            <a:ext cx="2407615" cy="365760"/>
          </a:xfrm>
          <a:prstGeom prst="rect">
            <a:avLst/>
          </a:prstGeom>
          <a:noFill/>
          <a:ln/>
        </p:spPr>
        <p:txBody>
          <a:bodyPr wrap="square" lIns="0" tIns="0" rIns="0" bIns="0" rtlCol="0" anchor="ctr"/>
          <a:lstStyle/>
          <a:p>
            <a:pPr indent="0" marL="0">
              <a:buNone/>
            </a:pPr>
            <a:r>
              <a:rPr lang="en-US" sz="1300" dirty="0">
                <a:solidFill>
                  <a:srgbClr val="5A564E"/>
                </a:solidFill>
                <a:latin typeface="Segoe UI" pitchFamily="34" charset="0"/>
                <a:ea typeface="Segoe UI" pitchFamily="34" charset="-122"/>
                <a:cs typeface="Segoe UI" pitchFamily="34" charset="-120"/>
              </a:rPr>
              <a:t>фактов при цели ≤ 5 %</a:t>
            </a:r>
            <a:endParaRPr lang="en-US" sz="1300" dirty="0"/>
          </a:p>
        </p:txBody>
      </p:sp>
      <p:sp>
        <p:nvSpPr>
          <p:cNvPr id="32" name="Shape 29"/>
          <p:cNvSpPr/>
          <p:nvPr/>
        </p:nvSpPr>
        <p:spPr>
          <a:xfrm>
            <a:off x="7223760" y="4663440"/>
            <a:ext cx="4144975" cy="219456"/>
          </a:xfrm>
          <a:prstGeom prst="roundRect">
            <a:avLst>
              <a:gd name="adj" fmla="val 12500"/>
            </a:avLst>
          </a:prstGeom>
          <a:solidFill>
            <a:srgbClr val="E7E5DD"/>
          </a:solidFill>
          <a:ln/>
        </p:spPr>
      </p:sp>
      <p:sp>
        <p:nvSpPr>
          <p:cNvPr id="33" name="Shape 30"/>
          <p:cNvSpPr/>
          <p:nvPr/>
        </p:nvSpPr>
        <p:spPr>
          <a:xfrm>
            <a:off x="7223760" y="4663440"/>
            <a:ext cx="2491130" cy="219456"/>
          </a:xfrm>
          <a:prstGeom prst="roundRect">
            <a:avLst>
              <a:gd name="adj" fmla="val 12500"/>
            </a:avLst>
          </a:prstGeom>
          <a:solidFill>
            <a:srgbClr val="A35A00"/>
          </a:solidFill>
          <a:ln/>
        </p:spPr>
      </p:sp>
      <p:sp>
        <p:nvSpPr>
          <p:cNvPr id="34" name="Shape 31"/>
          <p:cNvSpPr/>
          <p:nvPr/>
        </p:nvSpPr>
        <p:spPr>
          <a:xfrm>
            <a:off x="9296248" y="4535424"/>
            <a:ext cx="0" cy="402336"/>
          </a:xfrm>
          <a:prstGeom prst="line">
            <a:avLst/>
          </a:prstGeom>
          <a:noFill/>
          <a:ln w="31750">
            <a:solidFill>
              <a:srgbClr val="C8761A"/>
            </a:solidFill>
            <a:prstDash val="solid"/>
          </a:ln>
        </p:spPr>
      </p:sp>
      <p:sp>
        <p:nvSpPr>
          <p:cNvPr id="35" name="Text 32"/>
          <p:cNvSpPr txBox="1"/>
          <p:nvPr/>
        </p:nvSpPr>
        <p:spPr>
          <a:xfrm>
            <a:off x="7223760" y="4992624"/>
            <a:ext cx="365760" cy="182880"/>
          </a:xfrm>
          <a:prstGeom prst="rect">
            <a:avLst/>
          </a:prstGeom>
          <a:noFill/>
          <a:ln/>
        </p:spPr>
        <p:txBody>
          <a:bodyPr wrap="square" lIns="0" tIns="0" rIns="0" bIns="0" rtlCol="0" anchor="t"/>
          <a:lstStyle/>
          <a:p>
            <a:pPr indent="0" marL="0">
              <a:buNone/>
            </a:pPr>
            <a:r>
              <a:rPr lang="en-US" sz="900" dirty="0">
                <a:solidFill>
                  <a:srgbClr val="5A564E"/>
                </a:solidFill>
                <a:latin typeface="Consolas" pitchFamily="34" charset="0"/>
                <a:ea typeface="Consolas" pitchFamily="34" charset="-122"/>
                <a:cs typeface="Consolas" pitchFamily="34" charset="-120"/>
              </a:rPr>
              <a:t>0</a:t>
            </a:r>
            <a:endParaRPr lang="en-US" sz="900" dirty="0"/>
          </a:p>
        </p:txBody>
      </p:sp>
      <p:sp>
        <p:nvSpPr>
          <p:cNvPr id="36" name="Text 33"/>
          <p:cNvSpPr txBox="1"/>
          <p:nvPr/>
        </p:nvSpPr>
        <p:spPr>
          <a:xfrm>
            <a:off x="8656168" y="4992624"/>
            <a:ext cx="1280160" cy="182880"/>
          </a:xfrm>
          <a:prstGeom prst="rect">
            <a:avLst/>
          </a:prstGeom>
          <a:noFill/>
          <a:ln/>
        </p:spPr>
        <p:txBody>
          <a:bodyPr wrap="square" lIns="0" tIns="0" rIns="0" bIns="0" rtlCol="0" anchor="t"/>
          <a:lstStyle/>
          <a:p>
            <a:pPr algn="ctr" indent="0" marL="0">
              <a:buNone/>
            </a:pPr>
            <a:r>
              <a:rPr lang="en-US" sz="900" spc="50" kern="0" dirty="0">
                <a:solidFill>
                  <a:srgbClr val="8A4D0F"/>
                </a:solidFill>
                <a:latin typeface="Consolas" pitchFamily="34" charset="0"/>
                <a:ea typeface="Consolas" pitchFamily="34" charset="-122"/>
                <a:cs typeface="Consolas" pitchFamily="34" charset="-120"/>
              </a:rPr>
              <a:t>цель ≤ 5 %</a:t>
            </a:r>
            <a:endParaRPr lang="en-US" sz="900" dirty="0"/>
          </a:p>
        </p:txBody>
      </p:sp>
      <p:sp>
        <p:nvSpPr>
          <p:cNvPr id="37" name="Text 34"/>
          <p:cNvSpPr txBox="1"/>
          <p:nvPr/>
        </p:nvSpPr>
        <p:spPr>
          <a:xfrm>
            <a:off x="10820095" y="4992624"/>
            <a:ext cx="548640" cy="182880"/>
          </a:xfrm>
          <a:prstGeom prst="rect">
            <a:avLst/>
          </a:prstGeom>
          <a:noFill/>
          <a:ln/>
        </p:spPr>
        <p:txBody>
          <a:bodyPr wrap="square" lIns="0" tIns="0" rIns="0" bIns="0" rtlCol="0" anchor="t"/>
          <a:lstStyle/>
          <a:p>
            <a:pPr algn="r" indent="0" marL="0">
              <a:buNone/>
            </a:pPr>
            <a:r>
              <a:rPr lang="en-US" sz="900" dirty="0">
                <a:solidFill>
                  <a:srgbClr val="5A564E"/>
                </a:solidFill>
                <a:latin typeface="Consolas" pitchFamily="34" charset="0"/>
                <a:ea typeface="Consolas" pitchFamily="34" charset="-122"/>
                <a:cs typeface="Consolas" pitchFamily="34" charset="-120"/>
              </a:rPr>
              <a:t>10 %</a:t>
            </a:r>
            <a:endParaRPr lang="en-US" sz="900" dirty="0"/>
          </a:p>
        </p:txBody>
      </p:sp>
      <p:sp>
        <p:nvSpPr>
          <p:cNvPr id="38" name="Text 35"/>
          <p:cNvSpPr txBox="1"/>
          <p:nvPr/>
        </p:nvSpPr>
        <p:spPr>
          <a:xfrm>
            <a:off x="7223760" y="5212080"/>
            <a:ext cx="4144975" cy="457200"/>
          </a:xfrm>
          <a:prstGeom prst="rect">
            <a:avLst/>
          </a:prstGeom>
          <a:noFill/>
          <a:ln/>
        </p:spPr>
        <p:txBody>
          <a:bodyPr wrap="square" lIns="0" tIns="0" rIns="0" bIns="0" rtlCol="0" anchor="t"/>
          <a:lstStyle/>
          <a:p>
            <a:pPr indent="0" marL="0">
              <a:buNone/>
            </a:pPr>
            <a:r>
              <a:rPr lang="en-US" sz="1200" dirty="0">
                <a:solidFill>
                  <a:srgbClr val="5A564E"/>
                </a:solidFill>
                <a:latin typeface="Segoe UI" pitchFamily="34" charset="0"/>
                <a:ea typeface="Segoe UI" pitchFamily="34" charset="-122"/>
                <a:cs typeface="Segoe UI" pitchFamily="34" charset="-120"/>
              </a:rPr>
              <a:t>Интервал — оценка неопределённости, не гарантия кондиционного дизеля.</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FE9"/>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228600"/>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КОНТУР РЕШЕНИЯ</a:t>
            </a:r>
            <a:endParaRPr lang="en-US" sz="1000" dirty="0"/>
          </a:p>
        </p:txBody>
      </p:sp>
      <p:sp>
        <p:nvSpPr>
          <p:cNvPr id="3" name="Text 1"/>
          <p:cNvSpPr txBox="1"/>
          <p:nvPr/>
        </p:nvSpPr>
        <p:spPr>
          <a:xfrm>
            <a:off x="548640" y="731520"/>
            <a:ext cx="10424160" cy="566928"/>
          </a:xfrm>
          <a:prstGeom prst="rect">
            <a:avLst/>
          </a:prstGeom>
          <a:noFill/>
          <a:ln/>
        </p:spPr>
        <p:txBody>
          <a:bodyPr wrap="square" lIns="0" tIns="0" rIns="0" bIns="0" rtlCol="0" anchor="ctr"/>
          <a:lstStyle/>
          <a:p>
            <a:pPr indent="0" marL="0">
              <a:buNone/>
            </a:pPr>
            <a:r>
              <a:rPr lang="en-US" sz="3000" dirty="0">
                <a:solidFill>
                  <a:srgbClr val="322D2A"/>
                </a:solidFill>
                <a:latin typeface="Segoe UI Semibold" pitchFamily="34" charset="0"/>
                <a:ea typeface="Segoe UI Semibold" pitchFamily="34" charset="-122"/>
                <a:cs typeface="Segoe UI Semibold" pitchFamily="34" charset="-120"/>
              </a:rPr>
              <a:t>Ограничения проверяются до выбора выгоды</a:t>
            </a:r>
            <a:endParaRPr lang="en-US" sz="3000" dirty="0"/>
          </a:p>
        </p:txBody>
      </p:sp>
      <p:sp>
        <p:nvSpPr>
          <p:cNvPr id="4" name="Text 2"/>
          <p:cNvSpPr txBox="1"/>
          <p:nvPr/>
        </p:nvSpPr>
        <p:spPr>
          <a:xfrm>
            <a:off x="548640" y="1335024"/>
            <a:ext cx="10424160" cy="329184"/>
          </a:xfrm>
          <a:prstGeom prst="rect">
            <a:avLst/>
          </a:prstGeom>
          <a:noFill/>
          <a:ln/>
        </p:spPr>
        <p:txBody>
          <a:bodyPr wrap="square" lIns="0" tIns="0" rIns="0" bIns="0" rtlCol="0" anchor="ctr"/>
          <a:lstStyle/>
          <a:p>
            <a:pPr indent="0" marL="0">
              <a:buNone/>
            </a:pPr>
            <a:r>
              <a:rPr lang="en-US" sz="1500" dirty="0">
                <a:solidFill>
                  <a:srgbClr val="5A564E"/>
                </a:solidFill>
                <a:latin typeface="Segoe UI" pitchFamily="34" charset="0"/>
                <a:ea typeface="Segoe UI" pitchFamily="34" charset="-122"/>
                <a:cs typeface="Segoe UI" pitchFamily="34" charset="-120"/>
              </a:rPr>
              <a:t>Выпуск и стоимость сравниваются только среди планов, прошедших все обязательные проверки.</a:t>
            </a:r>
            <a:endParaRPr lang="en-US" sz="1500" dirty="0"/>
          </a:p>
        </p:txBody>
      </p:sp>
      <p:pic>
        <p:nvPicPr>
          <p:cNvPr id="5" name="Image 0" descr="preencoded.png">    </p:cNvPr>
          <p:cNvPicPr>
            <a:picLocks noChangeAspect="1"/>
          </p:cNvPicPr>
          <p:nvPr/>
        </p:nvPicPr>
        <p:blipFill>
          <a:blip r:embed="rId1"/>
          <a:stretch>
            <a:fillRect/>
          </a:stretch>
        </p:blipFill>
        <p:spPr>
          <a:xfrm>
            <a:off x="11277295" y="420624"/>
            <a:ext cx="365760" cy="365760"/>
          </a:xfrm>
          <a:prstGeom prst="rect">
            <a:avLst/>
          </a:prstGeom>
        </p:spPr>
      </p:pic>
      <p:sp>
        <p:nvSpPr>
          <p:cNvPr id="6" name="Text 3"/>
          <p:cNvSpPr txBox="1"/>
          <p:nvPr/>
        </p:nvSpPr>
        <p:spPr>
          <a:xfrm>
            <a:off x="10180015" y="6309360"/>
            <a:ext cx="1463040" cy="228600"/>
          </a:xfrm>
          <a:prstGeom prst="rect">
            <a:avLst/>
          </a:prstGeom>
          <a:noFill/>
          <a:ln/>
        </p:spPr>
        <p:txBody>
          <a:bodyPr wrap="square" lIns="0" tIns="0" rIns="0" bIns="0" rtlCol="0" anchor="t"/>
          <a:lstStyle/>
          <a:p>
            <a:pPr algn="r" indent="0" marL="0">
              <a:buNone/>
            </a:pPr>
            <a:r>
              <a:rPr lang="en-US" sz="1100" spc="100" kern="0" dirty="0">
                <a:solidFill>
                  <a:srgbClr val="5A564E"/>
                </a:solidFill>
                <a:latin typeface="Consolas" pitchFamily="34" charset="0"/>
                <a:ea typeface="Consolas" pitchFamily="34" charset="-122"/>
                <a:cs typeface="Consolas" pitchFamily="34" charset="-120"/>
              </a:rPr>
              <a:t>05 / 10</a:t>
            </a:r>
            <a:endParaRPr lang="en-US" sz="1100" dirty="0"/>
          </a:p>
        </p:txBody>
      </p:sp>
      <p:sp>
        <p:nvSpPr>
          <p:cNvPr id="7" name="Text 4"/>
          <p:cNvSpPr txBox="1"/>
          <p:nvPr/>
        </p:nvSpPr>
        <p:spPr>
          <a:xfrm>
            <a:off x="548640" y="6291072"/>
            <a:ext cx="9692640" cy="274320"/>
          </a:xfrm>
          <a:prstGeom prst="rect">
            <a:avLst/>
          </a:prstGeom>
          <a:noFill/>
          <a:ln/>
        </p:spPr>
        <p:txBody>
          <a:bodyPr wrap="square" lIns="0" tIns="0" rIns="0" bIns="0" rtlCol="0" anchor="ctr"/>
          <a:lstStyle/>
          <a:p>
            <a:pPr indent="0" marL="0">
              <a:buNone/>
            </a:pPr>
            <a:r>
              <a:rPr lang="en-US" sz="1100" dirty="0">
                <a:solidFill>
                  <a:srgbClr val="5A564E"/>
                </a:solidFill>
                <a:latin typeface="Segoe UI" pitchFamily="34" charset="0"/>
                <a:ea typeface="Segoe UI" pitchFamily="34" charset="-122"/>
                <a:cs typeface="Segoe UI" pitchFamily="34" charset="-120"/>
              </a:rPr>
              <a:t>Индекс тяжести режима — сценарный показатель по температуре и расходу, не вероятность аварии.</a:t>
            </a:r>
            <a:endParaRPr lang="en-US" sz="1100" dirty="0"/>
          </a:p>
        </p:txBody>
      </p:sp>
      <p:sp>
        <p:nvSpPr>
          <p:cNvPr id="8" name="Shape 5"/>
          <p:cNvSpPr/>
          <p:nvPr/>
        </p:nvSpPr>
        <p:spPr>
          <a:xfrm>
            <a:off x="548640" y="1920240"/>
            <a:ext cx="3108960" cy="3200400"/>
          </a:xfrm>
          <a:prstGeom prst="roundRect">
            <a:avLst>
              <a:gd name="adj" fmla="val 1765"/>
            </a:avLst>
          </a:prstGeom>
          <a:solidFill>
            <a:srgbClr val="FFFFFF"/>
          </a:solidFill>
          <a:ln w="9525">
            <a:solidFill>
              <a:srgbClr val="322D2A"/>
            </a:solidFill>
            <a:prstDash val="solid"/>
          </a:ln>
        </p:spPr>
      </p:sp>
      <p:sp>
        <p:nvSpPr>
          <p:cNvPr id="9" name="Text 6"/>
          <p:cNvSpPr txBox="1"/>
          <p:nvPr/>
        </p:nvSpPr>
        <p:spPr>
          <a:xfrm>
            <a:off x="822960" y="2194560"/>
            <a:ext cx="457200" cy="201168"/>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01</a:t>
            </a:r>
            <a:endParaRPr lang="en-US" sz="1000" dirty="0"/>
          </a:p>
        </p:txBody>
      </p:sp>
      <p:sp>
        <p:nvSpPr>
          <p:cNvPr id="10" name="Text 7"/>
          <p:cNvSpPr txBox="1"/>
          <p:nvPr/>
        </p:nvSpPr>
        <p:spPr>
          <a:xfrm>
            <a:off x="822960" y="2423160"/>
            <a:ext cx="2560320" cy="384048"/>
          </a:xfrm>
          <a:prstGeom prst="rect">
            <a:avLst/>
          </a:prstGeom>
          <a:noFill/>
          <a:ln/>
        </p:spPr>
        <p:txBody>
          <a:bodyPr wrap="square" lIns="0" tIns="0" rIns="0" bIns="0" rtlCol="0" anchor="ctr"/>
          <a:lstStyle/>
          <a:p>
            <a:pPr indent="0" marL="0">
              <a:buNone/>
            </a:pPr>
            <a:r>
              <a:rPr lang="en-US" sz="1900" dirty="0">
                <a:solidFill>
                  <a:srgbClr val="322D2A"/>
                </a:solidFill>
                <a:latin typeface="Segoe UI Semibold" pitchFamily="34" charset="0"/>
                <a:ea typeface="Segoe UI Semibold" pitchFamily="34" charset="-122"/>
                <a:cs typeface="Segoe UI Semibold" pitchFamily="34" charset="-120"/>
              </a:rPr>
              <a:t>Кандидаты</a:t>
            </a:r>
            <a:endParaRPr lang="en-US" sz="1900" dirty="0"/>
          </a:p>
        </p:txBody>
      </p:sp>
      <p:sp>
        <p:nvSpPr>
          <p:cNvPr id="11" name="Text 8"/>
          <p:cNvSpPr txBox="1"/>
          <p:nvPr/>
        </p:nvSpPr>
        <p:spPr>
          <a:xfrm>
            <a:off x="822960" y="2971800"/>
            <a:ext cx="2560320" cy="1097280"/>
          </a:xfrm>
          <a:prstGeom prst="rect">
            <a:avLst/>
          </a:prstGeom>
          <a:noFill/>
          <a:ln/>
        </p:spPr>
        <p:txBody>
          <a:bodyPr wrap="square" lIns="0" tIns="0" rIns="0" bIns="0" rtlCol="0" anchor="t"/>
          <a:lstStyle/>
          <a:p>
            <a:pPr indent="0" marL="0">
              <a:spcAft>
                <a:spcPts val="600"/>
              </a:spcAft>
              <a:buNone/>
            </a:pPr>
            <a:r>
              <a:rPr lang="en-US" sz="1300" dirty="0">
                <a:solidFill>
                  <a:srgbClr val="5A564E"/>
                </a:solidFill>
                <a:latin typeface="Segoe UI" pitchFamily="34" charset="0"/>
                <a:ea typeface="Segoe UI" pitchFamily="34" charset="-122"/>
                <a:cs typeface="Segoe UI" pitchFamily="34" charset="-120"/>
              </a:rPr>
              <a:t>постоянные планы</a:t>
            </a:r>
            <a:endParaRPr lang="en-US" sz="1300" dirty="0"/>
          </a:p>
          <a:p>
            <a:pPr indent="0" marL="0">
              <a:spcAft>
                <a:spcPts val="600"/>
              </a:spcAft>
              <a:buNone/>
            </a:pPr>
            <a:r>
              <a:rPr lang="en-US" sz="1300" dirty="0">
                <a:solidFill>
                  <a:srgbClr val="5A564E"/>
                </a:solidFill>
                <a:latin typeface="Segoe UI" pitchFamily="34" charset="0"/>
                <a:ea typeface="Segoe UI" pitchFamily="34" charset="-122"/>
                <a:cs typeface="Segoe UI" pitchFamily="34" charset="-120"/>
              </a:rPr>
              <a:t>переходные планы</a:t>
            </a:r>
            <a:endParaRPr lang="en-US" sz="1300" dirty="0"/>
          </a:p>
          <a:p>
            <a:pPr indent="0" marL="0">
              <a:spcAft>
                <a:spcPts val="600"/>
              </a:spcAft>
              <a:buNone/>
            </a:pPr>
            <a:r>
              <a:rPr lang="en-US" sz="1300" dirty="0">
                <a:solidFill>
                  <a:srgbClr val="5A564E"/>
                </a:solidFill>
                <a:latin typeface="Segoe UI" pitchFamily="34" charset="0"/>
                <a:ea typeface="Segoe UI" pitchFamily="34" charset="-122"/>
                <a:cs typeface="Segoe UI" pitchFamily="34" charset="-120"/>
              </a:rPr>
              <a:t>текущий режим всегда в пуле</a:t>
            </a:r>
            <a:endParaRPr lang="en-US" sz="1300" dirty="0"/>
          </a:p>
        </p:txBody>
      </p:sp>
      <p:sp>
        <p:nvSpPr>
          <p:cNvPr id="12" name="Text 9"/>
          <p:cNvSpPr txBox="1"/>
          <p:nvPr/>
        </p:nvSpPr>
        <p:spPr>
          <a:xfrm>
            <a:off x="822960" y="4663440"/>
            <a:ext cx="2560320" cy="201168"/>
          </a:xfrm>
          <a:prstGeom prst="rect">
            <a:avLst/>
          </a:prstGeom>
          <a:noFill/>
          <a:ln/>
        </p:spPr>
        <p:txBody>
          <a:bodyPr wrap="square" lIns="0" tIns="0" rIns="0" bIns="0" rtlCol="0" anchor="t"/>
          <a:lstStyle/>
          <a:p>
            <a:pPr indent="0" marL="0">
              <a:buNone/>
            </a:pPr>
            <a:r>
              <a:rPr lang="en-US" sz="1000" spc="50" kern="0" dirty="0">
                <a:solidFill>
                  <a:srgbClr val="5A564E"/>
                </a:solidFill>
                <a:latin typeface="Consolas" pitchFamily="34" charset="0"/>
                <a:ea typeface="Consolas" pitchFamily="34" charset="-122"/>
                <a:cs typeface="Consolas" pitchFamily="34" charset="-120"/>
              </a:rPr>
              <a:t>бюджет перебора 1200</a:t>
            </a:r>
            <a:endParaRPr lang="en-US" sz="1000" dirty="0"/>
          </a:p>
        </p:txBody>
      </p:sp>
      <p:sp>
        <p:nvSpPr>
          <p:cNvPr id="13" name="Shape 10"/>
          <p:cNvSpPr/>
          <p:nvPr/>
        </p:nvSpPr>
        <p:spPr>
          <a:xfrm>
            <a:off x="3703320" y="3520440"/>
            <a:ext cx="320040" cy="0"/>
          </a:xfrm>
          <a:prstGeom prst="line">
            <a:avLst/>
          </a:prstGeom>
          <a:noFill/>
          <a:ln w="15875">
            <a:solidFill>
              <a:srgbClr val="322D2A"/>
            </a:solidFill>
            <a:prstDash val="solid"/>
            <a:tailEnd type="triangle"/>
          </a:ln>
        </p:spPr>
      </p:sp>
      <p:sp>
        <p:nvSpPr>
          <p:cNvPr id="14" name="Shape 11"/>
          <p:cNvSpPr/>
          <p:nvPr/>
        </p:nvSpPr>
        <p:spPr>
          <a:xfrm>
            <a:off x="4069080" y="1920240"/>
            <a:ext cx="4023360" cy="3200400"/>
          </a:xfrm>
          <a:prstGeom prst="roundRect">
            <a:avLst>
              <a:gd name="adj" fmla="val 1714"/>
            </a:avLst>
          </a:prstGeom>
          <a:solidFill>
            <a:srgbClr val="FFFFFF"/>
          </a:solidFill>
          <a:ln w="22225">
            <a:solidFill>
              <a:srgbClr val="322D2A"/>
            </a:solidFill>
            <a:prstDash val="solid"/>
          </a:ln>
        </p:spPr>
      </p:sp>
      <p:sp>
        <p:nvSpPr>
          <p:cNvPr id="15" name="Text 12"/>
          <p:cNvSpPr txBox="1"/>
          <p:nvPr/>
        </p:nvSpPr>
        <p:spPr>
          <a:xfrm>
            <a:off x="4343400" y="2194560"/>
            <a:ext cx="457200" cy="201168"/>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02</a:t>
            </a:r>
            <a:endParaRPr lang="en-US" sz="1000" dirty="0"/>
          </a:p>
        </p:txBody>
      </p:sp>
      <p:sp>
        <p:nvSpPr>
          <p:cNvPr id="16" name="Text 13"/>
          <p:cNvSpPr txBox="1"/>
          <p:nvPr/>
        </p:nvSpPr>
        <p:spPr>
          <a:xfrm>
            <a:off x="4343400" y="2423160"/>
            <a:ext cx="3474720" cy="384048"/>
          </a:xfrm>
          <a:prstGeom prst="rect">
            <a:avLst/>
          </a:prstGeom>
          <a:noFill/>
          <a:ln/>
        </p:spPr>
        <p:txBody>
          <a:bodyPr wrap="square" lIns="0" tIns="0" rIns="0" bIns="0" rtlCol="0" anchor="ctr"/>
          <a:lstStyle/>
          <a:p>
            <a:pPr indent="0" marL="0">
              <a:buNone/>
            </a:pPr>
            <a:r>
              <a:rPr lang="en-US" sz="1900" dirty="0">
                <a:solidFill>
                  <a:srgbClr val="322D2A"/>
                </a:solidFill>
                <a:latin typeface="Segoe UI Semibold" pitchFamily="34" charset="0"/>
                <a:ea typeface="Segoe UI Semibold" pitchFamily="34" charset="-122"/>
                <a:cs typeface="Segoe UI Semibold" pitchFamily="34" charset="-120"/>
              </a:rPr>
              <a:t>Gate</a:t>
            </a:r>
            <a:endParaRPr lang="en-US" sz="1900" dirty="0"/>
          </a:p>
        </p:txBody>
      </p:sp>
      <p:sp>
        <p:nvSpPr>
          <p:cNvPr id="17" name="Text 14"/>
          <p:cNvSpPr txBox="1"/>
          <p:nvPr/>
        </p:nvSpPr>
        <p:spPr>
          <a:xfrm>
            <a:off x="4306824" y="2926080"/>
            <a:ext cx="274320" cy="274320"/>
          </a:xfrm>
          <a:prstGeom prst="rect">
            <a:avLst/>
          </a:prstGeom>
          <a:noFill/>
          <a:ln/>
        </p:spPr>
        <p:txBody>
          <a:bodyPr wrap="square" lIns="0" tIns="0" rIns="0" bIns="0" rtlCol="0" anchor="ctr"/>
          <a:lstStyle/>
          <a:p>
            <a:pPr algn="ctr" indent="0" marL="0">
              <a:buNone/>
            </a:pPr>
            <a:r>
              <a:rPr lang="en-US" sz="1600" dirty="0">
                <a:solidFill>
                  <a:srgbClr val="1B7A3D"/>
                </a:solidFill>
                <a:latin typeface="Segoe UI Symbol" pitchFamily="34" charset="0"/>
                <a:ea typeface="Segoe UI Symbol" pitchFamily="34" charset="-122"/>
                <a:cs typeface="Segoe UI Symbol" pitchFamily="34" charset="-120"/>
              </a:rPr>
              <a:t>✓</a:t>
            </a:r>
            <a:endParaRPr lang="en-US" sz="1600" dirty="0"/>
          </a:p>
        </p:txBody>
      </p:sp>
      <p:sp>
        <p:nvSpPr>
          <p:cNvPr id="18" name="Text 15"/>
          <p:cNvSpPr txBox="1"/>
          <p:nvPr/>
        </p:nvSpPr>
        <p:spPr>
          <a:xfrm>
            <a:off x="4672584" y="2926080"/>
            <a:ext cx="3200400" cy="274320"/>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сера </a:t>
            </a:r>
            <a:pPr indent="0" marL="0">
              <a:buNone/>
            </a:pPr>
            <a:r>
              <a:rPr lang="en-US" sz="1300" dirty="0">
                <a:solidFill>
                  <a:srgbClr val="322D2A"/>
                </a:solidFill>
                <a:latin typeface="Segoe UI Semibold" pitchFamily="34" charset="0"/>
                <a:ea typeface="Segoe UI Semibold" pitchFamily="34" charset="-122"/>
                <a:cs typeface="Segoe UI Semibold" pitchFamily="34" charset="-120"/>
              </a:rPr>
              <a:t>≤ 10 мг/кг</a:t>
            </a:r>
            <a:endParaRPr lang="en-US" sz="1300" dirty="0"/>
          </a:p>
        </p:txBody>
      </p:sp>
      <p:sp>
        <p:nvSpPr>
          <p:cNvPr id="19" name="Text 16"/>
          <p:cNvSpPr txBox="1"/>
          <p:nvPr/>
        </p:nvSpPr>
        <p:spPr>
          <a:xfrm>
            <a:off x="4306824" y="3255264"/>
            <a:ext cx="274320" cy="274320"/>
          </a:xfrm>
          <a:prstGeom prst="rect">
            <a:avLst/>
          </a:prstGeom>
          <a:noFill/>
          <a:ln/>
        </p:spPr>
        <p:txBody>
          <a:bodyPr wrap="square" lIns="0" tIns="0" rIns="0" bIns="0" rtlCol="0" anchor="ctr"/>
          <a:lstStyle/>
          <a:p>
            <a:pPr algn="ctr" indent="0" marL="0">
              <a:buNone/>
            </a:pPr>
            <a:r>
              <a:rPr lang="en-US" sz="1600" dirty="0">
                <a:solidFill>
                  <a:srgbClr val="1B7A3D"/>
                </a:solidFill>
                <a:latin typeface="Segoe UI Symbol" pitchFamily="34" charset="0"/>
                <a:ea typeface="Segoe UI Symbol" pitchFamily="34" charset="-122"/>
                <a:cs typeface="Segoe UI Symbol" pitchFamily="34" charset="-120"/>
              </a:rPr>
              <a:t>✓</a:t>
            </a:r>
            <a:endParaRPr lang="en-US" sz="1600" dirty="0"/>
          </a:p>
        </p:txBody>
      </p:sp>
      <p:sp>
        <p:nvSpPr>
          <p:cNvPr id="20" name="Text 17"/>
          <p:cNvSpPr txBox="1"/>
          <p:nvPr/>
        </p:nvSpPr>
        <p:spPr>
          <a:xfrm>
            <a:off x="4672584" y="3255264"/>
            <a:ext cx="3200400" cy="274320"/>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T95 · цетановое число · плотность</a:t>
            </a:r>
            <a:endParaRPr lang="en-US" sz="1300" dirty="0"/>
          </a:p>
        </p:txBody>
      </p:sp>
      <p:sp>
        <p:nvSpPr>
          <p:cNvPr id="21" name="Text 18"/>
          <p:cNvSpPr txBox="1"/>
          <p:nvPr/>
        </p:nvSpPr>
        <p:spPr>
          <a:xfrm>
            <a:off x="4306824" y="3584448"/>
            <a:ext cx="274320" cy="274320"/>
          </a:xfrm>
          <a:prstGeom prst="rect">
            <a:avLst/>
          </a:prstGeom>
          <a:noFill/>
          <a:ln/>
        </p:spPr>
        <p:txBody>
          <a:bodyPr wrap="square" lIns="0" tIns="0" rIns="0" bIns="0" rtlCol="0" anchor="ctr"/>
          <a:lstStyle/>
          <a:p>
            <a:pPr algn="ctr" indent="0" marL="0">
              <a:buNone/>
            </a:pPr>
            <a:r>
              <a:rPr lang="en-US" sz="1600" dirty="0">
                <a:solidFill>
                  <a:srgbClr val="1B7A3D"/>
                </a:solidFill>
                <a:latin typeface="Segoe UI Symbol" pitchFamily="34" charset="0"/>
                <a:ea typeface="Segoe UI Symbol" pitchFamily="34" charset="-122"/>
                <a:cs typeface="Segoe UI Symbol" pitchFamily="34" charset="-120"/>
              </a:rPr>
              <a:t>✓</a:t>
            </a:r>
            <a:endParaRPr lang="en-US" sz="1600" dirty="0"/>
          </a:p>
        </p:txBody>
      </p:sp>
      <p:sp>
        <p:nvSpPr>
          <p:cNvPr id="22" name="Text 19"/>
          <p:cNvSpPr txBox="1"/>
          <p:nvPr/>
        </p:nvSpPr>
        <p:spPr>
          <a:xfrm>
            <a:off x="4672584" y="3584448"/>
            <a:ext cx="3200400" cy="274320"/>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доли компонентов = 100 %</a:t>
            </a:r>
            <a:endParaRPr lang="en-US" sz="1300" dirty="0"/>
          </a:p>
        </p:txBody>
      </p:sp>
      <p:sp>
        <p:nvSpPr>
          <p:cNvPr id="23" name="Text 20"/>
          <p:cNvSpPr txBox="1"/>
          <p:nvPr/>
        </p:nvSpPr>
        <p:spPr>
          <a:xfrm>
            <a:off x="4306824" y="3913632"/>
            <a:ext cx="274320" cy="274320"/>
          </a:xfrm>
          <a:prstGeom prst="rect">
            <a:avLst/>
          </a:prstGeom>
          <a:noFill/>
          <a:ln/>
        </p:spPr>
        <p:txBody>
          <a:bodyPr wrap="square" lIns="0" tIns="0" rIns="0" bIns="0" rtlCol="0" anchor="ctr"/>
          <a:lstStyle/>
          <a:p>
            <a:pPr algn="ctr" indent="0" marL="0">
              <a:buNone/>
            </a:pPr>
            <a:r>
              <a:rPr lang="en-US" sz="1600" dirty="0">
                <a:solidFill>
                  <a:srgbClr val="1B7A3D"/>
                </a:solidFill>
                <a:latin typeface="Segoe UI Symbol" pitchFamily="34" charset="0"/>
                <a:ea typeface="Segoe UI Symbol" pitchFamily="34" charset="-122"/>
                <a:cs typeface="Segoe UI Symbol" pitchFamily="34" charset="-120"/>
              </a:rPr>
              <a:t>✓</a:t>
            </a:r>
            <a:endParaRPr lang="en-US" sz="1600" dirty="0"/>
          </a:p>
        </p:txBody>
      </p:sp>
      <p:sp>
        <p:nvSpPr>
          <p:cNvPr id="24" name="Text 21"/>
          <p:cNvSpPr txBox="1"/>
          <p:nvPr/>
        </p:nvSpPr>
        <p:spPr>
          <a:xfrm>
            <a:off x="4672584" y="3913632"/>
            <a:ext cx="3200400" cy="274320"/>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границы уставок и рецепт</a:t>
            </a:r>
            <a:endParaRPr lang="en-US" sz="1300" dirty="0"/>
          </a:p>
        </p:txBody>
      </p:sp>
      <p:sp>
        <p:nvSpPr>
          <p:cNvPr id="25" name="Text 22"/>
          <p:cNvSpPr txBox="1"/>
          <p:nvPr/>
        </p:nvSpPr>
        <p:spPr>
          <a:xfrm>
            <a:off x="4306824" y="4242816"/>
            <a:ext cx="274320" cy="274320"/>
          </a:xfrm>
          <a:prstGeom prst="rect">
            <a:avLst/>
          </a:prstGeom>
          <a:noFill/>
          <a:ln/>
        </p:spPr>
        <p:txBody>
          <a:bodyPr wrap="square" lIns="0" tIns="0" rIns="0" bIns="0" rtlCol="0" anchor="ctr"/>
          <a:lstStyle/>
          <a:p>
            <a:pPr algn="ctr" indent="0" marL="0">
              <a:buNone/>
            </a:pPr>
            <a:r>
              <a:rPr lang="en-US" sz="1600" dirty="0">
                <a:solidFill>
                  <a:srgbClr val="1B7A3D"/>
                </a:solidFill>
                <a:latin typeface="Segoe UI Symbol" pitchFamily="34" charset="0"/>
                <a:ea typeface="Segoe UI Symbol" pitchFamily="34" charset="-122"/>
                <a:cs typeface="Segoe UI Symbol" pitchFamily="34" charset="-120"/>
              </a:rPr>
              <a:t>✓</a:t>
            </a:r>
            <a:endParaRPr lang="en-US" sz="1600" dirty="0"/>
          </a:p>
        </p:txBody>
      </p:sp>
      <p:sp>
        <p:nvSpPr>
          <p:cNvPr id="26" name="Text 23"/>
          <p:cNvSpPr txBox="1"/>
          <p:nvPr/>
        </p:nvSpPr>
        <p:spPr>
          <a:xfrm>
            <a:off x="4672584" y="4242816"/>
            <a:ext cx="3200400" cy="274320"/>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запасы, резервуары, паспорт партии</a:t>
            </a:r>
            <a:endParaRPr lang="en-US" sz="1300" dirty="0"/>
          </a:p>
        </p:txBody>
      </p:sp>
      <p:sp>
        <p:nvSpPr>
          <p:cNvPr id="27" name="Text 24"/>
          <p:cNvSpPr txBox="1"/>
          <p:nvPr/>
        </p:nvSpPr>
        <p:spPr>
          <a:xfrm>
            <a:off x="4343400" y="4663440"/>
            <a:ext cx="3474720" cy="201168"/>
          </a:xfrm>
          <a:prstGeom prst="rect">
            <a:avLst/>
          </a:prstGeom>
          <a:noFill/>
          <a:ln/>
        </p:spPr>
        <p:txBody>
          <a:bodyPr wrap="square" lIns="0" tIns="0" rIns="0" bIns="0" rtlCol="0" anchor="t"/>
          <a:lstStyle/>
          <a:p>
            <a:pPr indent="0" marL="0">
              <a:buNone/>
            </a:pPr>
            <a:r>
              <a:rPr lang="en-US" sz="1000" spc="50" kern="0" dirty="0">
                <a:solidFill>
                  <a:srgbClr val="5A564E"/>
                </a:solidFill>
                <a:latin typeface="Consolas" pitchFamily="34" charset="0"/>
                <a:ea typeface="Consolas" pitchFamily="34" charset="-122"/>
                <a:cs typeface="Consolas" pitchFamily="34" charset="-120"/>
              </a:rPr>
              <a:t>на каждом шаге 3-часового плана</a:t>
            </a:r>
            <a:endParaRPr lang="en-US" sz="1000" dirty="0"/>
          </a:p>
        </p:txBody>
      </p:sp>
      <p:sp>
        <p:nvSpPr>
          <p:cNvPr id="28" name="Shape 25"/>
          <p:cNvSpPr/>
          <p:nvPr/>
        </p:nvSpPr>
        <p:spPr>
          <a:xfrm>
            <a:off x="8138160" y="3520440"/>
            <a:ext cx="320040" cy="0"/>
          </a:xfrm>
          <a:prstGeom prst="line">
            <a:avLst/>
          </a:prstGeom>
          <a:noFill/>
          <a:ln w="15875">
            <a:solidFill>
              <a:srgbClr val="322D2A"/>
            </a:solidFill>
            <a:prstDash val="solid"/>
            <a:tailEnd type="triangle"/>
          </a:ln>
        </p:spPr>
      </p:sp>
      <p:sp>
        <p:nvSpPr>
          <p:cNvPr id="29" name="Shape 26"/>
          <p:cNvSpPr/>
          <p:nvPr/>
        </p:nvSpPr>
        <p:spPr>
          <a:xfrm>
            <a:off x="8503920" y="1920240"/>
            <a:ext cx="3139135" cy="3200400"/>
          </a:xfrm>
          <a:prstGeom prst="roundRect">
            <a:avLst>
              <a:gd name="adj" fmla="val 1748"/>
            </a:avLst>
          </a:prstGeom>
          <a:solidFill>
            <a:srgbClr val="FFFFFF"/>
          </a:solidFill>
          <a:ln w="9525">
            <a:solidFill>
              <a:srgbClr val="322D2A"/>
            </a:solidFill>
            <a:prstDash val="solid"/>
          </a:ln>
        </p:spPr>
      </p:sp>
      <p:sp>
        <p:nvSpPr>
          <p:cNvPr id="30" name="Text 27"/>
          <p:cNvSpPr txBox="1"/>
          <p:nvPr/>
        </p:nvSpPr>
        <p:spPr>
          <a:xfrm>
            <a:off x="8778240" y="2194560"/>
            <a:ext cx="457200" cy="201168"/>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03</a:t>
            </a:r>
            <a:endParaRPr lang="en-US" sz="1000" dirty="0"/>
          </a:p>
        </p:txBody>
      </p:sp>
      <p:sp>
        <p:nvSpPr>
          <p:cNvPr id="31" name="Text 28"/>
          <p:cNvSpPr txBox="1"/>
          <p:nvPr/>
        </p:nvSpPr>
        <p:spPr>
          <a:xfrm>
            <a:off x="8778240" y="2423160"/>
            <a:ext cx="2590495" cy="384048"/>
          </a:xfrm>
          <a:prstGeom prst="rect">
            <a:avLst/>
          </a:prstGeom>
          <a:noFill/>
          <a:ln/>
        </p:spPr>
        <p:txBody>
          <a:bodyPr wrap="square" lIns="0" tIns="0" rIns="0" bIns="0" rtlCol="0" anchor="ctr"/>
          <a:lstStyle/>
          <a:p>
            <a:pPr indent="0" marL="0">
              <a:buNone/>
            </a:pPr>
            <a:r>
              <a:rPr lang="en-US" sz="1900" dirty="0">
                <a:solidFill>
                  <a:srgbClr val="322D2A"/>
                </a:solidFill>
                <a:latin typeface="Segoe UI Semibold" pitchFamily="34" charset="0"/>
                <a:ea typeface="Segoe UI Semibold" pitchFamily="34" charset="-122"/>
                <a:cs typeface="Segoe UI Semibold" pitchFamily="34" charset="-120"/>
              </a:rPr>
              <a:t>Выбор</a:t>
            </a:r>
            <a:endParaRPr lang="en-US" sz="1900" dirty="0"/>
          </a:p>
        </p:txBody>
      </p:sp>
      <p:sp>
        <p:nvSpPr>
          <p:cNvPr id="32" name="Text 29"/>
          <p:cNvSpPr txBox="1"/>
          <p:nvPr/>
        </p:nvSpPr>
        <p:spPr>
          <a:xfrm>
            <a:off x="8778240" y="2926080"/>
            <a:ext cx="274320" cy="274320"/>
          </a:xfrm>
          <a:prstGeom prst="rect">
            <a:avLst/>
          </a:prstGeom>
          <a:noFill/>
          <a:ln/>
        </p:spPr>
        <p:txBody>
          <a:bodyPr wrap="square" lIns="0" tIns="0" rIns="0" bIns="0" rtlCol="0" anchor="ctr"/>
          <a:lstStyle/>
          <a:p>
            <a:pPr indent="0" marL="0">
              <a:buNone/>
            </a:pPr>
            <a:r>
              <a:rPr lang="en-US" sz="1200" dirty="0">
                <a:solidFill>
                  <a:srgbClr val="8A4D0F"/>
                </a:solidFill>
                <a:latin typeface="Consolas" pitchFamily="34" charset="0"/>
                <a:ea typeface="Consolas" pitchFamily="34" charset="-122"/>
                <a:cs typeface="Consolas" pitchFamily="34" charset="-120"/>
              </a:rPr>
              <a:t>1</a:t>
            </a:r>
            <a:endParaRPr lang="en-US" sz="1200" dirty="0"/>
          </a:p>
        </p:txBody>
      </p:sp>
      <p:sp>
        <p:nvSpPr>
          <p:cNvPr id="33" name="Text 30"/>
          <p:cNvSpPr txBox="1"/>
          <p:nvPr/>
        </p:nvSpPr>
        <p:spPr>
          <a:xfrm>
            <a:off x="9098280" y="2926080"/>
            <a:ext cx="2316175" cy="274320"/>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выпуск</a:t>
            </a:r>
            <a:endParaRPr lang="en-US" sz="1300" dirty="0"/>
          </a:p>
        </p:txBody>
      </p:sp>
      <p:sp>
        <p:nvSpPr>
          <p:cNvPr id="34" name="Text 31"/>
          <p:cNvSpPr txBox="1"/>
          <p:nvPr/>
        </p:nvSpPr>
        <p:spPr>
          <a:xfrm>
            <a:off x="8778240" y="3291840"/>
            <a:ext cx="274320" cy="274320"/>
          </a:xfrm>
          <a:prstGeom prst="rect">
            <a:avLst/>
          </a:prstGeom>
          <a:noFill/>
          <a:ln/>
        </p:spPr>
        <p:txBody>
          <a:bodyPr wrap="square" lIns="0" tIns="0" rIns="0" bIns="0" rtlCol="0" anchor="ctr"/>
          <a:lstStyle/>
          <a:p>
            <a:pPr indent="0" marL="0">
              <a:buNone/>
            </a:pPr>
            <a:r>
              <a:rPr lang="en-US" sz="1200" dirty="0">
                <a:solidFill>
                  <a:srgbClr val="8A4D0F"/>
                </a:solidFill>
                <a:latin typeface="Consolas" pitchFamily="34" charset="0"/>
                <a:ea typeface="Consolas" pitchFamily="34" charset="-122"/>
                <a:cs typeface="Consolas" pitchFamily="34" charset="-120"/>
              </a:rPr>
              <a:t>2</a:t>
            </a:r>
            <a:endParaRPr lang="en-US" sz="1200" dirty="0"/>
          </a:p>
        </p:txBody>
      </p:sp>
      <p:sp>
        <p:nvSpPr>
          <p:cNvPr id="35" name="Text 32"/>
          <p:cNvSpPr txBox="1"/>
          <p:nvPr/>
        </p:nvSpPr>
        <p:spPr>
          <a:xfrm>
            <a:off x="9098280" y="3291840"/>
            <a:ext cx="2316175" cy="274320"/>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условная стоимость</a:t>
            </a:r>
            <a:endParaRPr lang="en-US" sz="1300" dirty="0"/>
          </a:p>
        </p:txBody>
      </p:sp>
      <p:sp>
        <p:nvSpPr>
          <p:cNvPr id="36" name="Text 33"/>
          <p:cNvSpPr txBox="1"/>
          <p:nvPr/>
        </p:nvSpPr>
        <p:spPr>
          <a:xfrm>
            <a:off x="8778240" y="3657600"/>
            <a:ext cx="274320" cy="274320"/>
          </a:xfrm>
          <a:prstGeom prst="rect">
            <a:avLst/>
          </a:prstGeom>
          <a:noFill/>
          <a:ln/>
        </p:spPr>
        <p:txBody>
          <a:bodyPr wrap="square" lIns="0" tIns="0" rIns="0" bIns="0" rtlCol="0" anchor="ctr"/>
          <a:lstStyle/>
          <a:p>
            <a:pPr indent="0" marL="0">
              <a:buNone/>
            </a:pPr>
            <a:r>
              <a:rPr lang="en-US" sz="1200" dirty="0">
                <a:solidFill>
                  <a:srgbClr val="8A4D0F"/>
                </a:solidFill>
                <a:latin typeface="Consolas" pitchFamily="34" charset="0"/>
                <a:ea typeface="Consolas" pitchFamily="34" charset="-122"/>
                <a:cs typeface="Consolas" pitchFamily="34" charset="-120"/>
              </a:rPr>
              <a:t>3</a:t>
            </a:r>
            <a:endParaRPr lang="en-US" sz="1200" dirty="0"/>
          </a:p>
        </p:txBody>
      </p:sp>
      <p:sp>
        <p:nvSpPr>
          <p:cNvPr id="37" name="Text 34"/>
          <p:cNvSpPr txBox="1"/>
          <p:nvPr/>
        </p:nvSpPr>
        <p:spPr>
          <a:xfrm>
            <a:off x="9098280" y="3657600"/>
            <a:ext cx="2316175" cy="274320"/>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тяжесть режима</a:t>
            </a:r>
            <a:endParaRPr lang="en-US" sz="1300" dirty="0"/>
          </a:p>
        </p:txBody>
      </p:sp>
      <p:sp>
        <p:nvSpPr>
          <p:cNvPr id="38" name="Text 35"/>
          <p:cNvSpPr txBox="1"/>
          <p:nvPr/>
        </p:nvSpPr>
        <p:spPr>
          <a:xfrm>
            <a:off x="8778240" y="4023360"/>
            <a:ext cx="274320" cy="274320"/>
          </a:xfrm>
          <a:prstGeom prst="rect">
            <a:avLst/>
          </a:prstGeom>
          <a:noFill/>
          <a:ln/>
        </p:spPr>
        <p:txBody>
          <a:bodyPr wrap="square" lIns="0" tIns="0" rIns="0" bIns="0" rtlCol="0" anchor="ctr"/>
          <a:lstStyle/>
          <a:p>
            <a:pPr indent="0" marL="0">
              <a:buNone/>
            </a:pPr>
            <a:r>
              <a:rPr lang="en-US" sz="1200" dirty="0">
                <a:solidFill>
                  <a:srgbClr val="8A4D0F"/>
                </a:solidFill>
                <a:latin typeface="Consolas" pitchFamily="34" charset="0"/>
                <a:ea typeface="Consolas" pitchFamily="34" charset="-122"/>
                <a:cs typeface="Consolas" pitchFamily="34" charset="-120"/>
              </a:rPr>
              <a:t>4</a:t>
            </a:r>
            <a:endParaRPr lang="en-US" sz="1200" dirty="0"/>
          </a:p>
        </p:txBody>
      </p:sp>
      <p:sp>
        <p:nvSpPr>
          <p:cNvPr id="39" name="Text 36"/>
          <p:cNvSpPr txBox="1"/>
          <p:nvPr/>
        </p:nvSpPr>
        <p:spPr>
          <a:xfrm>
            <a:off x="9098280" y="4023360"/>
            <a:ext cx="2316175" cy="274320"/>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число изменений</a:t>
            </a:r>
            <a:endParaRPr lang="en-US" sz="1300" dirty="0"/>
          </a:p>
        </p:txBody>
      </p:sp>
      <p:sp>
        <p:nvSpPr>
          <p:cNvPr id="40" name="Text 37"/>
          <p:cNvSpPr txBox="1"/>
          <p:nvPr/>
        </p:nvSpPr>
        <p:spPr>
          <a:xfrm>
            <a:off x="8778240" y="4663440"/>
            <a:ext cx="2590495" cy="201168"/>
          </a:xfrm>
          <a:prstGeom prst="rect">
            <a:avLst/>
          </a:prstGeom>
          <a:noFill/>
          <a:ln/>
        </p:spPr>
        <p:txBody>
          <a:bodyPr wrap="square" lIns="0" tIns="0" rIns="0" bIns="0" rtlCol="0" anchor="t"/>
          <a:lstStyle/>
          <a:p>
            <a:pPr indent="0" marL="0">
              <a:buNone/>
            </a:pPr>
            <a:r>
              <a:rPr lang="en-US" sz="1000" spc="50" kern="0" dirty="0">
                <a:solidFill>
                  <a:srgbClr val="5A564E"/>
                </a:solidFill>
                <a:latin typeface="Consolas" pitchFamily="34" charset="0"/>
                <a:ea typeface="Consolas" pitchFamily="34" charset="-122"/>
                <a:cs typeface="Consolas" pitchFamily="34" charset="-120"/>
              </a:rPr>
              <a:t>строгий порядок сравнения</a:t>
            </a:r>
            <a:endParaRPr lang="en-US" sz="1000" dirty="0"/>
          </a:p>
        </p:txBody>
      </p:sp>
      <p:sp>
        <p:nvSpPr>
          <p:cNvPr id="41" name="Shape 38"/>
          <p:cNvSpPr/>
          <p:nvPr/>
        </p:nvSpPr>
        <p:spPr>
          <a:xfrm>
            <a:off x="6080760" y="5120640"/>
            <a:ext cx="0" cy="457200"/>
          </a:xfrm>
          <a:prstGeom prst="line">
            <a:avLst/>
          </a:prstGeom>
          <a:noFill/>
          <a:ln w="12700">
            <a:solidFill>
              <a:srgbClr val="8F8974"/>
            </a:solidFill>
            <a:prstDash val="dash"/>
          </a:ln>
        </p:spPr>
      </p:sp>
      <p:sp>
        <p:nvSpPr>
          <p:cNvPr id="42" name="Text 39"/>
          <p:cNvSpPr txBox="1"/>
          <p:nvPr/>
        </p:nvSpPr>
        <p:spPr>
          <a:xfrm>
            <a:off x="5943600" y="5623560"/>
            <a:ext cx="274320" cy="274320"/>
          </a:xfrm>
          <a:prstGeom prst="rect">
            <a:avLst/>
          </a:prstGeom>
          <a:noFill/>
          <a:ln/>
        </p:spPr>
        <p:txBody>
          <a:bodyPr wrap="square" lIns="0" tIns="0" rIns="0" bIns="0" rtlCol="0" anchor="ctr"/>
          <a:lstStyle/>
          <a:p>
            <a:pPr algn="ctr" indent="0" marL="0">
              <a:buNone/>
            </a:pPr>
            <a:r>
              <a:rPr lang="en-US" sz="1600" dirty="0">
                <a:solidFill>
                  <a:srgbClr val="C1292E"/>
                </a:solidFill>
                <a:latin typeface="Segoe UI Symbol" pitchFamily="34" charset="0"/>
                <a:ea typeface="Segoe UI Symbol" pitchFamily="34" charset="-122"/>
                <a:cs typeface="Segoe UI Symbol" pitchFamily="34" charset="-120"/>
              </a:rPr>
              <a:t>✕</a:t>
            </a:r>
            <a:endParaRPr lang="en-US" sz="1600" dirty="0"/>
          </a:p>
        </p:txBody>
      </p:sp>
      <p:sp>
        <p:nvSpPr>
          <p:cNvPr id="43" name="Text 40"/>
          <p:cNvSpPr txBox="1"/>
          <p:nvPr/>
        </p:nvSpPr>
        <p:spPr>
          <a:xfrm>
            <a:off x="6309360" y="5623560"/>
            <a:ext cx="3474720" cy="274320"/>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FAIL или UNKNOWN → план исключён</a:t>
            </a:r>
            <a:endParaRPr lang="en-US" sz="1300" dirty="0"/>
          </a:p>
        </p:txBody>
      </p:sp>
      <p:sp>
        <p:nvSpPr>
          <p:cNvPr id="44" name="Text 41"/>
          <p:cNvSpPr txBox="1"/>
          <p:nvPr/>
        </p:nvSpPr>
        <p:spPr>
          <a:xfrm>
            <a:off x="5074920" y="5230368"/>
            <a:ext cx="914400" cy="182880"/>
          </a:xfrm>
          <a:prstGeom prst="rect">
            <a:avLst/>
          </a:prstGeom>
          <a:noFill/>
          <a:ln/>
        </p:spPr>
        <p:txBody>
          <a:bodyPr wrap="square" lIns="0" tIns="0" rIns="0" bIns="0" rtlCol="0" anchor="t"/>
          <a:lstStyle/>
          <a:p>
            <a:pPr algn="r" indent="0" marL="0">
              <a:buNone/>
            </a:pPr>
            <a:r>
              <a:rPr lang="en-US" sz="900" spc="50" kern="0" dirty="0">
                <a:solidFill>
                  <a:srgbClr val="5A564E"/>
                </a:solidFill>
                <a:latin typeface="Consolas" pitchFamily="34" charset="0"/>
                <a:ea typeface="Consolas" pitchFamily="34" charset="-122"/>
                <a:cs typeface="Consolas" pitchFamily="34" charset="-120"/>
              </a:rPr>
              <a:t>отказ</a:t>
            </a:r>
            <a:endParaRPr lang="en-US" sz="900" dirty="0"/>
          </a:p>
        </p:txBody>
      </p:sp>
      <p:sp>
        <p:nvSpPr>
          <p:cNvPr id="45" name="Text 42"/>
          <p:cNvSpPr txBox="1"/>
          <p:nvPr/>
        </p:nvSpPr>
        <p:spPr>
          <a:xfrm>
            <a:off x="548640" y="5486400"/>
            <a:ext cx="914400" cy="502920"/>
          </a:xfrm>
          <a:prstGeom prst="rect">
            <a:avLst/>
          </a:prstGeom>
          <a:noFill/>
          <a:ln/>
        </p:spPr>
        <p:txBody>
          <a:bodyPr wrap="square" lIns="0" tIns="0" rIns="0" bIns="0" rtlCol="0" anchor="ctr"/>
          <a:lstStyle/>
          <a:p>
            <a:pPr indent="0" marL="0">
              <a:buNone/>
            </a:pPr>
            <a:r>
              <a:rPr lang="en-US" sz="2800" dirty="0">
                <a:solidFill>
                  <a:srgbClr val="322D2A"/>
                </a:solidFill>
                <a:latin typeface="Segoe UI Semibold" pitchFamily="34" charset="0"/>
                <a:ea typeface="Segoe UI Semibold" pitchFamily="34" charset="-122"/>
                <a:cs typeface="Segoe UI Semibold" pitchFamily="34" charset="-120"/>
              </a:rPr>
              <a:t>218</a:t>
            </a:r>
            <a:endParaRPr lang="en-US" sz="2800" dirty="0"/>
          </a:p>
        </p:txBody>
      </p:sp>
      <p:sp>
        <p:nvSpPr>
          <p:cNvPr id="46" name="Text 43"/>
          <p:cNvSpPr txBox="1"/>
          <p:nvPr/>
        </p:nvSpPr>
        <p:spPr>
          <a:xfrm>
            <a:off x="1463040" y="5532120"/>
            <a:ext cx="2286000" cy="457200"/>
          </a:xfrm>
          <a:prstGeom prst="rect">
            <a:avLst/>
          </a:prstGeom>
          <a:noFill/>
          <a:ln/>
        </p:spPr>
        <p:txBody>
          <a:bodyPr wrap="square" lIns="0" tIns="0" rIns="0" bIns="0" rtlCol="0" anchor="ctr"/>
          <a:lstStyle/>
          <a:p>
            <a:pPr indent="0" marL="0">
              <a:buNone/>
            </a:pPr>
            <a:r>
              <a:rPr lang="en-US" sz="1100" dirty="0">
                <a:solidFill>
                  <a:srgbClr val="5A564E"/>
                </a:solidFill>
                <a:latin typeface="Segoe UI" pitchFamily="34" charset="0"/>
                <a:ea typeface="Segoe UI" pitchFamily="34" charset="-122"/>
                <a:cs typeface="Segoe UI" pitchFamily="34" charset="-120"/>
              </a:rPr>
              <a:t>обязательных проверок проходит текущий режим на сцене нормы</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FE9"/>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228600"/>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РЕЗЕРВУАРНЫЙ ПАРК · ГОРИЗОНТ 3 Ч</a:t>
            </a:r>
            <a:endParaRPr lang="en-US" sz="1000" dirty="0"/>
          </a:p>
        </p:txBody>
      </p:sp>
      <p:sp>
        <p:nvSpPr>
          <p:cNvPr id="3" name="Text 1"/>
          <p:cNvSpPr txBox="1"/>
          <p:nvPr/>
        </p:nvSpPr>
        <p:spPr>
          <a:xfrm>
            <a:off x="548640" y="731520"/>
            <a:ext cx="10424160" cy="566928"/>
          </a:xfrm>
          <a:prstGeom prst="rect">
            <a:avLst/>
          </a:prstGeom>
          <a:noFill/>
          <a:ln/>
        </p:spPr>
        <p:txBody>
          <a:bodyPr wrap="square" lIns="0" tIns="0" rIns="0" bIns="0" rtlCol="0" anchor="ctr"/>
          <a:lstStyle/>
          <a:p>
            <a:pPr indent="0" marL="0">
              <a:buNone/>
            </a:pPr>
            <a:r>
              <a:rPr lang="en-US" sz="3000" dirty="0">
                <a:solidFill>
                  <a:srgbClr val="322D2A"/>
                </a:solidFill>
                <a:latin typeface="Segoe UI Semibold" pitchFamily="34" charset="0"/>
                <a:ea typeface="Segoe UI Semibold" pitchFamily="34" charset="-122"/>
                <a:cs typeface="Segoe UI Semibold" pitchFamily="34" charset="-120"/>
              </a:rPr>
              <a:t>Неизвестная фаза парка меняет выбор</a:t>
            </a:r>
            <a:endParaRPr lang="en-US" sz="3000" dirty="0"/>
          </a:p>
        </p:txBody>
      </p:sp>
      <p:sp>
        <p:nvSpPr>
          <p:cNvPr id="4" name="Text 2"/>
          <p:cNvSpPr txBox="1"/>
          <p:nvPr/>
        </p:nvSpPr>
        <p:spPr>
          <a:xfrm>
            <a:off x="548640" y="1335024"/>
            <a:ext cx="10424160" cy="329184"/>
          </a:xfrm>
          <a:prstGeom prst="rect">
            <a:avLst/>
          </a:prstGeom>
          <a:noFill/>
          <a:ln/>
        </p:spPr>
        <p:txBody>
          <a:bodyPr wrap="square" lIns="0" tIns="0" rIns="0" bIns="0" rtlCol="0" anchor="ctr"/>
          <a:lstStyle/>
          <a:p>
            <a:pPr indent="0" marL="0">
              <a:buNone/>
            </a:pPr>
            <a:r>
              <a:rPr lang="en-US" sz="1500" dirty="0">
                <a:solidFill>
                  <a:srgbClr val="5A564E"/>
                </a:solidFill>
                <a:latin typeface="Segoe UI" pitchFamily="34" charset="0"/>
                <a:ea typeface="Segoe UI" pitchFamily="34" charset="-122"/>
                <a:cs typeface="Segoe UI" pitchFamily="34" charset="-120"/>
              </a:rPr>
              <a:t>Проверяется не одна исходная фаза расписания, а любой его общий сдвиг.</a:t>
            </a:r>
            <a:endParaRPr lang="en-US" sz="1500" dirty="0"/>
          </a:p>
        </p:txBody>
      </p:sp>
      <p:pic>
        <p:nvPicPr>
          <p:cNvPr id="5" name="Image 0" descr="preencoded.png">    </p:cNvPr>
          <p:cNvPicPr>
            <a:picLocks noChangeAspect="1"/>
          </p:cNvPicPr>
          <p:nvPr/>
        </p:nvPicPr>
        <p:blipFill>
          <a:blip r:embed="rId1"/>
          <a:stretch>
            <a:fillRect/>
          </a:stretch>
        </p:blipFill>
        <p:spPr>
          <a:xfrm>
            <a:off x="11277295" y="420624"/>
            <a:ext cx="365760" cy="365760"/>
          </a:xfrm>
          <a:prstGeom prst="rect">
            <a:avLst/>
          </a:prstGeom>
        </p:spPr>
      </p:pic>
      <p:sp>
        <p:nvSpPr>
          <p:cNvPr id="6" name="Text 3"/>
          <p:cNvSpPr txBox="1"/>
          <p:nvPr/>
        </p:nvSpPr>
        <p:spPr>
          <a:xfrm>
            <a:off x="10180015" y="6309360"/>
            <a:ext cx="1463040" cy="228600"/>
          </a:xfrm>
          <a:prstGeom prst="rect">
            <a:avLst/>
          </a:prstGeom>
          <a:noFill/>
          <a:ln/>
        </p:spPr>
        <p:txBody>
          <a:bodyPr wrap="square" lIns="0" tIns="0" rIns="0" bIns="0" rtlCol="0" anchor="t"/>
          <a:lstStyle/>
          <a:p>
            <a:pPr algn="r" indent="0" marL="0">
              <a:buNone/>
            </a:pPr>
            <a:r>
              <a:rPr lang="en-US" sz="1100" spc="100" kern="0" dirty="0">
                <a:solidFill>
                  <a:srgbClr val="5A564E"/>
                </a:solidFill>
                <a:latin typeface="Consolas" pitchFamily="34" charset="0"/>
                <a:ea typeface="Consolas" pitchFamily="34" charset="-122"/>
                <a:cs typeface="Consolas" pitchFamily="34" charset="-120"/>
              </a:rPr>
              <a:t>06 / 10</a:t>
            </a:r>
            <a:endParaRPr lang="en-US" sz="1100" dirty="0"/>
          </a:p>
        </p:txBody>
      </p:sp>
      <p:sp>
        <p:nvSpPr>
          <p:cNvPr id="7" name="Text 4"/>
          <p:cNvSpPr txBox="1"/>
          <p:nvPr/>
        </p:nvSpPr>
        <p:spPr>
          <a:xfrm>
            <a:off x="548640" y="6291072"/>
            <a:ext cx="9692640" cy="274320"/>
          </a:xfrm>
          <a:prstGeom prst="rect">
            <a:avLst/>
          </a:prstGeom>
          <a:noFill/>
          <a:ln/>
        </p:spPr>
        <p:txBody>
          <a:bodyPr wrap="square" lIns="0" tIns="0" rIns="0" bIns="0" rtlCol="0" anchor="ctr"/>
          <a:lstStyle/>
          <a:p>
            <a:pPr indent="0" marL="0">
              <a:buNone/>
            </a:pPr>
            <a:r>
              <a:rPr lang="en-US" sz="1100" dirty="0">
                <a:solidFill>
                  <a:srgbClr val="5A564E"/>
                </a:solidFill>
                <a:latin typeface="Segoe UI" pitchFamily="34" charset="0"/>
                <a:ea typeface="Segoe UI" pitchFamily="34" charset="-122"/>
                <a:cs typeface="Segoe UI" pitchFamily="34" charset="-120"/>
              </a:rPr>
              <a:t>От организаторов: 5000 м³, паспорт 12 ч, слив 24 ч. Число резервуаров и фазы заданы сценарием.</a:t>
            </a:r>
            <a:endParaRPr lang="en-US" sz="1100" dirty="0"/>
          </a:p>
        </p:txBody>
      </p:sp>
      <p:sp>
        <p:nvSpPr>
          <p:cNvPr id="8" name="Shape 5"/>
          <p:cNvSpPr/>
          <p:nvPr/>
        </p:nvSpPr>
        <p:spPr>
          <a:xfrm>
            <a:off x="548640" y="1874520"/>
            <a:ext cx="5486400" cy="3931920"/>
          </a:xfrm>
          <a:prstGeom prst="roundRect">
            <a:avLst>
              <a:gd name="adj" fmla="val 1395"/>
            </a:avLst>
          </a:prstGeom>
          <a:solidFill>
            <a:srgbClr val="FFFFFF"/>
          </a:solidFill>
          <a:ln w="9525">
            <a:solidFill>
              <a:srgbClr val="322D2A"/>
            </a:solidFill>
            <a:prstDash val="solid"/>
          </a:ln>
        </p:spPr>
      </p:sp>
      <p:sp>
        <p:nvSpPr>
          <p:cNvPr id="9" name="Text 6"/>
          <p:cNvSpPr txBox="1"/>
          <p:nvPr/>
        </p:nvSpPr>
        <p:spPr>
          <a:xfrm>
            <a:off x="822960" y="2103120"/>
            <a:ext cx="4937760" cy="201168"/>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УСЛОВНАЯ СХЕМА ПАРТИЙ · 4 × 5000 М³</a:t>
            </a:r>
            <a:endParaRPr lang="en-US" sz="1000" dirty="0"/>
          </a:p>
        </p:txBody>
      </p:sp>
      <p:sp>
        <p:nvSpPr>
          <p:cNvPr id="10" name="Shape 7"/>
          <p:cNvSpPr/>
          <p:nvPr/>
        </p:nvSpPr>
        <p:spPr>
          <a:xfrm>
            <a:off x="868680" y="2743200"/>
            <a:ext cx="914400" cy="1828800"/>
          </a:xfrm>
          <a:prstGeom prst="roundRect">
            <a:avLst>
              <a:gd name="adj" fmla="val 5000"/>
            </a:avLst>
          </a:prstGeom>
          <a:solidFill>
            <a:srgbClr val="FFFFFF"/>
          </a:solidFill>
          <a:ln w="12700">
            <a:solidFill>
              <a:srgbClr val="322D2A"/>
            </a:solidFill>
            <a:prstDash val="solid"/>
          </a:ln>
        </p:spPr>
      </p:sp>
      <p:sp>
        <p:nvSpPr>
          <p:cNvPr id="11" name="Shape 8"/>
          <p:cNvSpPr/>
          <p:nvPr/>
        </p:nvSpPr>
        <p:spPr>
          <a:xfrm>
            <a:off x="923544" y="3743554"/>
            <a:ext cx="804672" cy="773582"/>
          </a:xfrm>
          <a:prstGeom prst="roundRect">
            <a:avLst>
              <a:gd name="adj" fmla="val 2364"/>
            </a:avLst>
          </a:prstGeom>
          <a:solidFill>
            <a:srgbClr val="DCD9D0"/>
          </a:solidFill>
          <a:ln/>
        </p:spPr>
      </p:sp>
      <p:sp>
        <p:nvSpPr>
          <p:cNvPr id="12" name="Text 9"/>
          <p:cNvSpPr txBox="1"/>
          <p:nvPr/>
        </p:nvSpPr>
        <p:spPr>
          <a:xfrm>
            <a:off x="1179576" y="2395728"/>
            <a:ext cx="292608" cy="292608"/>
          </a:xfrm>
          <a:prstGeom prst="rect">
            <a:avLst/>
          </a:prstGeom>
          <a:noFill/>
          <a:ln/>
        </p:spPr>
        <p:txBody>
          <a:bodyPr wrap="square" lIns="0" tIns="0" rIns="0" bIns="0" rtlCol="0" anchor="ctr"/>
          <a:lstStyle/>
          <a:p>
            <a:pPr algn="ctr" indent="0" marL="0">
              <a:buNone/>
            </a:pPr>
            <a:r>
              <a:rPr lang="en-US" sz="1700" dirty="0">
                <a:solidFill>
                  <a:srgbClr val="322D2A"/>
                </a:solidFill>
                <a:latin typeface="Segoe UI Symbol" pitchFamily="34" charset="0"/>
                <a:ea typeface="Segoe UI Symbol" pitchFamily="34" charset="-122"/>
                <a:cs typeface="Segoe UI Symbol" pitchFamily="34" charset="-120"/>
              </a:rPr>
              <a:t>↓</a:t>
            </a:r>
            <a:endParaRPr lang="en-US" sz="1700" dirty="0"/>
          </a:p>
        </p:txBody>
      </p:sp>
      <p:sp>
        <p:nvSpPr>
          <p:cNvPr id="13" name="Text 10"/>
          <p:cNvSpPr txBox="1"/>
          <p:nvPr/>
        </p:nvSpPr>
        <p:spPr>
          <a:xfrm>
            <a:off x="685800" y="4681728"/>
            <a:ext cx="1280160" cy="256032"/>
          </a:xfrm>
          <a:prstGeom prst="rect">
            <a:avLst/>
          </a:prstGeom>
          <a:noFill/>
          <a:ln/>
        </p:spPr>
        <p:txBody>
          <a:bodyPr wrap="square" lIns="0" tIns="0" rIns="0" bIns="0" rtlCol="0" anchor="t"/>
          <a:lstStyle/>
          <a:p>
            <a:pPr algn="ctr" indent="0" marL="0">
              <a:buNone/>
            </a:pPr>
            <a:r>
              <a:rPr lang="en-US" sz="1300" dirty="0">
                <a:solidFill>
                  <a:srgbClr val="322D2A"/>
                </a:solidFill>
                <a:latin typeface="Segoe UI Semibold" pitchFamily="34" charset="0"/>
                <a:ea typeface="Segoe UI Semibold" pitchFamily="34" charset="-122"/>
                <a:cs typeface="Segoe UI Semibold" pitchFamily="34" charset="-120"/>
              </a:rPr>
              <a:t>налив</a:t>
            </a:r>
            <a:endParaRPr lang="en-US" sz="1300" dirty="0"/>
          </a:p>
        </p:txBody>
      </p:sp>
      <p:sp>
        <p:nvSpPr>
          <p:cNvPr id="14" name="Text 11"/>
          <p:cNvSpPr txBox="1"/>
          <p:nvPr/>
        </p:nvSpPr>
        <p:spPr>
          <a:xfrm>
            <a:off x="685800" y="4956048"/>
            <a:ext cx="1280160" cy="182880"/>
          </a:xfrm>
          <a:prstGeom prst="rect">
            <a:avLst/>
          </a:prstGeom>
          <a:noFill/>
          <a:ln/>
        </p:spPr>
        <p:txBody>
          <a:bodyPr wrap="square" lIns="0" tIns="0" rIns="0" bIns="0" rtlCol="0" anchor="t"/>
          <a:lstStyle/>
          <a:p>
            <a:pPr algn="ctr" indent="0" marL="0">
              <a:buNone/>
            </a:pPr>
            <a:r>
              <a:rPr lang="en-US" sz="900" spc="50" kern="0" dirty="0">
                <a:solidFill>
                  <a:srgbClr val="5A564E"/>
                </a:solidFill>
                <a:latin typeface="Consolas" pitchFamily="34" charset="0"/>
                <a:ea typeface="Consolas" pitchFamily="34" charset="-122"/>
                <a:cs typeface="Consolas" pitchFamily="34" charset="-120"/>
              </a:rPr>
              <a:t>filling</a:t>
            </a:r>
            <a:endParaRPr lang="en-US" sz="900" dirty="0"/>
          </a:p>
        </p:txBody>
      </p:sp>
      <p:sp>
        <p:nvSpPr>
          <p:cNvPr id="15" name="Shape 12"/>
          <p:cNvSpPr/>
          <p:nvPr/>
        </p:nvSpPr>
        <p:spPr>
          <a:xfrm>
            <a:off x="2130552" y="2743200"/>
            <a:ext cx="914400" cy="1828800"/>
          </a:xfrm>
          <a:prstGeom prst="roundRect">
            <a:avLst>
              <a:gd name="adj" fmla="val 5000"/>
            </a:avLst>
          </a:prstGeom>
          <a:solidFill>
            <a:srgbClr val="FFFFFF"/>
          </a:solidFill>
          <a:ln w="12700">
            <a:solidFill>
              <a:srgbClr val="322D2A"/>
            </a:solidFill>
            <a:prstDash val="solid"/>
          </a:ln>
        </p:spPr>
      </p:sp>
      <p:sp>
        <p:nvSpPr>
          <p:cNvPr id="16" name="Shape 13"/>
          <p:cNvSpPr/>
          <p:nvPr/>
        </p:nvSpPr>
        <p:spPr>
          <a:xfrm>
            <a:off x="2185416" y="2798064"/>
            <a:ext cx="804672" cy="1719072"/>
          </a:xfrm>
          <a:prstGeom prst="roundRect">
            <a:avLst>
              <a:gd name="adj" fmla="val 2273"/>
            </a:avLst>
          </a:prstGeom>
          <a:solidFill>
            <a:srgbClr val="DCD9D0"/>
          </a:solidFill>
          <a:ln/>
        </p:spPr>
      </p:sp>
      <p:sp>
        <p:nvSpPr>
          <p:cNvPr id="17" name="Text 14"/>
          <p:cNvSpPr txBox="1"/>
          <p:nvPr/>
        </p:nvSpPr>
        <p:spPr>
          <a:xfrm>
            <a:off x="1947672" y="4681728"/>
            <a:ext cx="1280160" cy="256032"/>
          </a:xfrm>
          <a:prstGeom prst="rect">
            <a:avLst/>
          </a:prstGeom>
          <a:noFill/>
          <a:ln/>
        </p:spPr>
        <p:txBody>
          <a:bodyPr wrap="square" lIns="0" tIns="0" rIns="0" bIns="0" rtlCol="0" anchor="t"/>
          <a:lstStyle/>
          <a:p>
            <a:pPr algn="ctr" indent="0" marL="0">
              <a:buNone/>
            </a:pPr>
            <a:r>
              <a:rPr lang="en-US" sz="1300" dirty="0">
                <a:solidFill>
                  <a:srgbClr val="322D2A"/>
                </a:solidFill>
                <a:latin typeface="Segoe UI Semibold" pitchFamily="34" charset="0"/>
                <a:ea typeface="Segoe UI Semibold" pitchFamily="34" charset="-122"/>
                <a:cs typeface="Segoe UI Semibold" pitchFamily="34" charset="-120"/>
              </a:rPr>
              <a:t>паспорт</a:t>
            </a:r>
            <a:endParaRPr lang="en-US" sz="1300" dirty="0"/>
          </a:p>
        </p:txBody>
      </p:sp>
      <p:sp>
        <p:nvSpPr>
          <p:cNvPr id="18" name="Text 15"/>
          <p:cNvSpPr txBox="1"/>
          <p:nvPr/>
        </p:nvSpPr>
        <p:spPr>
          <a:xfrm>
            <a:off x="1947672" y="4956048"/>
            <a:ext cx="1280160" cy="182880"/>
          </a:xfrm>
          <a:prstGeom prst="rect">
            <a:avLst/>
          </a:prstGeom>
          <a:noFill/>
          <a:ln/>
        </p:spPr>
        <p:txBody>
          <a:bodyPr wrap="square" lIns="0" tIns="0" rIns="0" bIns="0" rtlCol="0" anchor="t"/>
          <a:lstStyle/>
          <a:p>
            <a:pPr algn="ctr" indent="0" marL="0">
              <a:buNone/>
            </a:pPr>
            <a:r>
              <a:rPr lang="en-US" sz="900" spc="50" kern="0" dirty="0">
                <a:solidFill>
                  <a:srgbClr val="5A564E"/>
                </a:solidFill>
                <a:latin typeface="Consolas" pitchFamily="34" charset="0"/>
                <a:ea typeface="Consolas" pitchFamily="34" charset="-122"/>
                <a:cs typeface="Consolas" pitchFamily="34" charset="-120"/>
              </a:rPr>
              <a:t>12 ч</a:t>
            </a:r>
            <a:endParaRPr lang="en-US" sz="900" dirty="0"/>
          </a:p>
        </p:txBody>
      </p:sp>
      <p:sp>
        <p:nvSpPr>
          <p:cNvPr id="19" name="Shape 16"/>
          <p:cNvSpPr/>
          <p:nvPr/>
        </p:nvSpPr>
        <p:spPr>
          <a:xfrm>
            <a:off x="3392424" y="2743200"/>
            <a:ext cx="914400" cy="1828800"/>
          </a:xfrm>
          <a:prstGeom prst="roundRect">
            <a:avLst>
              <a:gd name="adj" fmla="val 5000"/>
            </a:avLst>
          </a:prstGeom>
          <a:solidFill>
            <a:srgbClr val="FFFFFF"/>
          </a:solidFill>
          <a:ln w="12700">
            <a:solidFill>
              <a:srgbClr val="322D2A"/>
            </a:solidFill>
            <a:prstDash val="solid"/>
          </a:ln>
        </p:spPr>
      </p:sp>
      <p:sp>
        <p:nvSpPr>
          <p:cNvPr id="20" name="Shape 17"/>
          <p:cNvSpPr/>
          <p:nvPr/>
        </p:nvSpPr>
        <p:spPr>
          <a:xfrm>
            <a:off x="3447288" y="2798064"/>
            <a:ext cx="804672" cy="1719072"/>
          </a:xfrm>
          <a:prstGeom prst="roundRect">
            <a:avLst>
              <a:gd name="adj" fmla="val 2273"/>
            </a:avLst>
          </a:prstGeom>
          <a:solidFill>
            <a:srgbClr val="DCD9D0"/>
          </a:solidFill>
          <a:ln/>
        </p:spPr>
      </p:sp>
      <p:sp>
        <p:nvSpPr>
          <p:cNvPr id="21" name="Text 18"/>
          <p:cNvSpPr txBox="1"/>
          <p:nvPr/>
        </p:nvSpPr>
        <p:spPr>
          <a:xfrm>
            <a:off x="3703320" y="2926080"/>
            <a:ext cx="292608" cy="292608"/>
          </a:xfrm>
          <a:prstGeom prst="rect">
            <a:avLst/>
          </a:prstGeom>
          <a:noFill/>
          <a:ln/>
        </p:spPr>
        <p:txBody>
          <a:bodyPr wrap="square" lIns="0" tIns="0" rIns="0" bIns="0" rtlCol="0" anchor="ctr"/>
          <a:lstStyle/>
          <a:p>
            <a:pPr algn="ctr" indent="0" marL="0">
              <a:buNone/>
            </a:pPr>
            <a:r>
              <a:rPr lang="en-US" sz="1700" dirty="0">
                <a:solidFill>
                  <a:srgbClr val="1B7A3D"/>
                </a:solidFill>
                <a:latin typeface="Segoe UI Symbol" pitchFamily="34" charset="0"/>
                <a:ea typeface="Segoe UI Symbol" pitchFamily="34" charset="-122"/>
                <a:cs typeface="Segoe UI Symbol" pitchFamily="34" charset="-120"/>
              </a:rPr>
              <a:t>✓</a:t>
            </a:r>
            <a:endParaRPr lang="en-US" sz="1700" dirty="0"/>
          </a:p>
        </p:txBody>
      </p:sp>
      <p:sp>
        <p:nvSpPr>
          <p:cNvPr id="22" name="Text 19"/>
          <p:cNvSpPr txBox="1"/>
          <p:nvPr/>
        </p:nvSpPr>
        <p:spPr>
          <a:xfrm>
            <a:off x="3209544" y="4681728"/>
            <a:ext cx="1280160" cy="256032"/>
          </a:xfrm>
          <a:prstGeom prst="rect">
            <a:avLst/>
          </a:prstGeom>
          <a:noFill/>
          <a:ln/>
        </p:spPr>
        <p:txBody>
          <a:bodyPr wrap="square" lIns="0" tIns="0" rIns="0" bIns="0" rtlCol="0" anchor="t"/>
          <a:lstStyle/>
          <a:p>
            <a:pPr algn="ctr" indent="0" marL="0">
              <a:buNone/>
            </a:pPr>
            <a:r>
              <a:rPr lang="en-US" sz="1300" dirty="0">
                <a:solidFill>
                  <a:srgbClr val="322D2A"/>
                </a:solidFill>
                <a:latin typeface="Segoe UI Semibold" pitchFamily="34" charset="0"/>
                <a:ea typeface="Segoe UI Semibold" pitchFamily="34" charset="-122"/>
                <a:cs typeface="Segoe UI Semibold" pitchFamily="34" charset="-120"/>
              </a:rPr>
              <a:t>готов</a:t>
            </a:r>
            <a:endParaRPr lang="en-US" sz="1300" dirty="0"/>
          </a:p>
        </p:txBody>
      </p:sp>
      <p:sp>
        <p:nvSpPr>
          <p:cNvPr id="23" name="Text 20"/>
          <p:cNvSpPr txBox="1"/>
          <p:nvPr/>
        </p:nvSpPr>
        <p:spPr>
          <a:xfrm>
            <a:off x="3209544" y="4956048"/>
            <a:ext cx="1280160" cy="182880"/>
          </a:xfrm>
          <a:prstGeom prst="rect">
            <a:avLst/>
          </a:prstGeom>
          <a:noFill/>
          <a:ln/>
        </p:spPr>
        <p:txBody>
          <a:bodyPr wrap="square" lIns="0" tIns="0" rIns="0" bIns="0" rtlCol="0" anchor="t"/>
          <a:lstStyle/>
          <a:p>
            <a:pPr algn="ctr" indent="0" marL="0">
              <a:buNone/>
            </a:pPr>
            <a:r>
              <a:rPr lang="en-US" sz="900" spc="50" kern="0" dirty="0">
                <a:solidFill>
                  <a:srgbClr val="5A564E"/>
                </a:solidFill>
                <a:latin typeface="Consolas" pitchFamily="34" charset="0"/>
                <a:ea typeface="Consolas" pitchFamily="34" charset="-122"/>
                <a:cs typeface="Consolas" pitchFamily="34" charset="-120"/>
              </a:rPr>
              <a:t>ready</a:t>
            </a:r>
            <a:endParaRPr lang="en-US" sz="900" dirty="0"/>
          </a:p>
        </p:txBody>
      </p:sp>
      <p:sp>
        <p:nvSpPr>
          <p:cNvPr id="24" name="Shape 21"/>
          <p:cNvSpPr/>
          <p:nvPr/>
        </p:nvSpPr>
        <p:spPr>
          <a:xfrm>
            <a:off x="4654296" y="2743200"/>
            <a:ext cx="914400" cy="1828800"/>
          </a:xfrm>
          <a:prstGeom prst="roundRect">
            <a:avLst>
              <a:gd name="adj" fmla="val 5000"/>
            </a:avLst>
          </a:prstGeom>
          <a:solidFill>
            <a:srgbClr val="FFFFFF"/>
          </a:solidFill>
          <a:ln w="12700">
            <a:solidFill>
              <a:srgbClr val="322D2A"/>
            </a:solidFill>
            <a:prstDash val="solid"/>
          </a:ln>
        </p:spPr>
      </p:sp>
      <p:sp>
        <p:nvSpPr>
          <p:cNvPr id="25" name="Shape 22"/>
          <p:cNvSpPr/>
          <p:nvPr/>
        </p:nvSpPr>
        <p:spPr>
          <a:xfrm>
            <a:off x="4709160" y="3571646"/>
            <a:ext cx="804672" cy="945490"/>
          </a:xfrm>
          <a:prstGeom prst="roundRect">
            <a:avLst>
              <a:gd name="adj" fmla="val 2273"/>
            </a:avLst>
          </a:prstGeom>
          <a:solidFill>
            <a:srgbClr val="DCD9D0"/>
          </a:solidFill>
          <a:ln/>
        </p:spPr>
      </p:sp>
      <p:sp>
        <p:nvSpPr>
          <p:cNvPr id="26" name="Text 23"/>
          <p:cNvSpPr txBox="1"/>
          <p:nvPr/>
        </p:nvSpPr>
        <p:spPr>
          <a:xfrm>
            <a:off x="4965192" y="2395728"/>
            <a:ext cx="292608" cy="292608"/>
          </a:xfrm>
          <a:prstGeom prst="rect">
            <a:avLst/>
          </a:prstGeom>
          <a:noFill/>
          <a:ln/>
        </p:spPr>
        <p:txBody>
          <a:bodyPr wrap="square" lIns="0" tIns="0" rIns="0" bIns="0" rtlCol="0" anchor="ctr"/>
          <a:lstStyle/>
          <a:p>
            <a:pPr algn="ctr" indent="0" marL="0">
              <a:buNone/>
            </a:pPr>
            <a:r>
              <a:rPr lang="en-US" sz="1700" dirty="0">
                <a:solidFill>
                  <a:srgbClr val="322D2A"/>
                </a:solidFill>
                <a:latin typeface="Segoe UI Symbol" pitchFamily="34" charset="0"/>
                <a:ea typeface="Segoe UI Symbol" pitchFamily="34" charset="-122"/>
                <a:cs typeface="Segoe UI Symbol" pitchFamily="34" charset="-120"/>
              </a:rPr>
              <a:t>↑</a:t>
            </a:r>
            <a:endParaRPr lang="en-US" sz="1700" dirty="0"/>
          </a:p>
        </p:txBody>
      </p:sp>
      <p:sp>
        <p:nvSpPr>
          <p:cNvPr id="27" name="Text 24"/>
          <p:cNvSpPr txBox="1"/>
          <p:nvPr/>
        </p:nvSpPr>
        <p:spPr>
          <a:xfrm>
            <a:off x="4471416" y="4681728"/>
            <a:ext cx="1280160" cy="256032"/>
          </a:xfrm>
          <a:prstGeom prst="rect">
            <a:avLst/>
          </a:prstGeom>
          <a:noFill/>
          <a:ln/>
        </p:spPr>
        <p:txBody>
          <a:bodyPr wrap="square" lIns="0" tIns="0" rIns="0" bIns="0" rtlCol="0" anchor="t"/>
          <a:lstStyle/>
          <a:p>
            <a:pPr algn="ctr" indent="0" marL="0">
              <a:buNone/>
            </a:pPr>
            <a:r>
              <a:rPr lang="en-US" sz="1300" dirty="0">
                <a:solidFill>
                  <a:srgbClr val="322D2A"/>
                </a:solidFill>
                <a:latin typeface="Segoe UI Semibold" pitchFamily="34" charset="0"/>
                <a:ea typeface="Segoe UI Semibold" pitchFamily="34" charset="-122"/>
                <a:cs typeface="Segoe UI Semibold" pitchFamily="34" charset="-120"/>
              </a:rPr>
              <a:t>слив</a:t>
            </a:r>
            <a:endParaRPr lang="en-US" sz="1300" dirty="0"/>
          </a:p>
        </p:txBody>
      </p:sp>
      <p:sp>
        <p:nvSpPr>
          <p:cNvPr id="28" name="Text 25"/>
          <p:cNvSpPr txBox="1"/>
          <p:nvPr/>
        </p:nvSpPr>
        <p:spPr>
          <a:xfrm>
            <a:off x="4471416" y="4956048"/>
            <a:ext cx="1280160" cy="182880"/>
          </a:xfrm>
          <a:prstGeom prst="rect">
            <a:avLst/>
          </a:prstGeom>
          <a:noFill/>
          <a:ln/>
        </p:spPr>
        <p:txBody>
          <a:bodyPr wrap="square" lIns="0" tIns="0" rIns="0" bIns="0" rtlCol="0" anchor="t"/>
          <a:lstStyle/>
          <a:p>
            <a:pPr algn="ctr" indent="0" marL="0">
              <a:buNone/>
            </a:pPr>
            <a:r>
              <a:rPr lang="en-US" sz="900" spc="50" kern="0" dirty="0">
                <a:solidFill>
                  <a:srgbClr val="5A564E"/>
                </a:solidFill>
                <a:latin typeface="Consolas" pitchFamily="34" charset="0"/>
                <a:ea typeface="Consolas" pitchFamily="34" charset="-122"/>
                <a:cs typeface="Consolas" pitchFamily="34" charset="-120"/>
              </a:rPr>
              <a:t>draining</a:t>
            </a:r>
            <a:endParaRPr lang="en-US" sz="900" dirty="0"/>
          </a:p>
        </p:txBody>
      </p:sp>
      <p:sp>
        <p:nvSpPr>
          <p:cNvPr id="29" name="Shape 26"/>
          <p:cNvSpPr/>
          <p:nvPr/>
        </p:nvSpPr>
        <p:spPr>
          <a:xfrm>
            <a:off x="868680" y="5532120"/>
            <a:ext cx="4700016" cy="0"/>
          </a:xfrm>
          <a:prstGeom prst="line">
            <a:avLst/>
          </a:prstGeom>
          <a:noFill/>
          <a:ln w="19050">
            <a:solidFill>
              <a:srgbClr val="C8761A"/>
            </a:solidFill>
            <a:prstDash val="solid"/>
            <a:tailEnd type="triangle"/>
          </a:ln>
        </p:spPr>
      </p:sp>
      <p:sp>
        <p:nvSpPr>
          <p:cNvPr id="30" name="Text 27"/>
          <p:cNvSpPr txBox="1"/>
          <p:nvPr/>
        </p:nvSpPr>
        <p:spPr>
          <a:xfrm>
            <a:off x="868680" y="5285232"/>
            <a:ext cx="4206240" cy="182880"/>
          </a:xfrm>
          <a:prstGeom prst="rect">
            <a:avLst/>
          </a:prstGeom>
          <a:noFill/>
          <a:ln/>
        </p:spPr>
        <p:txBody>
          <a:bodyPr wrap="square" lIns="0" tIns="0" rIns="0" bIns="0" rtlCol="0" anchor="t"/>
          <a:lstStyle/>
          <a:p>
            <a:pPr indent="0" marL="0">
              <a:buNone/>
            </a:pPr>
            <a:r>
              <a:rPr lang="en-US" sz="900" spc="50" kern="0" dirty="0">
                <a:solidFill>
                  <a:srgbClr val="8A4D0F"/>
                </a:solidFill>
                <a:latin typeface="Consolas" pitchFamily="34" charset="0"/>
                <a:ea typeface="Consolas" pitchFamily="34" charset="-122"/>
                <a:cs typeface="Consolas" pitchFamily="34" charset="-120"/>
              </a:rPr>
              <a:t>Δ — общий сдвиг всего расписания</a:t>
            </a:r>
            <a:endParaRPr lang="en-US" sz="900" dirty="0"/>
          </a:p>
        </p:txBody>
      </p:sp>
      <p:sp>
        <p:nvSpPr>
          <p:cNvPr id="31" name="Text 28"/>
          <p:cNvSpPr txBox="1"/>
          <p:nvPr/>
        </p:nvSpPr>
        <p:spPr>
          <a:xfrm>
            <a:off x="8001000" y="1920240"/>
            <a:ext cx="1463040" cy="201168"/>
          </a:xfrm>
          <a:prstGeom prst="rect">
            <a:avLst/>
          </a:prstGeom>
          <a:noFill/>
          <a:ln/>
        </p:spPr>
        <p:txBody>
          <a:bodyPr wrap="square" lIns="0" tIns="0" rIns="0" bIns="0" rtlCol="0" anchor="t"/>
          <a:lstStyle/>
          <a:p>
            <a:pPr algn="ctr" indent="0" marL="0">
              <a:buNone/>
            </a:pPr>
            <a:r>
              <a:rPr lang="en-US" sz="900" spc="100" kern="0" dirty="0">
                <a:solidFill>
                  <a:srgbClr val="5A564E"/>
                </a:solidFill>
                <a:latin typeface="Consolas" pitchFamily="34" charset="0"/>
                <a:ea typeface="Consolas" pitchFamily="34" charset="-122"/>
                <a:cs typeface="Consolas" pitchFamily="34" charset="-120"/>
              </a:rPr>
              <a:t>ИСХОДНАЯ ФАЗА</a:t>
            </a:r>
            <a:endParaRPr lang="en-US" sz="900" dirty="0"/>
          </a:p>
        </p:txBody>
      </p:sp>
      <p:sp>
        <p:nvSpPr>
          <p:cNvPr id="32" name="Text 29"/>
          <p:cNvSpPr txBox="1"/>
          <p:nvPr/>
        </p:nvSpPr>
        <p:spPr>
          <a:xfrm>
            <a:off x="9464040" y="1920240"/>
            <a:ext cx="1645920" cy="201168"/>
          </a:xfrm>
          <a:prstGeom prst="rect">
            <a:avLst/>
          </a:prstGeom>
          <a:noFill/>
          <a:ln/>
        </p:spPr>
        <p:txBody>
          <a:bodyPr wrap="square" lIns="0" tIns="0" rIns="0" bIns="0" rtlCol="0" anchor="t"/>
          <a:lstStyle/>
          <a:p>
            <a:pPr algn="ctr" indent="0" marL="0">
              <a:buNone/>
            </a:pPr>
            <a:r>
              <a:rPr lang="en-US" sz="900" spc="100" kern="0" dirty="0">
                <a:solidFill>
                  <a:srgbClr val="5A564E"/>
                </a:solidFill>
                <a:latin typeface="Consolas" pitchFamily="34" charset="0"/>
                <a:ea typeface="Consolas" pitchFamily="34" charset="-122"/>
                <a:cs typeface="Consolas" pitchFamily="34" charset="-120"/>
              </a:rPr>
              <a:t>ЛЮБОЙ ОБЩИЙ СДВИГ</a:t>
            </a:r>
            <a:endParaRPr lang="en-US" sz="900" dirty="0"/>
          </a:p>
        </p:txBody>
      </p:sp>
      <p:sp>
        <p:nvSpPr>
          <p:cNvPr id="33" name="Shape 30"/>
          <p:cNvSpPr/>
          <p:nvPr/>
        </p:nvSpPr>
        <p:spPr>
          <a:xfrm>
            <a:off x="6400800" y="2240280"/>
            <a:ext cx="5242255" cy="749808"/>
          </a:xfrm>
          <a:prstGeom prst="roundRect">
            <a:avLst>
              <a:gd name="adj" fmla="val 7317"/>
            </a:avLst>
          </a:prstGeom>
          <a:solidFill>
            <a:srgbClr val="FFFFFF"/>
          </a:solidFill>
          <a:ln w="9525">
            <a:solidFill>
              <a:srgbClr val="322D2A"/>
            </a:solidFill>
            <a:prstDash val="solid"/>
          </a:ln>
        </p:spPr>
      </p:sp>
      <p:sp>
        <p:nvSpPr>
          <p:cNvPr id="34" name="Text 31"/>
          <p:cNvSpPr txBox="1"/>
          <p:nvPr/>
        </p:nvSpPr>
        <p:spPr>
          <a:xfrm>
            <a:off x="6675120" y="2240280"/>
            <a:ext cx="1737360" cy="749808"/>
          </a:xfrm>
          <a:prstGeom prst="rect">
            <a:avLst/>
          </a:prstGeom>
          <a:noFill/>
          <a:ln/>
        </p:spPr>
        <p:txBody>
          <a:bodyPr wrap="square" lIns="0" tIns="0" rIns="0" bIns="0" rtlCol="0" anchor="ctr"/>
          <a:lstStyle/>
          <a:p>
            <a:pPr indent="0" marL="0">
              <a:buNone/>
            </a:pPr>
            <a:r>
              <a:rPr lang="en-US" sz="1600" dirty="0">
                <a:solidFill>
                  <a:srgbClr val="322D2A"/>
                </a:solidFill>
                <a:latin typeface="Segoe UI Semibold" pitchFamily="34" charset="0"/>
                <a:ea typeface="Segoe UI Semibold" pitchFamily="34" charset="-122"/>
                <a:cs typeface="Segoe UI Semibold" pitchFamily="34" charset="-120"/>
              </a:rPr>
              <a:t>План 100 т/ч</a:t>
            </a:r>
            <a:endParaRPr lang="en-US" sz="1600" dirty="0"/>
          </a:p>
        </p:txBody>
      </p:sp>
      <p:sp>
        <p:nvSpPr>
          <p:cNvPr id="35" name="Text 32"/>
          <p:cNvSpPr txBox="1"/>
          <p:nvPr/>
        </p:nvSpPr>
        <p:spPr>
          <a:xfrm>
            <a:off x="8549640" y="2432304"/>
            <a:ext cx="365760" cy="365760"/>
          </a:xfrm>
          <a:prstGeom prst="rect">
            <a:avLst/>
          </a:prstGeom>
          <a:noFill/>
          <a:ln/>
        </p:spPr>
        <p:txBody>
          <a:bodyPr wrap="square" lIns="0" tIns="0" rIns="0" bIns="0" rtlCol="0" anchor="ctr"/>
          <a:lstStyle/>
          <a:p>
            <a:pPr algn="ctr" indent="0" marL="0">
              <a:buNone/>
            </a:pPr>
            <a:r>
              <a:rPr lang="en-US" sz="2100" dirty="0">
                <a:solidFill>
                  <a:srgbClr val="1B7A3D"/>
                </a:solidFill>
                <a:latin typeface="Segoe UI Symbol" pitchFamily="34" charset="0"/>
                <a:ea typeface="Segoe UI Symbol" pitchFamily="34" charset="-122"/>
                <a:cs typeface="Segoe UI Symbol" pitchFamily="34" charset="-120"/>
              </a:rPr>
              <a:t>✓</a:t>
            </a:r>
            <a:endParaRPr lang="en-US" sz="2100" dirty="0"/>
          </a:p>
        </p:txBody>
      </p:sp>
      <p:sp>
        <p:nvSpPr>
          <p:cNvPr id="36" name="Text 33"/>
          <p:cNvSpPr txBox="1"/>
          <p:nvPr/>
        </p:nvSpPr>
        <p:spPr>
          <a:xfrm>
            <a:off x="10104120" y="2432304"/>
            <a:ext cx="365760" cy="365760"/>
          </a:xfrm>
          <a:prstGeom prst="rect">
            <a:avLst/>
          </a:prstGeom>
          <a:noFill/>
          <a:ln/>
        </p:spPr>
        <p:txBody>
          <a:bodyPr wrap="square" lIns="0" tIns="0" rIns="0" bIns="0" rtlCol="0" anchor="ctr"/>
          <a:lstStyle/>
          <a:p>
            <a:pPr algn="ctr" indent="0" marL="0">
              <a:buNone/>
            </a:pPr>
            <a:r>
              <a:rPr lang="en-US" sz="2100" dirty="0">
                <a:solidFill>
                  <a:srgbClr val="C1292E"/>
                </a:solidFill>
                <a:latin typeface="Segoe UI Symbol" pitchFamily="34" charset="0"/>
                <a:ea typeface="Segoe UI Symbol" pitchFamily="34" charset="-122"/>
                <a:cs typeface="Segoe UI Symbol" pitchFamily="34" charset="-120"/>
              </a:rPr>
              <a:t>✕</a:t>
            </a:r>
            <a:endParaRPr lang="en-US" sz="2100" dirty="0"/>
          </a:p>
        </p:txBody>
      </p:sp>
      <p:sp>
        <p:nvSpPr>
          <p:cNvPr id="37" name="Shape 34"/>
          <p:cNvSpPr/>
          <p:nvPr/>
        </p:nvSpPr>
        <p:spPr>
          <a:xfrm>
            <a:off x="6400800" y="3154680"/>
            <a:ext cx="5242255" cy="749808"/>
          </a:xfrm>
          <a:prstGeom prst="roundRect">
            <a:avLst>
              <a:gd name="adj" fmla="val 7317"/>
            </a:avLst>
          </a:prstGeom>
          <a:solidFill>
            <a:srgbClr val="FFFFFF"/>
          </a:solidFill>
          <a:ln w="9525">
            <a:solidFill>
              <a:srgbClr val="322D2A"/>
            </a:solidFill>
            <a:prstDash val="solid"/>
          </a:ln>
        </p:spPr>
      </p:sp>
      <p:sp>
        <p:nvSpPr>
          <p:cNvPr id="38" name="Text 35"/>
          <p:cNvSpPr txBox="1"/>
          <p:nvPr/>
        </p:nvSpPr>
        <p:spPr>
          <a:xfrm>
            <a:off x="6675120" y="3154680"/>
            <a:ext cx="1737360" cy="749808"/>
          </a:xfrm>
          <a:prstGeom prst="rect">
            <a:avLst/>
          </a:prstGeom>
          <a:noFill/>
          <a:ln/>
        </p:spPr>
        <p:txBody>
          <a:bodyPr wrap="square" lIns="0" tIns="0" rIns="0" bIns="0" rtlCol="0" anchor="ctr"/>
          <a:lstStyle/>
          <a:p>
            <a:pPr indent="0" marL="0">
              <a:buNone/>
            </a:pPr>
            <a:r>
              <a:rPr lang="en-US" sz="1600" dirty="0">
                <a:solidFill>
                  <a:srgbClr val="322D2A"/>
                </a:solidFill>
                <a:latin typeface="Segoe UI Semibold" pitchFamily="34" charset="0"/>
                <a:ea typeface="Segoe UI Semibold" pitchFamily="34" charset="-122"/>
                <a:cs typeface="Segoe UI Semibold" pitchFamily="34" charset="-120"/>
              </a:rPr>
              <a:t>План 50 т/ч</a:t>
            </a:r>
            <a:endParaRPr lang="en-US" sz="1600" dirty="0"/>
          </a:p>
        </p:txBody>
      </p:sp>
      <p:sp>
        <p:nvSpPr>
          <p:cNvPr id="39" name="Text 36"/>
          <p:cNvSpPr txBox="1"/>
          <p:nvPr/>
        </p:nvSpPr>
        <p:spPr>
          <a:xfrm>
            <a:off x="8549640" y="3346704"/>
            <a:ext cx="365760" cy="365760"/>
          </a:xfrm>
          <a:prstGeom prst="rect">
            <a:avLst/>
          </a:prstGeom>
          <a:noFill/>
          <a:ln/>
        </p:spPr>
        <p:txBody>
          <a:bodyPr wrap="square" lIns="0" tIns="0" rIns="0" bIns="0" rtlCol="0" anchor="ctr"/>
          <a:lstStyle/>
          <a:p>
            <a:pPr algn="ctr" indent="0" marL="0">
              <a:buNone/>
            </a:pPr>
            <a:r>
              <a:rPr lang="en-US" sz="2100" dirty="0">
                <a:solidFill>
                  <a:srgbClr val="1B7A3D"/>
                </a:solidFill>
                <a:latin typeface="Segoe UI Symbol" pitchFamily="34" charset="0"/>
                <a:ea typeface="Segoe UI Symbol" pitchFamily="34" charset="-122"/>
                <a:cs typeface="Segoe UI Symbol" pitchFamily="34" charset="-120"/>
              </a:rPr>
              <a:t>✓</a:t>
            </a:r>
            <a:endParaRPr lang="en-US" sz="2100" dirty="0"/>
          </a:p>
        </p:txBody>
      </p:sp>
      <p:sp>
        <p:nvSpPr>
          <p:cNvPr id="40" name="Text 37"/>
          <p:cNvSpPr txBox="1"/>
          <p:nvPr/>
        </p:nvSpPr>
        <p:spPr>
          <a:xfrm>
            <a:off x="10104120" y="3346704"/>
            <a:ext cx="365760" cy="365760"/>
          </a:xfrm>
          <a:prstGeom prst="rect">
            <a:avLst/>
          </a:prstGeom>
          <a:noFill/>
          <a:ln/>
        </p:spPr>
        <p:txBody>
          <a:bodyPr wrap="square" lIns="0" tIns="0" rIns="0" bIns="0" rtlCol="0" anchor="ctr"/>
          <a:lstStyle/>
          <a:p>
            <a:pPr algn="ctr" indent="0" marL="0">
              <a:buNone/>
            </a:pPr>
            <a:r>
              <a:rPr lang="en-US" sz="2100" dirty="0">
                <a:solidFill>
                  <a:srgbClr val="1B7A3D"/>
                </a:solidFill>
                <a:latin typeface="Segoe UI Symbol" pitchFamily="34" charset="0"/>
                <a:ea typeface="Segoe UI Symbol" pitchFamily="34" charset="-122"/>
                <a:cs typeface="Segoe UI Symbol" pitchFamily="34" charset="-120"/>
              </a:rPr>
              <a:t>✓</a:t>
            </a:r>
            <a:endParaRPr lang="en-US" sz="2100" dirty="0"/>
          </a:p>
        </p:txBody>
      </p:sp>
      <p:sp>
        <p:nvSpPr>
          <p:cNvPr id="41" name="Text 38"/>
          <p:cNvSpPr txBox="1"/>
          <p:nvPr/>
        </p:nvSpPr>
        <p:spPr>
          <a:xfrm>
            <a:off x="6400800" y="4206240"/>
            <a:ext cx="274320" cy="274320"/>
          </a:xfrm>
          <a:prstGeom prst="rect">
            <a:avLst/>
          </a:prstGeom>
          <a:noFill/>
          <a:ln/>
        </p:spPr>
        <p:txBody>
          <a:bodyPr wrap="square" lIns="0" tIns="0" rIns="0" bIns="0" rtlCol="0" anchor="ctr"/>
          <a:lstStyle/>
          <a:p>
            <a:pPr algn="ctr" indent="0" marL="0">
              <a:buNone/>
            </a:pPr>
            <a:r>
              <a:rPr lang="en-US" sz="1600" dirty="0">
                <a:solidFill>
                  <a:srgbClr val="C1292E"/>
                </a:solidFill>
                <a:latin typeface="Segoe UI Symbol" pitchFamily="34" charset="0"/>
                <a:ea typeface="Segoe UI Symbol" pitchFamily="34" charset="-122"/>
                <a:cs typeface="Segoe UI Symbol" pitchFamily="34" charset="-120"/>
              </a:rPr>
              <a:t>✕</a:t>
            </a:r>
            <a:endParaRPr lang="en-US" sz="1600" dirty="0"/>
          </a:p>
        </p:txBody>
      </p:sp>
      <p:sp>
        <p:nvSpPr>
          <p:cNvPr id="42" name="Text 39"/>
          <p:cNvSpPr txBox="1"/>
          <p:nvPr/>
        </p:nvSpPr>
        <p:spPr>
          <a:xfrm>
            <a:off x="6784848" y="4206240"/>
            <a:ext cx="4858207" cy="274320"/>
          </a:xfrm>
          <a:prstGeom prst="rect">
            <a:avLst/>
          </a:prstGeom>
          <a:noFill/>
          <a:ln/>
        </p:spPr>
        <p:txBody>
          <a:bodyPr wrap="square" lIns="0" tIns="0" rIns="0" bIns="0" rtlCol="0" anchor="ctr"/>
          <a:lstStyle/>
          <a:p>
            <a:pPr indent="0" marL="0">
              <a:buNone/>
            </a:pPr>
            <a:r>
              <a:rPr lang="en-US" sz="1400" dirty="0">
                <a:solidFill>
                  <a:srgbClr val="322D2A"/>
                </a:solidFill>
                <a:latin typeface="Segoe UI Semibold" pitchFamily="34" charset="0"/>
                <a:ea typeface="Segoe UI Semibold" pitchFamily="34" charset="-122"/>
                <a:cs typeface="Segoe UI Semibold" pitchFamily="34" charset="-120"/>
              </a:rPr>
              <a:t>100 т/ч — отклонён</a:t>
            </a:r>
            <a:pPr indent="0" marL="0">
              <a:buNone/>
            </a:pPr>
            <a:r>
              <a:rPr lang="en-US" sz="1400" dirty="0">
                <a:solidFill>
                  <a:srgbClr val="5A564E"/>
                </a:solidFill>
                <a:latin typeface="Segoe UI" pitchFamily="34" charset="0"/>
                <a:ea typeface="Segoe UI" pitchFamily="34" charset="-122"/>
                <a:cs typeface="Segoe UI" pitchFamily="34" charset="-120"/>
              </a:rPr>
              <a:t> · 300 т за 3 ч недоступны</a:t>
            </a:r>
            <a:endParaRPr lang="en-US" sz="1400" dirty="0"/>
          </a:p>
        </p:txBody>
      </p:sp>
      <p:sp>
        <p:nvSpPr>
          <p:cNvPr id="43" name="Text 40"/>
          <p:cNvSpPr txBox="1"/>
          <p:nvPr/>
        </p:nvSpPr>
        <p:spPr>
          <a:xfrm>
            <a:off x="6400800" y="4617720"/>
            <a:ext cx="274320" cy="274320"/>
          </a:xfrm>
          <a:prstGeom prst="rect">
            <a:avLst/>
          </a:prstGeom>
          <a:noFill/>
          <a:ln/>
        </p:spPr>
        <p:txBody>
          <a:bodyPr wrap="square" lIns="0" tIns="0" rIns="0" bIns="0" rtlCol="0" anchor="ctr"/>
          <a:lstStyle/>
          <a:p>
            <a:pPr algn="ctr" indent="0" marL="0">
              <a:buNone/>
            </a:pPr>
            <a:r>
              <a:rPr lang="en-US" sz="1600" dirty="0">
                <a:solidFill>
                  <a:srgbClr val="1B7A3D"/>
                </a:solidFill>
                <a:latin typeface="Segoe UI Symbol" pitchFamily="34" charset="0"/>
                <a:ea typeface="Segoe UI Symbol" pitchFamily="34" charset="-122"/>
                <a:cs typeface="Segoe UI Symbol" pitchFamily="34" charset="-120"/>
              </a:rPr>
              <a:t>✓</a:t>
            </a:r>
            <a:endParaRPr lang="en-US" sz="1600" dirty="0"/>
          </a:p>
        </p:txBody>
      </p:sp>
      <p:sp>
        <p:nvSpPr>
          <p:cNvPr id="44" name="Text 41"/>
          <p:cNvSpPr txBox="1"/>
          <p:nvPr/>
        </p:nvSpPr>
        <p:spPr>
          <a:xfrm>
            <a:off x="6784848" y="4617720"/>
            <a:ext cx="4858207" cy="274320"/>
          </a:xfrm>
          <a:prstGeom prst="rect">
            <a:avLst/>
          </a:prstGeom>
          <a:noFill/>
          <a:ln/>
        </p:spPr>
        <p:txBody>
          <a:bodyPr wrap="square" lIns="0" tIns="0" rIns="0" bIns="0" rtlCol="0" anchor="ctr"/>
          <a:lstStyle/>
          <a:p>
            <a:pPr indent="0" marL="0">
              <a:buNone/>
            </a:pPr>
            <a:r>
              <a:rPr lang="en-US" sz="1400" dirty="0">
                <a:solidFill>
                  <a:srgbClr val="322D2A"/>
                </a:solidFill>
                <a:latin typeface="Segoe UI Semibold" pitchFamily="34" charset="0"/>
                <a:ea typeface="Segoe UI Semibold" pitchFamily="34" charset="-122"/>
                <a:cs typeface="Segoe UI Semibold" pitchFamily="34" charset="-120"/>
              </a:rPr>
              <a:t>50 т/ч — выбран</a:t>
            </a:r>
            <a:pPr indent="0" marL="0">
              <a:buNone/>
            </a:pPr>
            <a:r>
              <a:rPr lang="en-US" sz="1400" dirty="0">
                <a:solidFill>
                  <a:srgbClr val="5A564E"/>
                </a:solidFill>
                <a:latin typeface="Segoe UI" pitchFamily="34" charset="0"/>
                <a:ea typeface="Segoe UI" pitchFamily="34" charset="-122"/>
                <a:cs typeface="Segoe UI" pitchFamily="34" charset="-120"/>
              </a:rPr>
              <a:t> · 150 т за 3 ч</a:t>
            </a:r>
            <a:endParaRPr lang="en-US" sz="1400" dirty="0"/>
          </a:p>
        </p:txBody>
      </p:sp>
      <p:sp>
        <p:nvSpPr>
          <p:cNvPr id="45" name="Text 42"/>
          <p:cNvSpPr txBox="1"/>
          <p:nvPr/>
        </p:nvSpPr>
        <p:spPr>
          <a:xfrm>
            <a:off x="6400800" y="5120640"/>
            <a:ext cx="5242255" cy="685800"/>
          </a:xfrm>
          <a:prstGeom prst="rect">
            <a:avLst/>
          </a:prstGeom>
          <a:noFill/>
          <a:ln/>
        </p:spPr>
        <p:txBody>
          <a:bodyPr wrap="square" lIns="0" tIns="0" rIns="0" bIns="0" rtlCol="0" anchor="t"/>
          <a:lstStyle/>
          <a:p>
            <a:pPr indent="0" marL="0">
              <a:buNone/>
            </a:pPr>
            <a:r>
              <a:rPr lang="en-US" sz="1200" dirty="0">
                <a:solidFill>
                  <a:srgbClr val="5A564E"/>
                </a:solidFill>
                <a:latin typeface="Segoe UI" pitchFamily="34" charset="0"/>
                <a:ea typeface="Segoe UI" pitchFamily="34" charset="-122"/>
                <a:cs typeface="Segoe UI" pitchFamily="34" charset="-120"/>
              </a:rPr>
              <a:t>В продукт сейчас идёт готовая партия; ухудшившийся приток проходит налив и паспортизацию. Фактические уровни и паспорта партий не выданы.</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EFE9"/>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228600"/>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СЛОЙ АГЕНТОВ · ПОЛИТИКА SCRIPTED</a:t>
            </a:r>
            <a:endParaRPr lang="en-US" sz="1000" dirty="0"/>
          </a:p>
        </p:txBody>
      </p:sp>
      <p:sp>
        <p:nvSpPr>
          <p:cNvPr id="3" name="Text 1"/>
          <p:cNvSpPr txBox="1"/>
          <p:nvPr/>
        </p:nvSpPr>
        <p:spPr>
          <a:xfrm>
            <a:off x="548640" y="731520"/>
            <a:ext cx="10424160" cy="566928"/>
          </a:xfrm>
          <a:prstGeom prst="rect">
            <a:avLst/>
          </a:prstGeom>
          <a:noFill/>
          <a:ln/>
        </p:spPr>
        <p:txBody>
          <a:bodyPr wrap="square" lIns="0" tIns="0" rIns="0" bIns="0" rtlCol="0" anchor="ctr"/>
          <a:lstStyle/>
          <a:p>
            <a:pPr indent="0" marL="0">
              <a:buNone/>
            </a:pPr>
            <a:r>
              <a:rPr lang="en-US" sz="3000" dirty="0">
                <a:solidFill>
                  <a:srgbClr val="322D2A"/>
                </a:solidFill>
                <a:latin typeface="Segoe UI Semibold" pitchFamily="34" charset="0"/>
                <a:ea typeface="Segoe UI Semibold" pitchFamily="34" charset="-122"/>
                <a:cs typeface="Segoe UI Semibold" pitchFamily="34" charset="-120"/>
              </a:rPr>
              <a:t>Агенты оставляют проверяемую трассу</a:t>
            </a:r>
            <a:endParaRPr lang="en-US" sz="3000" dirty="0"/>
          </a:p>
        </p:txBody>
      </p:sp>
      <p:sp>
        <p:nvSpPr>
          <p:cNvPr id="4" name="Text 2"/>
          <p:cNvSpPr txBox="1"/>
          <p:nvPr/>
        </p:nvSpPr>
        <p:spPr>
          <a:xfrm>
            <a:off x="548640" y="1335024"/>
            <a:ext cx="10424160" cy="329184"/>
          </a:xfrm>
          <a:prstGeom prst="rect">
            <a:avLst/>
          </a:prstGeom>
          <a:noFill/>
          <a:ln/>
        </p:spPr>
        <p:txBody>
          <a:bodyPr wrap="square" lIns="0" tIns="0" rIns="0" bIns="0" rtlCol="0" anchor="ctr"/>
          <a:lstStyle/>
          <a:p>
            <a:pPr indent="0" marL="0">
              <a:buNone/>
            </a:pPr>
            <a:r>
              <a:rPr lang="en-US" sz="1500" dirty="0">
                <a:solidFill>
                  <a:srgbClr val="5A564E"/>
                </a:solidFill>
                <a:latin typeface="Segoe UI" pitchFamily="34" charset="0"/>
                <a:ea typeface="Segoe UI" pitchFamily="34" charset="-122"/>
                <a:cs typeface="Segoe UI" pitchFamily="34" charset="-120"/>
              </a:rPr>
              <a:t>Оркестратор спрашивает специалистов; числа и причины запретов возвращают инструменты ядра.</a:t>
            </a:r>
            <a:endParaRPr lang="en-US" sz="1500" dirty="0"/>
          </a:p>
        </p:txBody>
      </p:sp>
      <p:pic>
        <p:nvPicPr>
          <p:cNvPr id="5" name="Image 0" descr="preencoded.png">    </p:cNvPr>
          <p:cNvPicPr>
            <a:picLocks noChangeAspect="1"/>
          </p:cNvPicPr>
          <p:nvPr/>
        </p:nvPicPr>
        <p:blipFill>
          <a:blip r:embed="rId1"/>
          <a:stretch>
            <a:fillRect/>
          </a:stretch>
        </p:blipFill>
        <p:spPr>
          <a:xfrm>
            <a:off x="11277295" y="420624"/>
            <a:ext cx="365760" cy="365760"/>
          </a:xfrm>
          <a:prstGeom prst="rect">
            <a:avLst/>
          </a:prstGeom>
        </p:spPr>
      </p:pic>
      <p:sp>
        <p:nvSpPr>
          <p:cNvPr id="6" name="Text 3"/>
          <p:cNvSpPr txBox="1"/>
          <p:nvPr/>
        </p:nvSpPr>
        <p:spPr>
          <a:xfrm>
            <a:off x="10180015" y="6309360"/>
            <a:ext cx="1463040" cy="228600"/>
          </a:xfrm>
          <a:prstGeom prst="rect">
            <a:avLst/>
          </a:prstGeom>
          <a:noFill/>
          <a:ln/>
        </p:spPr>
        <p:txBody>
          <a:bodyPr wrap="square" lIns="0" tIns="0" rIns="0" bIns="0" rtlCol="0" anchor="t"/>
          <a:lstStyle/>
          <a:p>
            <a:pPr algn="r" indent="0" marL="0">
              <a:buNone/>
            </a:pPr>
            <a:r>
              <a:rPr lang="en-US" sz="1100" spc="100" kern="0" dirty="0">
                <a:solidFill>
                  <a:srgbClr val="5A564E"/>
                </a:solidFill>
                <a:latin typeface="Consolas" pitchFamily="34" charset="0"/>
                <a:ea typeface="Consolas" pitchFamily="34" charset="-122"/>
                <a:cs typeface="Consolas" pitchFamily="34" charset="-120"/>
              </a:rPr>
              <a:t>07 / 10</a:t>
            </a:r>
            <a:endParaRPr lang="en-US" sz="1100" dirty="0"/>
          </a:p>
        </p:txBody>
      </p:sp>
      <p:sp>
        <p:nvSpPr>
          <p:cNvPr id="7" name="Text 4"/>
          <p:cNvSpPr txBox="1"/>
          <p:nvPr/>
        </p:nvSpPr>
        <p:spPr>
          <a:xfrm>
            <a:off x="548640" y="6291072"/>
            <a:ext cx="9692640" cy="274320"/>
          </a:xfrm>
          <a:prstGeom prst="rect">
            <a:avLst/>
          </a:prstGeom>
          <a:noFill/>
          <a:ln/>
        </p:spPr>
        <p:txBody>
          <a:bodyPr wrap="square" lIns="0" tIns="0" rIns="0" bIns="0" rtlCol="0" anchor="ctr"/>
          <a:lstStyle/>
          <a:p>
            <a:pPr indent="0" marL="0">
              <a:buNone/>
            </a:pPr>
            <a:r>
              <a:rPr lang="en-US" sz="1100" dirty="0">
                <a:solidFill>
                  <a:srgbClr val="5A564E"/>
                </a:solidFill>
                <a:latin typeface="Segoe UI" pitchFamily="34" charset="0"/>
                <a:ea typeface="Segoe UI" pitchFamily="34" charset="-122"/>
                <a:cs typeface="Segoe UI" pitchFamily="34" charset="-120"/>
              </a:rPr>
              <a:t>Scripted-политика подтвердила план ядра без новых ограничений. Живая LLM в этих сценах не проверялась.</a:t>
            </a:r>
            <a:endParaRPr lang="en-US" sz="1100" dirty="0"/>
          </a:p>
        </p:txBody>
      </p:sp>
      <p:sp>
        <p:nvSpPr>
          <p:cNvPr id="8" name="Shape 5"/>
          <p:cNvSpPr/>
          <p:nvPr/>
        </p:nvSpPr>
        <p:spPr>
          <a:xfrm>
            <a:off x="548640" y="1874520"/>
            <a:ext cx="6675120" cy="3931920"/>
          </a:xfrm>
          <a:prstGeom prst="roundRect">
            <a:avLst>
              <a:gd name="adj" fmla="val 1395"/>
            </a:avLst>
          </a:prstGeom>
          <a:solidFill>
            <a:srgbClr val="FFFFFF"/>
          </a:solidFill>
          <a:ln w="9525">
            <a:solidFill>
              <a:srgbClr val="322D2A"/>
            </a:solidFill>
            <a:prstDash val="solid"/>
          </a:ln>
        </p:spPr>
      </p:sp>
      <p:sp>
        <p:nvSpPr>
          <p:cNvPr id="9" name="Shape 6"/>
          <p:cNvSpPr/>
          <p:nvPr/>
        </p:nvSpPr>
        <p:spPr>
          <a:xfrm>
            <a:off x="822960" y="1984248"/>
            <a:ext cx="0" cy="3712464"/>
          </a:xfrm>
          <a:prstGeom prst="line">
            <a:avLst/>
          </a:prstGeom>
          <a:noFill/>
          <a:ln w="6350">
            <a:solidFill>
              <a:srgbClr val="E9E7E0"/>
            </a:solidFill>
            <a:prstDash val="solid"/>
          </a:ln>
        </p:spPr>
      </p:sp>
      <p:sp>
        <p:nvSpPr>
          <p:cNvPr id="10" name="Shape 7"/>
          <p:cNvSpPr/>
          <p:nvPr/>
        </p:nvSpPr>
        <p:spPr>
          <a:xfrm>
            <a:off x="1097280" y="1984248"/>
            <a:ext cx="0" cy="3712464"/>
          </a:xfrm>
          <a:prstGeom prst="line">
            <a:avLst/>
          </a:prstGeom>
          <a:noFill/>
          <a:ln w="6350">
            <a:solidFill>
              <a:srgbClr val="E9E7E0"/>
            </a:solidFill>
            <a:prstDash val="solid"/>
          </a:ln>
        </p:spPr>
      </p:sp>
      <p:sp>
        <p:nvSpPr>
          <p:cNvPr id="11" name="Shape 8"/>
          <p:cNvSpPr/>
          <p:nvPr/>
        </p:nvSpPr>
        <p:spPr>
          <a:xfrm>
            <a:off x="1371600" y="1984248"/>
            <a:ext cx="0" cy="3712464"/>
          </a:xfrm>
          <a:prstGeom prst="line">
            <a:avLst/>
          </a:prstGeom>
          <a:noFill/>
          <a:ln w="6350">
            <a:solidFill>
              <a:srgbClr val="E9E7E0"/>
            </a:solidFill>
            <a:prstDash val="solid"/>
          </a:ln>
        </p:spPr>
      </p:sp>
      <p:sp>
        <p:nvSpPr>
          <p:cNvPr id="12" name="Shape 9"/>
          <p:cNvSpPr/>
          <p:nvPr/>
        </p:nvSpPr>
        <p:spPr>
          <a:xfrm>
            <a:off x="1645920" y="1984248"/>
            <a:ext cx="0" cy="3712464"/>
          </a:xfrm>
          <a:prstGeom prst="line">
            <a:avLst/>
          </a:prstGeom>
          <a:noFill/>
          <a:ln w="6350">
            <a:solidFill>
              <a:srgbClr val="E9E7E0"/>
            </a:solidFill>
            <a:prstDash val="solid"/>
          </a:ln>
        </p:spPr>
      </p:sp>
      <p:sp>
        <p:nvSpPr>
          <p:cNvPr id="13" name="Shape 10"/>
          <p:cNvSpPr/>
          <p:nvPr/>
        </p:nvSpPr>
        <p:spPr>
          <a:xfrm>
            <a:off x="1920240" y="1984248"/>
            <a:ext cx="0" cy="3712464"/>
          </a:xfrm>
          <a:prstGeom prst="line">
            <a:avLst/>
          </a:prstGeom>
          <a:noFill/>
          <a:ln w="6350">
            <a:solidFill>
              <a:srgbClr val="E9E7E0"/>
            </a:solidFill>
            <a:prstDash val="solid"/>
          </a:ln>
        </p:spPr>
      </p:sp>
      <p:sp>
        <p:nvSpPr>
          <p:cNvPr id="14" name="Shape 11"/>
          <p:cNvSpPr/>
          <p:nvPr/>
        </p:nvSpPr>
        <p:spPr>
          <a:xfrm>
            <a:off x="2194560" y="1984248"/>
            <a:ext cx="0" cy="3712464"/>
          </a:xfrm>
          <a:prstGeom prst="line">
            <a:avLst/>
          </a:prstGeom>
          <a:noFill/>
          <a:ln w="6350">
            <a:solidFill>
              <a:srgbClr val="E9E7E0"/>
            </a:solidFill>
            <a:prstDash val="solid"/>
          </a:ln>
        </p:spPr>
      </p:sp>
      <p:sp>
        <p:nvSpPr>
          <p:cNvPr id="15" name="Shape 12"/>
          <p:cNvSpPr/>
          <p:nvPr/>
        </p:nvSpPr>
        <p:spPr>
          <a:xfrm>
            <a:off x="2468880" y="1984248"/>
            <a:ext cx="0" cy="3712464"/>
          </a:xfrm>
          <a:prstGeom prst="line">
            <a:avLst/>
          </a:prstGeom>
          <a:noFill/>
          <a:ln w="6350">
            <a:solidFill>
              <a:srgbClr val="E9E7E0"/>
            </a:solidFill>
            <a:prstDash val="solid"/>
          </a:ln>
        </p:spPr>
      </p:sp>
      <p:sp>
        <p:nvSpPr>
          <p:cNvPr id="16" name="Shape 13"/>
          <p:cNvSpPr/>
          <p:nvPr/>
        </p:nvSpPr>
        <p:spPr>
          <a:xfrm>
            <a:off x="2743200" y="1984248"/>
            <a:ext cx="0" cy="3712464"/>
          </a:xfrm>
          <a:prstGeom prst="line">
            <a:avLst/>
          </a:prstGeom>
          <a:noFill/>
          <a:ln w="6350">
            <a:solidFill>
              <a:srgbClr val="E9E7E0"/>
            </a:solidFill>
            <a:prstDash val="solid"/>
          </a:ln>
        </p:spPr>
      </p:sp>
      <p:sp>
        <p:nvSpPr>
          <p:cNvPr id="17" name="Shape 14"/>
          <p:cNvSpPr/>
          <p:nvPr/>
        </p:nvSpPr>
        <p:spPr>
          <a:xfrm>
            <a:off x="3017520" y="1984248"/>
            <a:ext cx="0" cy="3712464"/>
          </a:xfrm>
          <a:prstGeom prst="line">
            <a:avLst/>
          </a:prstGeom>
          <a:noFill/>
          <a:ln w="6350">
            <a:solidFill>
              <a:srgbClr val="E9E7E0"/>
            </a:solidFill>
            <a:prstDash val="solid"/>
          </a:ln>
        </p:spPr>
      </p:sp>
      <p:sp>
        <p:nvSpPr>
          <p:cNvPr id="18" name="Shape 15"/>
          <p:cNvSpPr/>
          <p:nvPr/>
        </p:nvSpPr>
        <p:spPr>
          <a:xfrm>
            <a:off x="3291840" y="1984248"/>
            <a:ext cx="0" cy="3712464"/>
          </a:xfrm>
          <a:prstGeom prst="line">
            <a:avLst/>
          </a:prstGeom>
          <a:noFill/>
          <a:ln w="6350">
            <a:solidFill>
              <a:srgbClr val="E9E7E0"/>
            </a:solidFill>
            <a:prstDash val="solid"/>
          </a:ln>
        </p:spPr>
      </p:sp>
      <p:sp>
        <p:nvSpPr>
          <p:cNvPr id="19" name="Shape 16"/>
          <p:cNvSpPr/>
          <p:nvPr/>
        </p:nvSpPr>
        <p:spPr>
          <a:xfrm>
            <a:off x="3566160" y="1984248"/>
            <a:ext cx="0" cy="3712464"/>
          </a:xfrm>
          <a:prstGeom prst="line">
            <a:avLst/>
          </a:prstGeom>
          <a:noFill/>
          <a:ln w="6350">
            <a:solidFill>
              <a:srgbClr val="E9E7E0"/>
            </a:solidFill>
            <a:prstDash val="solid"/>
          </a:ln>
        </p:spPr>
      </p:sp>
      <p:sp>
        <p:nvSpPr>
          <p:cNvPr id="20" name="Shape 17"/>
          <p:cNvSpPr/>
          <p:nvPr/>
        </p:nvSpPr>
        <p:spPr>
          <a:xfrm>
            <a:off x="3840480" y="1984248"/>
            <a:ext cx="0" cy="3712464"/>
          </a:xfrm>
          <a:prstGeom prst="line">
            <a:avLst/>
          </a:prstGeom>
          <a:noFill/>
          <a:ln w="6350">
            <a:solidFill>
              <a:srgbClr val="E9E7E0"/>
            </a:solidFill>
            <a:prstDash val="solid"/>
          </a:ln>
        </p:spPr>
      </p:sp>
      <p:sp>
        <p:nvSpPr>
          <p:cNvPr id="21" name="Shape 18"/>
          <p:cNvSpPr/>
          <p:nvPr/>
        </p:nvSpPr>
        <p:spPr>
          <a:xfrm>
            <a:off x="4114800" y="1984248"/>
            <a:ext cx="0" cy="3712464"/>
          </a:xfrm>
          <a:prstGeom prst="line">
            <a:avLst/>
          </a:prstGeom>
          <a:noFill/>
          <a:ln w="6350">
            <a:solidFill>
              <a:srgbClr val="E9E7E0"/>
            </a:solidFill>
            <a:prstDash val="solid"/>
          </a:ln>
        </p:spPr>
      </p:sp>
      <p:sp>
        <p:nvSpPr>
          <p:cNvPr id="22" name="Shape 19"/>
          <p:cNvSpPr/>
          <p:nvPr/>
        </p:nvSpPr>
        <p:spPr>
          <a:xfrm>
            <a:off x="4389120" y="1984248"/>
            <a:ext cx="0" cy="3712464"/>
          </a:xfrm>
          <a:prstGeom prst="line">
            <a:avLst/>
          </a:prstGeom>
          <a:noFill/>
          <a:ln w="6350">
            <a:solidFill>
              <a:srgbClr val="E9E7E0"/>
            </a:solidFill>
            <a:prstDash val="solid"/>
          </a:ln>
        </p:spPr>
      </p:sp>
      <p:sp>
        <p:nvSpPr>
          <p:cNvPr id="23" name="Shape 20"/>
          <p:cNvSpPr/>
          <p:nvPr/>
        </p:nvSpPr>
        <p:spPr>
          <a:xfrm>
            <a:off x="4663440" y="1984248"/>
            <a:ext cx="0" cy="3712464"/>
          </a:xfrm>
          <a:prstGeom prst="line">
            <a:avLst/>
          </a:prstGeom>
          <a:noFill/>
          <a:ln w="6350">
            <a:solidFill>
              <a:srgbClr val="E9E7E0"/>
            </a:solidFill>
            <a:prstDash val="solid"/>
          </a:ln>
        </p:spPr>
      </p:sp>
      <p:sp>
        <p:nvSpPr>
          <p:cNvPr id="24" name="Shape 21"/>
          <p:cNvSpPr/>
          <p:nvPr/>
        </p:nvSpPr>
        <p:spPr>
          <a:xfrm>
            <a:off x="4937760" y="1984248"/>
            <a:ext cx="0" cy="3712464"/>
          </a:xfrm>
          <a:prstGeom prst="line">
            <a:avLst/>
          </a:prstGeom>
          <a:noFill/>
          <a:ln w="6350">
            <a:solidFill>
              <a:srgbClr val="E9E7E0"/>
            </a:solidFill>
            <a:prstDash val="solid"/>
          </a:ln>
        </p:spPr>
      </p:sp>
      <p:sp>
        <p:nvSpPr>
          <p:cNvPr id="25" name="Shape 22"/>
          <p:cNvSpPr/>
          <p:nvPr/>
        </p:nvSpPr>
        <p:spPr>
          <a:xfrm>
            <a:off x="5212080" y="1984248"/>
            <a:ext cx="0" cy="3712464"/>
          </a:xfrm>
          <a:prstGeom prst="line">
            <a:avLst/>
          </a:prstGeom>
          <a:noFill/>
          <a:ln w="6350">
            <a:solidFill>
              <a:srgbClr val="E9E7E0"/>
            </a:solidFill>
            <a:prstDash val="solid"/>
          </a:ln>
        </p:spPr>
      </p:sp>
      <p:sp>
        <p:nvSpPr>
          <p:cNvPr id="26" name="Shape 23"/>
          <p:cNvSpPr/>
          <p:nvPr/>
        </p:nvSpPr>
        <p:spPr>
          <a:xfrm>
            <a:off x="5486400" y="1984248"/>
            <a:ext cx="0" cy="3712464"/>
          </a:xfrm>
          <a:prstGeom prst="line">
            <a:avLst/>
          </a:prstGeom>
          <a:noFill/>
          <a:ln w="6350">
            <a:solidFill>
              <a:srgbClr val="E9E7E0"/>
            </a:solidFill>
            <a:prstDash val="solid"/>
          </a:ln>
        </p:spPr>
      </p:sp>
      <p:sp>
        <p:nvSpPr>
          <p:cNvPr id="27" name="Shape 24"/>
          <p:cNvSpPr/>
          <p:nvPr/>
        </p:nvSpPr>
        <p:spPr>
          <a:xfrm>
            <a:off x="5760720" y="1984248"/>
            <a:ext cx="0" cy="3712464"/>
          </a:xfrm>
          <a:prstGeom prst="line">
            <a:avLst/>
          </a:prstGeom>
          <a:noFill/>
          <a:ln w="6350">
            <a:solidFill>
              <a:srgbClr val="E9E7E0"/>
            </a:solidFill>
            <a:prstDash val="solid"/>
          </a:ln>
        </p:spPr>
      </p:sp>
      <p:sp>
        <p:nvSpPr>
          <p:cNvPr id="28" name="Shape 25"/>
          <p:cNvSpPr/>
          <p:nvPr/>
        </p:nvSpPr>
        <p:spPr>
          <a:xfrm>
            <a:off x="6035040" y="1984248"/>
            <a:ext cx="0" cy="3712464"/>
          </a:xfrm>
          <a:prstGeom prst="line">
            <a:avLst/>
          </a:prstGeom>
          <a:noFill/>
          <a:ln w="6350">
            <a:solidFill>
              <a:srgbClr val="E9E7E0"/>
            </a:solidFill>
            <a:prstDash val="solid"/>
          </a:ln>
        </p:spPr>
      </p:sp>
      <p:sp>
        <p:nvSpPr>
          <p:cNvPr id="29" name="Shape 26"/>
          <p:cNvSpPr/>
          <p:nvPr/>
        </p:nvSpPr>
        <p:spPr>
          <a:xfrm>
            <a:off x="6309360" y="1984248"/>
            <a:ext cx="0" cy="3712464"/>
          </a:xfrm>
          <a:prstGeom prst="line">
            <a:avLst/>
          </a:prstGeom>
          <a:noFill/>
          <a:ln w="6350">
            <a:solidFill>
              <a:srgbClr val="E9E7E0"/>
            </a:solidFill>
            <a:prstDash val="solid"/>
          </a:ln>
        </p:spPr>
      </p:sp>
      <p:sp>
        <p:nvSpPr>
          <p:cNvPr id="30" name="Shape 27"/>
          <p:cNvSpPr/>
          <p:nvPr/>
        </p:nvSpPr>
        <p:spPr>
          <a:xfrm>
            <a:off x="6583680" y="1984248"/>
            <a:ext cx="0" cy="3712464"/>
          </a:xfrm>
          <a:prstGeom prst="line">
            <a:avLst/>
          </a:prstGeom>
          <a:noFill/>
          <a:ln w="6350">
            <a:solidFill>
              <a:srgbClr val="E9E7E0"/>
            </a:solidFill>
            <a:prstDash val="solid"/>
          </a:ln>
        </p:spPr>
      </p:sp>
      <p:sp>
        <p:nvSpPr>
          <p:cNvPr id="31" name="Shape 28"/>
          <p:cNvSpPr/>
          <p:nvPr/>
        </p:nvSpPr>
        <p:spPr>
          <a:xfrm>
            <a:off x="6858000" y="1984248"/>
            <a:ext cx="0" cy="3712464"/>
          </a:xfrm>
          <a:prstGeom prst="line">
            <a:avLst/>
          </a:prstGeom>
          <a:noFill/>
          <a:ln w="6350">
            <a:solidFill>
              <a:srgbClr val="E9E7E0"/>
            </a:solidFill>
            <a:prstDash val="solid"/>
          </a:ln>
        </p:spPr>
      </p:sp>
      <p:sp>
        <p:nvSpPr>
          <p:cNvPr id="32" name="Shape 29"/>
          <p:cNvSpPr/>
          <p:nvPr/>
        </p:nvSpPr>
        <p:spPr>
          <a:xfrm>
            <a:off x="7132320" y="1984248"/>
            <a:ext cx="0" cy="3712464"/>
          </a:xfrm>
          <a:prstGeom prst="line">
            <a:avLst/>
          </a:prstGeom>
          <a:noFill/>
          <a:ln w="6350">
            <a:solidFill>
              <a:srgbClr val="E9E7E0"/>
            </a:solidFill>
            <a:prstDash val="solid"/>
          </a:ln>
        </p:spPr>
      </p:sp>
      <p:sp>
        <p:nvSpPr>
          <p:cNvPr id="33" name="Shape 30"/>
          <p:cNvSpPr/>
          <p:nvPr/>
        </p:nvSpPr>
        <p:spPr>
          <a:xfrm>
            <a:off x="658368" y="2148840"/>
            <a:ext cx="6455664" cy="0"/>
          </a:xfrm>
          <a:prstGeom prst="line">
            <a:avLst/>
          </a:prstGeom>
          <a:noFill/>
          <a:ln w="6350">
            <a:solidFill>
              <a:srgbClr val="E9E7E0"/>
            </a:solidFill>
            <a:prstDash val="solid"/>
          </a:ln>
        </p:spPr>
      </p:sp>
      <p:sp>
        <p:nvSpPr>
          <p:cNvPr id="34" name="Shape 31"/>
          <p:cNvSpPr/>
          <p:nvPr/>
        </p:nvSpPr>
        <p:spPr>
          <a:xfrm>
            <a:off x="658368" y="2423160"/>
            <a:ext cx="6455664" cy="0"/>
          </a:xfrm>
          <a:prstGeom prst="line">
            <a:avLst/>
          </a:prstGeom>
          <a:noFill/>
          <a:ln w="6350">
            <a:solidFill>
              <a:srgbClr val="E9E7E0"/>
            </a:solidFill>
            <a:prstDash val="solid"/>
          </a:ln>
        </p:spPr>
      </p:sp>
      <p:sp>
        <p:nvSpPr>
          <p:cNvPr id="35" name="Shape 32"/>
          <p:cNvSpPr/>
          <p:nvPr/>
        </p:nvSpPr>
        <p:spPr>
          <a:xfrm>
            <a:off x="658368" y="2697480"/>
            <a:ext cx="6455664" cy="0"/>
          </a:xfrm>
          <a:prstGeom prst="line">
            <a:avLst/>
          </a:prstGeom>
          <a:noFill/>
          <a:ln w="6350">
            <a:solidFill>
              <a:srgbClr val="E9E7E0"/>
            </a:solidFill>
            <a:prstDash val="solid"/>
          </a:ln>
        </p:spPr>
      </p:sp>
      <p:sp>
        <p:nvSpPr>
          <p:cNvPr id="36" name="Shape 33"/>
          <p:cNvSpPr/>
          <p:nvPr/>
        </p:nvSpPr>
        <p:spPr>
          <a:xfrm>
            <a:off x="658368" y="2971800"/>
            <a:ext cx="6455664" cy="0"/>
          </a:xfrm>
          <a:prstGeom prst="line">
            <a:avLst/>
          </a:prstGeom>
          <a:noFill/>
          <a:ln w="6350">
            <a:solidFill>
              <a:srgbClr val="E9E7E0"/>
            </a:solidFill>
            <a:prstDash val="solid"/>
          </a:ln>
        </p:spPr>
      </p:sp>
      <p:sp>
        <p:nvSpPr>
          <p:cNvPr id="37" name="Shape 34"/>
          <p:cNvSpPr/>
          <p:nvPr/>
        </p:nvSpPr>
        <p:spPr>
          <a:xfrm>
            <a:off x="658368" y="3246120"/>
            <a:ext cx="6455664" cy="0"/>
          </a:xfrm>
          <a:prstGeom prst="line">
            <a:avLst/>
          </a:prstGeom>
          <a:noFill/>
          <a:ln w="6350">
            <a:solidFill>
              <a:srgbClr val="E9E7E0"/>
            </a:solidFill>
            <a:prstDash val="solid"/>
          </a:ln>
        </p:spPr>
      </p:sp>
      <p:sp>
        <p:nvSpPr>
          <p:cNvPr id="38" name="Shape 35"/>
          <p:cNvSpPr/>
          <p:nvPr/>
        </p:nvSpPr>
        <p:spPr>
          <a:xfrm>
            <a:off x="658368" y="3520440"/>
            <a:ext cx="6455664" cy="0"/>
          </a:xfrm>
          <a:prstGeom prst="line">
            <a:avLst/>
          </a:prstGeom>
          <a:noFill/>
          <a:ln w="6350">
            <a:solidFill>
              <a:srgbClr val="E9E7E0"/>
            </a:solidFill>
            <a:prstDash val="solid"/>
          </a:ln>
        </p:spPr>
      </p:sp>
      <p:sp>
        <p:nvSpPr>
          <p:cNvPr id="39" name="Shape 36"/>
          <p:cNvSpPr/>
          <p:nvPr/>
        </p:nvSpPr>
        <p:spPr>
          <a:xfrm>
            <a:off x="658368" y="3794760"/>
            <a:ext cx="6455664" cy="0"/>
          </a:xfrm>
          <a:prstGeom prst="line">
            <a:avLst/>
          </a:prstGeom>
          <a:noFill/>
          <a:ln w="6350">
            <a:solidFill>
              <a:srgbClr val="E9E7E0"/>
            </a:solidFill>
            <a:prstDash val="solid"/>
          </a:ln>
        </p:spPr>
      </p:sp>
      <p:sp>
        <p:nvSpPr>
          <p:cNvPr id="40" name="Shape 37"/>
          <p:cNvSpPr/>
          <p:nvPr/>
        </p:nvSpPr>
        <p:spPr>
          <a:xfrm>
            <a:off x="658368" y="4069080"/>
            <a:ext cx="6455664" cy="0"/>
          </a:xfrm>
          <a:prstGeom prst="line">
            <a:avLst/>
          </a:prstGeom>
          <a:noFill/>
          <a:ln w="6350">
            <a:solidFill>
              <a:srgbClr val="E9E7E0"/>
            </a:solidFill>
            <a:prstDash val="solid"/>
          </a:ln>
        </p:spPr>
      </p:sp>
      <p:sp>
        <p:nvSpPr>
          <p:cNvPr id="41" name="Shape 38"/>
          <p:cNvSpPr/>
          <p:nvPr/>
        </p:nvSpPr>
        <p:spPr>
          <a:xfrm>
            <a:off x="658368" y="4343400"/>
            <a:ext cx="6455664" cy="0"/>
          </a:xfrm>
          <a:prstGeom prst="line">
            <a:avLst/>
          </a:prstGeom>
          <a:noFill/>
          <a:ln w="6350">
            <a:solidFill>
              <a:srgbClr val="E9E7E0"/>
            </a:solidFill>
            <a:prstDash val="solid"/>
          </a:ln>
        </p:spPr>
      </p:sp>
      <p:sp>
        <p:nvSpPr>
          <p:cNvPr id="42" name="Shape 39"/>
          <p:cNvSpPr/>
          <p:nvPr/>
        </p:nvSpPr>
        <p:spPr>
          <a:xfrm>
            <a:off x="658368" y="4617720"/>
            <a:ext cx="6455664" cy="0"/>
          </a:xfrm>
          <a:prstGeom prst="line">
            <a:avLst/>
          </a:prstGeom>
          <a:noFill/>
          <a:ln w="6350">
            <a:solidFill>
              <a:srgbClr val="E9E7E0"/>
            </a:solidFill>
            <a:prstDash val="solid"/>
          </a:ln>
        </p:spPr>
      </p:sp>
      <p:sp>
        <p:nvSpPr>
          <p:cNvPr id="43" name="Shape 40"/>
          <p:cNvSpPr/>
          <p:nvPr/>
        </p:nvSpPr>
        <p:spPr>
          <a:xfrm>
            <a:off x="658368" y="4892040"/>
            <a:ext cx="6455664" cy="0"/>
          </a:xfrm>
          <a:prstGeom prst="line">
            <a:avLst/>
          </a:prstGeom>
          <a:noFill/>
          <a:ln w="6350">
            <a:solidFill>
              <a:srgbClr val="E9E7E0"/>
            </a:solidFill>
            <a:prstDash val="solid"/>
          </a:ln>
        </p:spPr>
      </p:sp>
      <p:sp>
        <p:nvSpPr>
          <p:cNvPr id="44" name="Shape 41"/>
          <p:cNvSpPr/>
          <p:nvPr/>
        </p:nvSpPr>
        <p:spPr>
          <a:xfrm>
            <a:off x="658368" y="5166360"/>
            <a:ext cx="6455664" cy="0"/>
          </a:xfrm>
          <a:prstGeom prst="line">
            <a:avLst/>
          </a:prstGeom>
          <a:noFill/>
          <a:ln w="6350">
            <a:solidFill>
              <a:srgbClr val="E9E7E0"/>
            </a:solidFill>
            <a:prstDash val="solid"/>
          </a:ln>
        </p:spPr>
      </p:sp>
      <p:sp>
        <p:nvSpPr>
          <p:cNvPr id="45" name="Shape 42"/>
          <p:cNvSpPr/>
          <p:nvPr/>
        </p:nvSpPr>
        <p:spPr>
          <a:xfrm>
            <a:off x="658368" y="5440680"/>
            <a:ext cx="6455664" cy="0"/>
          </a:xfrm>
          <a:prstGeom prst="line">
            <a:avLst/>
          </a:prstGeom>
          <a:noFill/>
          <a:ln w="6350">
            <a:solidFill>
              <a:srgbClr val="E9E7E0"/>
            </a:solidFill>
            <a:prstDash val="solid"/>
          </a:ln>
        </p:spPr>
      </p:sp>
      <p:sp>
        <p:nvSpPr>
          <p:cNvPr id="46" name="Shape 43"/>
          <p:cNvSpPr/>
          <p:nvPr/>
        </p:nvSpPr>
        <p:spPr>
          <a:xfrm>
            <a:off x="658368" y="5715000"/>
            <a:ext cx="6455664" cy="0"/>
          </a:xfrm>
          <a:prstGeom prst="line">
            <a:avLst/>
          </a:prstGeom>
          <a:noFill/>
          <a:ln w="6350">
            <a:solidFill>
              <a:srgbClr val="E9E7E0"/>
            </a:solidFill>
            <a:prstDash val="solid"/>
          </a:ln>
        </p:spPr>
      </p:sp>
      <p:sp>
        <p:nvSpPr>
          <p:cNvPr id="47" name="Shape 44"/>
          <p:cNvSpPr/>
          <p:nvPr/>
        </p:nvSpPr>
        <p:spPr>
          <a:xfrm>
            <a:off x="1188720" y="2834640"/>
            <a:ext cx="1188720" cy="1188720"/>
          </a:xfrm>
          <a:prstGeom prst="ellipse">
            <a:avLst/>
          </a:prstGeom>
          <a:solidFill>
            <a:srgbClr val="E7E5DD"/>
          </a:solidFill>
          <a:ln w="19050">
            <a:solidFill>
              <a:srgbClr val="322D2A"/>
            </a:solidFill>
            <a:prstDash val="solid"/>
          </a:ln>
        </p:spPr>
      </p:sp>
      <p:sp>
        <p:nvSpPr>
          <p:cNvPr id="48" name="Text 45"/>
          <p:cNvSpPr txBox="1"/>
          <p:nvPr/>
        </p:nvSpPr>
        <p:spPr>
          <a:xfrm>
            <a:off x="868680" y="3246120"/>
            <a:ext cx="1828800" cy="365760"/>
          </a:xfrm>
          <a:prstGeom prst="rect">
            <a:avLst/>
          </a:prstGeom>
          <a:noFill/>
          <a:ln/>
        </p:spPr>
        <p:txBody>
          <a:bodyPr wrap="square" lIns="0" tIns="0" rIns="0" bIns="0" rtlCol="0" anchor="ctr"/>
          <a:lstStyle/>
          <a:p>
            <a:pPr algn="ctr" indent="0" marL="0">
              <a:buNone/>
            </a:pPr>
            <a:r>
              <a:rPr lang="en-US" sz="1300" dirty="0">
                <a:solidFill>
                  <a:srgbClr val="322D2A"/>
                </a:solidFill>
                <a:latin typeface="Segoe UI" pitchFamily="34" charset="0"/>
                <a:ea typeface="Segoe UI" pitchFamily="34" charset="-122"/>
                <a:cs typeface="Segoe UI" pitchFamily="34" charset="-120"/>
              </a:rPr>
              <a:t>оркестратор</a:t>
            </a:r>
            <a:endParaRPr lang="en-US" sz="1300" dirty="0"/>
          </a:p>
        </p:txBody>
      </p:sp>
      <p:sp>
        <p:nvSpPr>
          <p:cNvPr id="49" name="Shape 46"/>
          <p:cNvSpPr/>
          <p:nvPr/>
        </p:nvSpPr>
        <p:spPr>
          <a:xfrm>
            <a:off x="3813048" y="2167128"/>
            <a:ext cx="1060704" cy="1060704"/>
          </a:xfrm>
          <a:prstGeom prst="ellipse">
            <a:avLst/>
          </a:prstGeom>
          <a:ln w="19050">
            <a:solidFill>
              <a:srgbClr val="1B7A3D"/>
            </a:solidFill>
            <a:prstDash val="solid"/>
          </a:ln>
        </p:spPr>
      </p:sp>
      <p:sp>
        <p:nvSpPr>
          <p:cNvPr id="50" name="Shape 47"/>
          <p:cNvSpPr/>
          <p:nvPr/>
        </p:nvSpPr>
        <p:spPr>
          <a:xfrm>
            <a:off x="3886200" y="2240280"/>
            <a:ext cx="914400" cy="914400"/>
          </a:xfrm>
          <a:prstGeom prst="ellipse">
            <a:avLst/>
          </a:prstGeom>
          <a:solidFill>
            <a:srgbClr val="FFFFFF"/>
          </a:solidFill>
          <a:ln w="12700">
            <a:solidFill>
              <a:srgbClr val="322D2A"/>
            </a:solidFill>
            <a:prstDash val="solid"/>
          </a:ln>
        </p:spPr>
      </p:sp>
      <p:sp>
        <p:nvSpPr>
          <p:cNvPr id="51" name="Text 48"/>
          <p:cNvSpPr txBox="1"/>
          <p:nvPr/>
        </p:nvSpPr>
        <p:spPr>
          <a:xfrm>
            <a:off x="3794760" y="2532888"/>
            <a:ext cx="1097280" cy="329184"/>
          </a:xfrm>
          <a:prstGeom prst="rect">
            <a:avLst/>
          </a:prstGeom>
          <a:noFill/>
          <a:ln/>
        </p:spPr>
        <p:txBody>
          <a:bodyPr wrap="square" lIns="0" tIns="0" rIns="0" bIns="0" rtlCol="0" anchor="ctr"/>
          <a:lstStyle/>
          <a:p>
            <a:pPr algn="ctr" indent="0" marL="0">
              <a:buNone/>
            </a:pPr>
            <a:r>
              <a:rPr lang="en-US" sz="1100" dirty="0">
                <a:solidFill>
                  <a:srgbClr val="322D2A"/>
                </a:solidFill>
                <a:latin typeface="Segoe UI" pitchFamily="34" charset="0"/>
                <a:ea typeface="Segoe UI" pitchFamily="34" charset="-122"/>
                <a:cs typeface="Segoe UI" pitchFamily="34" charset="-120"/>
              </a:rPr>
              <a:t>качество</a:t>
            </a:r>
            <a:endParaRPr lang="en-US" sz="1100" dirty="0"/>
          </a:p>
        </p:txBody>
      </p:sp>
      <p:sp>
        <p:nvSpPr>
          <p:cNvPr id="52" name="Text 49"/>
          <p:cNvSpPr txBox="1"/>
          <p:nvPr/>
        </p:nvSpPr>
        <p:spPr>
          <a:xfrm>
            <a:off x="5001768" y="2130552"/>
            <a:ext cx="1097280" cy="182880"/>
          </a:xfrm>
          <a:prstGeom prst="rect">
            <a:avLst/>
          </a:prstGeom>
          <a:noFill/>
          <a:ln/>
        </p:spPr>
        <p:txBody>
          <a:bodyPr wrap="square" lIns="0" tIns="0" rIns="0" bIns="0" rtlCol="0" anchor="t"/>
          <a:lstStyle/>
          <a:p>
            <a:pPr indent="0" marL="0">
              <a:buNone/>
            </a:pPr>
            <a:r>
              <a:rPr lang="en-US" sz="1000" spc="100" kern="0" dirty="0">
                <a:solidFill>
                  <a:srgbClr val="1B7A3D"/>
                </a:solidFill>
                <a:latin typeface="Consolas" pitchFamily="34" charset="0"/>
                <a:ea typeface="Consolas" pitchFamily="34" charset="-122"/>
                <a:cs typeface="Consolas" pitchFamily="34" charset="-120"/>
              </a:rPr>
              <a:t>ACCEPT</a:t>
            </a:r>
            <a:endParaRPr lang="en-US" sz="1000" dirty="0"/>
          </a:p>
        </p:txBody>
      </p:sp>
      <p:sp>
        <p:nvSpPr>
          <p:cNvPr id="53" name="Text 50"/>
          <p:cNvSpPr txBox="1"/>
          <p:nvPr/>
        </p:nvSpPr>
        <p:spPr>
          <a:xfrm>
            <a:off x="5001768" y="2368296"/>
            <a:ext cx="1920240" cy="182880"/>
          </a:xfrm>
          <a:prstGeom prst="rect">
            <a:avLst/>
          </a:prstGeom>
          <a:noFill/>
          <a:ln/>
        </p:spPr>
        <p:txBody>
          <a:bodyPr wrap="square" lIns="0" tIns="0" rIns="0" bIns="0" rtlCol="0" anchor="t"/>
          <a:lstStyle/>
          <a:p>
            <a:pPr indent="0" marL="0">
              <a:buNone/>
            </a:pPr>
            <a:r>
              <a:rPr lang="en-US" sz="900" spc="30" kern="0" dirty="0">
                <a:solidFill>
                  <a:srgbClr val="322D2A"/>
                </a:solidFill>
                <a:latin typeface="Consolas" pitchFamily="34" charset="0"/>
                <a:ea typeface="Consolas" pitchFamily="34" charset="-122"/>
                <a:cs typeface="Consolas" pitchFamily="34" charset="-120"/>
              </a:rPr>
              <a:t>запас качества</a:t>
            </a:r>
            <a:endParaRPr lang="en-US" sz="900" dirty="0"/>
          </a:p>
        </p:txBody>
      </p:sp>
      <p:sp>
        <p:nvSpPr>
          <p:cNvPr id="54" name="Text 51"/>
          <p:cNvSpPr txBox="1"/>
          <p:nvPr/>
        </p:nvSpPr>
        <p:spPr>
          <a:xfrm>
            <a:off x="5001768" y="2569464"/>
            <a:ext cx="1920240" cy="182880"/>
          </a:xfrm>
          <a:prstGeom prst="rect">
            <a:avLst/>
          </a:prstGeom>
          <a:noFill/>
          <a:ln/>
        </p:spPr>
        <p:txBody>
          <a:bodyPr wrap="square" lIns="0" tIns="0" rIns="0" bIns="0" rtlCol="0" anchor="t"/>
          <a:lstStyle/>
          <a:p>
            <a:pPr indent="0" marL="0">
              <a:buNone/>
            </a:pPr>
            <a:r>
              <a:rPr lang="en-US" sz="900" spc="30" kern="0" dirty="0">
                <a:solidFill>
                  <a:srgbClr val="322D2A"/>
                </a:solidFill>
                <a:latin typeface="Consolas" pitchFamily="34" charset="0"/>
                <a:ea typeface="Consolas" pitchFamily="34" charset="-122"/>
                <a:cs typeface="Consolas" pitchFamily="34" charset="-120"/>
              </a:rPr>
              <a:t>качество по времени</a:t>
            </a:r>
            <a:endParaRPr lang="en-US" sz="900" dirty="0"/>
          </a:p>
        </p:txBody>
      </p:sp>
      <p:sp>
        <p:nvSpPr>
          <p:cNvPr id="55" name="Text 52"/>
          <p:cNvSpPr txBox="1"/>
          <p:nvPr/>
        </p:nvSpPr>
        <p:spPr>
          <a:xfrm>
            <a:off x="5001768" y="2770632"/>
            <a:ext cx="1920240" cy="182880"/>
          </a:xfrm>
          <a:prstGeom prst="rect">
            <a:avLst/>
          </a:prstGeom>
          <a:noFill/>
          <a:ln/>
        </p:spPr>
        <p:txBody>
          <a:bodyPr wrap="square" lIns="0" tIns="0" rIns="0" bIns="0" rtlCol="0" anchor="t"/>
          <a:lstStyle/>
          <a:p>
            <a:pPr indent="0" marL="0">
              <a:buNone/>
            </a:pPr>
            <a:r>
              <a:rPr lang="en-US" sz="900" spc="30" kern="0" dirty="0">
                <a:solidFill>
                  <a:srgbClr val="322D2A"/>
                </a:solidFill>
                <a:latin typeface="Consolas" pitchFamily="34" charset="0"/>
                <a:ea typeface="Consolas" pitchFamily="34" charset="-122"/>
                <a:cs typeface="Consolas" pitchFamily="34" charset="-120"/>
              </a:rPr>
              <a:t>часы до нарушения</a:t>
            </a:r>
            <a:endParaRPr lang="en-US" sz="900" dirty="0"/>
          </a:p>
        </p:txBody>
      </p:sp>
      <p:sp>
        <p:nvSpPr>
          <p:cNvPr id="56" name="Text 53"/>
          <p:cNvSpPr txBox="1"/>
          <p:nvPr/>
        </p:nvSpPr>
        <p:spPr>
          <a:xfrm>
            <a:off x="5001768" y="2971800"/>
            <a:ext cx="1920240" cy="182880"/>
          </a:xfrm>
          <a:prstGeom prst="rect">
            <a:avLst/>
          </a:prstGeom>
          <a:noFill/>
          <a:ln/>
        </p:spPr>
        <p:txBody>
          <a:bodyPr wrap="square" lIns="0" tIns="0" rIns="0" bIns="0" rtlCol="0" anchor="t"/>
          <a:lstStyle/>
          <a:p>
            <a:pPr indent="0" marL="0">
              <a:buNone/>
            </a:pPr>
            <a:r>
              <a:rPr lang="en-US" sz="900" spc="30" kern="0" dirty="0">
                <a:solidFill>
                  <a:srgbClr val="322D2A"/>
                </a:solidFill>
                <a:latin typeface="Consolas" pitchFamily="34" charset="0"/>
                <a:ea typeface="Consolas" pitchFamily="34" charset="-122"/>
                <a:cs typeface="Consolas" pitchFamily="34" charset="-120"/>
              </a:rPr>
              <a:t>устойчивость плана</a:t>
            </a:r>
            <a:endParaRPr lang="en-US" sz="900" dirty="0"/>
          </a:p>
        </p:txBody>
      </p:sp>
      <p:sp>
        <p:nvSpPr>
          <p:cNvPr id="57" name="Shape 54"/>
          <p:cNvSpPr/>
          <p:nvPr/>
        </p:nvSpPr>
        <p:spPr>
          <a:xfrm flipV="1">
            <a:off x="2423160" y="2788920"/>
            <a:ext cx="1325880" cy="365760"/>
          </a:xfrm>
          <a:prstGeom prst="line">
            <a:avLst/>
          </a:prstGeom>
          <a:noFill/>
          <a:ln w="15875">
            <a:solidFill>
              <a:srgbClr val="322D2A"/>
            </a:solidFill>
            <a:prstDash val="solid"/>
            <a:tailEnd type="triangle"/>
          </a:ln>
        </p:spPr>
      </p:sp>
      <p:sp>
        <p:nvSpPr>
          <p:cNvPr id="58" name="Shape 55"/>
          <p:cNvSpPr/>
          <p:nvPr/>
        </p:nvSpPr>
        <p:spPr>
          <a:xfrm flipV="1">
            <a:off x="2514600" y="3035808"/>
            <a:ext cx="1325880" cy="365760"/>
          </a:xfrm>
          <a:prstGeom prst="line">
            <a:avLst/>
          </a:prstGeom>
          <a:noFill/>
          <a:ln w="15875">
            <a:solidFill>
              <a:srgbClr val="1B7A3D"/>
            </a:solidFill>
            <a:prstDash val="solid"/>
            <a:headEnd type="triangle"/>
          </a:ln>
        </p:spPr>
      </p:sp>
      <p:sp>
        <p:nvSpPr>
          <p:cNvPr id="59" name="Text 56"/>
          <p:cNvSpPr txBox="1"/>
          <p:nvPr/>
        </p:nvSpPr>
        <p:spPr>
          <a:xfrm>
            <a:off x="2514600" y="2587752"/>
            <a:ext cx="914400" cy="182880"/>
          </a:xfrm>
          <a:prstGeom prst="rect">
            <a:avLst/>
          </a:prstGeom>
          <a:noFill/>
          <a:ln/>
        </p:spPr>
        <p:txBody>
          <a:bodyPr wrap="square" lIns="0" tIns="0" rIns="0" bIns="0" rtlCol="0" anchor="t"/>
          <a:lstStyle/>
          <a:p>
            <a:pPr indent="0" marL="0">
              <a:buNone/>
            </a:pPr>
            <a:r>
              <a:rPr lang="en-US" sz="900" spc="30" kern="0" dirty="0">
                <a:solidFill>
                  <a:srgbClr val="5A564E"/>
                </a:solidFill>
                <a:latin typeface="Consolas" pitchFamily="34" charset="0"/>
                <a:ea typeface="Consolas" pitchFamily="34" charset="-122"/>
                <a:cs typeface="Consolas" pitchFamily="34" charset="-120"/>
              </a:rPr>
              <a:t>спросил</a:t>
            </a:r>
            <a:endParaRPr lang="en-US" sz="900" dirty="0"/>
          </a:p>
        </p:txBody>
      </p:sp>
      <p:sp>
        <p:nvSpPr>
          <p:cNvPr id="60" name="Shape 57"/>
          <p:cNvSpPr/>
          <p:nvPr/>
        </p:nvSpPr>
        <p:spPr>
          <a:xfrm>
            <a:off x="3813048" y="4224528"/>
            <a:ext cx="1060704" cy="1060704"/>
          </a:xfrm>
          <a:prstGeom prst="ellipse">
            <a:avLst/>
          </a:prstGeom>
          <a:ln w="19050">
            <a:solidFill>
              <a:srgbClr val="1B7A3D"/>
            </a:solidFill>
            <a:prstDash val="solid"/>
          </a:ln>
        </p:spPr>
      </p:sp>
      <p:sp>
        <p:nvSpPr>
          <p:cNvPr id="61" name="Shape 58"/>
          <p:cNvSpPr/>
          <p:nvPr/>
        </p:nvSpPr>
        <p:spPr>
          <a:xfrm>
            <a:off x="3886200" y="4297680"/>
            <a:ext cx="914400" cy="914400"/>
          </a:xfrm>
          <a:prstGeom prst="ellipse">
            <a:avLst/>
          </a:prstGeom>
          <a:solidFill>
            <a:srgbClr val="FFFFFF"/>
          </a:solidFill>
          <a:ln w="12700">
            <a:solidFill>
              <a:srgbClr val="322D2A"/>
            </a:solidFill>
            <a:prstDash val="solid"/>
          </a:ln>
        </p:spPr>
      </p:sp>
      <p:sp>
        <p:nvSpPr>
          <p:cNvPr id="62" name="Text 59"/>
          <p:cNvSpPr txBox="1"/>
          <p:nvPr/>
        </p:nvSpPr>
        <p:spPr>
          <a:xfrm>
            <a:off x="3794760" y="4590288"/>
            <a:ext cx="1097280" cy="329184"/>
          </a:xfrm>
          <a:prstGeom prst="rect">
            <a:avLst/>
          </a:prstGeom>
          <a:noFill/>
          <a:ln/>
        </p:spPr>
        <p:txBody>
          <a:bodyPr wrap="square" lIns="0" tIns="0" rIns="0" bIns="0" rtlCol="0" anchor="ctr"/>
          <a:lstStyle/>
          <a:p>
            <a:pPr algn="ctr" indent="0" marL="0">
              <a:buNone/>
            </a:pPr>
            <a:r>
              <a:rPr lang="en-US" sz="1100" dirty="0">
                <a:solidFill>
                  <a:srgbClr val="322D2A"/>
                </a:solidFill>
                <a:latin typeface="Segoe UI" pitchFamily="34" charset="0"/>
                <a:ea typeface="Segoe UI" pitchFamily="34" charset="-122"/>
                <a:cs typeface="Segoe UI" pitchFamily="34" charset="-120"/>
              </a:rPr>
              <a:t>надёжность</a:t>
            </a:r>
            <a:endParaRPr lang="en-US" sz="1100" dirty="0"/>
          </a:p>
        </p:txBody>
      </p:sp>
      <p:sp>
        <p:nvSpPr>
          <p:cNvPr id="63" name="Text 60"/>
          <p:cNvSpPr txBox="1"/>
          <p:nvPr/>
        </p:nvSpPr>
        <p:spPr>
          <a:xfrm>
            <a:off x="5001768" y="4187952"/>
            <a:ext cx="1097280" cy="182880"/>
          </a:xfrm>
          <a:prstGeom prst="rect">
            <a:avLst/>
          </a:prstGeom>
          <a:noFill/>
          <a:ln/>
        </p:spPr>
        <p:txBody>
          <a:bodyPr wrap="square" lIns="0" tIns="0" rIns="0" bIns="0" rtlCol="0" anchor="t"/>
          <a:lstStyle/>
          <a:p>
            <a:pPr indent="0" marL="0">
              <a:buNone/>
            </a:pPr>
            <a:r>
              <a:rPr lang="en-US" sz="1000" spc="100" kern="0" dirty="0">
                <a:solidFill>
                  <a:srgbClr val="1B7A3D"/>
                </a:solidFill>
                <a:latin typeface="Consolas" pitchFamily="34" charset="0"/>
                <a:ea typeface="Consolas" pitchFamily="34" charset="-122"/>
                <a:cs typeface="Consolas" pitchFamily="34" charset="-120"/>
              </a:rPr>
              <a:t>ACCEPT</a:t>
            </a:r>
            <a:endParaRPr lang="en-US" sz="1000" dirty="0"/>
          </a:p>
        </p:txBody>
      </p:sp>
      <p:sp>
        <p:nvSpPr>
          <p:cNvPr id="64" name="Text 61"/>
          <p:cNvSpPr txBox="1"/>
          <p:nvPr/>
        </p:nvSpPr>
        <p:spPr>
          <a:xfrm>
            <a:off x="5001768" y="4425696"/>
            <a:ext cx="1920240" cy="182880"/>
          </a:xfrm>
          <a:prstGeom prst="rect">
            <a:avLst/>
          </a:prstGeom>
          <a:noFill/>
          <a:ln/>
        </p:spPr>
        <p:txBody>
          <a:bodyPr wrap="square" lIns="0" tIns="0" rIns="0" bIns="0" rtlCol="0" anchor="t"/>
          <a:lstStyle/>
          <a:p>
            <a:pPr indent="0" marL="0">
              <a:buNone/>
            </a:pPr>
            <a:r>
              <a:rPr lang="en-US" sz="900" spc="30" kern="0" dirty="0">
                <a:solidFill>
                  <a:srgbClr val="322D2A"/>
                </a:solidFill>
                <a:latin typeface="Consolas" pitchFamily="34" charset="0"/>
                <a:ea typeface="Consolas" pitchFamily="34" charset="-122"/>
                <a:cs typeface="Consolas" pitchFamily="34" charset="-120"/>
              </a:rPr>
              <a:t>обязательные проверки</a:t>
            </a:r>
            <a:endParaRPr lang="en-US" sz="900" dirty="0"/>
          </a:p>
        </p:txBody>
      </p:sp>
      <p:sp>
        <p:nvSpPr>
          <p:cNvPr id="65" name="Text 62"/>
          <p:cNvSpPr txBox="1"/>
          <p:nvPr/>
        </p:nvSpPr>
        <p:spPr>
          <a:xfrm>
            <a:off x="5001768" y="4626864"/>
            <a:ext cx="1920240" cy="182880"/>
          </a:xfrm>
          <a:prstGeom prst="rect">
            <a:avLst/>
          </a:prstGeom>
          <a:noFill/>
          <a:ln/>
        </p:spPr>
        <p:txBody>
          <a:bodyPr wrap="square" lIns="0" tIns="0" rIns="0" bIns="0" rtlCol="0" anchor="t"/>
          <a:lstStyle/>
          <a:p>
            <a:pPr indent="0" marL="0">
              <a:buNone/>
            </a:pPr>
            <a:r>
              <a:rPr lang="en-US" sz="900" spc="30" kern="0" dirty="0">
                <a:solidFill>
                  <a:srgbClr val="322D2A"/>
                </a:solidFill>
                <a:latin typeface="Consolas" pitchFamily="34" charset="0"/>
                <a:ea typeface="Consolas" pitchFamily="34" charset="-122"/>
                <a:cs typeface="Consolas" pitchFamily="34" charset="-120"/>
              </a:rPr>
              <a:t>устойчивость плана</a:t>
            </a:r>
            <a:endParaRPr lang="en-US" sz="900" dirty="0"/>
          </a:p>
        </p:txBody>
      </p:sp>
      <p:sp>
        <p:nvSpPr>
          <p:cNvPr id="66" name="Text 63"/>
          <p:cNvSpPr txBox="1"/>
          <p:nvPr/>
        </p:nvSpPr>
        <p:spPr>
          <a:xfrm>
            <a:off x="5001768" y="4828032"/>
            <a:ext cx="1920240" cy="182880"/>
          </a:xfrm>
          <a:prstGeom prst="rect">
            <a:avLst/>
          </a:prstGeom>
          <a:noFill/>
          <a:ln/>
        </p:spPr>
        <p:txBody>
          <a:bodyPr wrap="square" lIns="0" tIns="0" rIns="0" bIns="0" rtlCol="0" anchor="t"/>
          <a:lstStyle/>
          <a:p>
            <a:pPr indent="0" marL="0">
              <a:buNone/>
            </a:pPr>
            <a:r>
              <a:rPr lang="en-US" sz="900" spc="30" kern="0" dirty="0">
                <a:solidFill>
                  <a:srgbClr val="322D2A"/>
                </a:solidFill>
                <a:latin typeface="Consolas" pitchFamily="34" charset="0"/>
                <a:ea typeface="Consolas" pitchFamily="34" charset="-122"/>
                <a:cs typeface="Consolas" pitchFamily="34" charset="-120"/>
              </a:rPr>
              <a:t>часы до нарушения</a:t>
            </a:r>
            <a:endParaRPr lang="en-US" sz="900" dirty="0"/>
          </a:p>
        </p:txBody>
      </p:sp>
      <p:sp>
        <p:nvSpPr>
          <p:cNvPr id="67" name="Shape 64"/>
          <p:cNvSpPr/>
          <p:nvPr/>
        </p:nvSpPr>
        <p:spPr>
          <a:xfrm>
            <a:off x="2423160" y="3703320"/>
            <a:ext cx="1325880" cy="365760"/>
          </a:xfrm>
          <a:prstGeom prst="line">
            <a:avLst/>
          </a:prstGeom>
          <a:noFill/>
          <a:ln w="15875">
            <a:solidFill>
              <a:srgbClr val="322D2A"/>
            </a:solidFill>
            <a:prstDash val="solid"/>
            <a:tailEnd type="triangle"/>
          </a:ln>
        </p:spPr>
      </p:sp>
      <p:sp>
        <p:nvSpPr>
          <p:cNvPr id="68" name="Shape 65"/>
          <p:cNvSpPr/>
          <p:nvPr/>
        </p:nvSpPr>
        <p:spPr>
          <a:xfrm>
            <a:off x="2514600" y="3950208"/>
            <a:ext cx="1325880" cy="365760"/>
          </a:xfrm>
          <a:prstGeom prst="line">
            <a:avLst/>
          </a:prstGeom>
          <a:noFill/>
          <a:ln w="15875">
            <a:solidFill>
              <a:srgbClr val="1B7A3D"/>
            </a:solidFill>
            <a:prstDash val="solid"/>
            <a:headEnd type="triangle"/>
          </a:ln>
        </p:spPr>
      </p:sp>
      <p:sp>
        <p:nvSpPr>
          <p:cNvPr id="69" name="Text 66"/>
          <p:cNvSpPr txBox="1"/>
          <p:nvPr/>
        </p:nvSpPr>
        <p:spPr>
          <a:xfrm>
            <a:off x="2468880" y="4224528"/>
            <a:ext cx="914400" cy="182880"/>
          </a:xfrm>
          <a:prstGeom prst="rect">
            <a:avLst/>
          </a:prstGeom>
          <a:noFill/>
          <a:ln/>
        </p:spPr>
        <p:txBody>
          <a:bodyPr wrap="square" lIns="0" tIns="0" rIns="0" bIns="0" rtlCol="0" anchor="t"/>
          <a:lstStyle/>
          <a:p>
            <a:pPr indent="0" marL="0">
              <a:buNone/>
            </a:pPr>
            <a:r>
              <a:rPr lang="en-US" sz="900" spc="30" kern="0" dirty="0">
                <a:solidFill>
                  <a:srgbClr val="1B7A3D"/>
                </a:solidFill>
                <a:latin typeface="Consolas" pitchFamily="34" charset="0"/>
                <a:ea typeface="Consolas" pitchFamily="34" charset="-122"/>
                <a:cs typeface="Consolas" pitchFamily="34" charset="-120"/>
              </a:rPr>
              <a:t>принял</a:t>
            </a:r>
            <a:endParaRPr lang="en-US" sz="900" dirty="0"/>
          </a:p>
        </p:txBody>
      </p:sp>
      <p:sp>
        <p:nvSpPr>
          <p:cNvPr id="70" name="Shape 67"/>
          <p:cNvSpPr/>
          <p:nvPr/>
        </p:nvSpPr>
        <p:spPr>
          <a:xfrm>
            <a:off x="1783080" y="4069080"/>
            <a:ext cx="0" cy="731520"/>
          </a:xfrm>
          <a:prstGeom prst="line">
            <a:avLst/>
          </a:prstGeom>
          <a:noFill/>
          <a:ln w="19050">
            <a:solidFill>
              <a:srgbClr val="1B7A3D"/>
            </a:solidFill>
            <a:prstDash val="solid"/>
            <a:tailEnd type="triangle"/>
          </a:ln>
        </p:spPr>
      </p:sp>
      <p:sp>
        <p:nvSpPr>
          <p:cNvPr id="71" name="Shape 68"/>
          <p:cNvSpPr/>
          <p:nvPr/>
        </p:nvSpPr>
        <p:spPr>
          <a:xfrm>
            <a:off x="1508760" y="4800600"/>
            <a:ext cx="548640" cy="548640"/>
          </a:xfrm>
          <a:prstGeom prst="ellipse">
            <a:avLst/>
          </a:prstGeom>
          <a:solidFill>
            <a:srgbClr val="E7E5DD"/>
          </a:solidFill>
          <a:ln w="12700">
            <a:solidFill>
              <a:srgbClr val="322D2A"/>
            </a:solidFill>
            <a:prstDash val="solid"/>
          </a:ln>
        </p:spPr>
      </p:sp>
      <p:sp>
        <p:nvSpPr>
          <p:cNvPr id="72" name="Text 69"/>
          <p:cNvSpPr txBox="1"/>
          <p:nvPr/>
        </p:nvSpPr>
        <p:spPr>
          <a:xfrm>
            <a:off x="1627632" y="4919472"/>
            <a:ext cx="310896" cy="310896"/>
          </a:xfrm>
          <a:prstGeom prst="rect">
            <a:avLst/>
          </a:prstGeom>
          <a:noFill/>
          <a:ln/>
        </p:spPr>
        <p:txBody>
          <a:bodyPr wrap="square" lIns="0" tIns="0" rIns="0" bIns="0" rtlCol="0" anchor="ctr"/>
          <a:lstStyle/>
          <a:p>
            <a:pPr algn="ctr" indent="0" marL="0">
              <a:buNone/>
            </a:pPr>
            <a:r>
              <a:rPr lang="en-US" sz="1800" dirty="0">
                <a:solidFill>
                  <a:srgbClr val="1B7A3D"/>
                </a:solidFill>
                <a:latin typeface="Segoe UI Symbol" pitchFamily="34" charset="0"/>
                <a:ea typeface="Segoe UI Symbol" pitchFamily="34" charset="-122"/>
                <a:cs typeface="Segoe UI Symbol" pitchFamily="34" charset="-120"/>
              </a:rPr>
              <a:t>✓</a:t>
            </a:r>
            <a:endParaRPr lang="en-US" sz="1800" dirty="0"/>
          </a:p>
        </p:txBody>
      </p:sp>
      <p:sp>
        <p:nvSpPr>
          <p:cNvPr id="73" name="Text 70"/>
          <p:cNvSpPr txBox="1"/>
          <p:nvPr/>
        </p:nvSpPr>
        <p:spPr>
          <a:xfrm>
            <a:off x="2148840" y="4937760"/>
            <a:ext cx="1280160" cy="274320"/>
          </a:xfrm>
          <a:prstGeom prst="rect">
            <a:avLst/>
          </a:prstGeom>
          <a:noFill/>
          <a:ln/>
        </p:spPr>
        <p:txBody>
          <a:bodyPr wrap="square" lIns="0" tIns="0" rIns="0" bIns="0" rtlCol="0" anchor="ctr"/>
          <a:lstStyle/>
          <a:p>
            <a:pPr indent="0" marL="0">
              <a:buNone/>
            </a:pPr>
            <a:r>
              <a:rPr lang="en-US" sz="1200" dirty="0">
                <a:solidFill>
                  <a:srgbClr val="322D2A"/>
                </a:solidFill>
                <a:latin typeface="Segoe UI" pitchFamily="34" charset="0"/>
                <a:ea typeface="Segoe UI" pitchFamily="34" charset="-122"/>
                <a:cs typeface="Segoe UI" pitchFamily="34" charset="-120"/>
              </a:rPr>
              <a:t>план ядра</a:t>
            </a:r>
            <a:endParaRPr lang="en-US" sz="1200" dirty="0"/>
          </a:p>
        </p:txBody>
      </p:sp>
      <p:sp>
        <p:nvSpPr>
          <p:cNvPr id="74" name="Shape 71"/>
          <p:cNvSpPr/>
          <p:nvPr/>
        </p:nvSpPr>
        <p:spPr>
          <a:xfrm>
            <a:off x="658368" y="5422392"/>
            <a:ext cx="6455664" cy="347472"/>
          </a:xfrm>
          <a:prstGeom prst="roundRect">
            <a:avLst/>
          </a:prstGeom>
          <a:solidFill>
            <a:srgbClr val="FFFFFF"/>
          </a:solidFill>
          <a:ln/>
        </p:spPr>
      </p:sp>
      <p:sp>
        <p:nvSpPr>
          <p:cNvPr id="75" name="Shape 72"/>
          <p:cNvSpPr/>
          <p:nvPr/>
        </p:nvSpPr>
        <p:spPr>
          <a:xfrm>
            <a:off x="658368" y="5422392"/>
            <a:ext cx="6455664" cy="0"/>
          </a:xfrm>
          <a:prstGeom prst="line">
            <a:avLst/>
          </a:prstGeom>
          <a:noFill/>
          <a:ln w="9525">
            <a:solidFill>
              <a:srgbClr val="DCD9D0"/>
            </a:solidFill>
            <a:prstDash val="solid"/>
          </a:ln>
        </p:spPr>
      </p:sp>
      <p:sp>
        <p:nvSpPr>
          <p:cNvPr id="76" name="Shape 73"/>
          <p:cNvSpPr/>
          <p:nvPr/>
        </p:nvSpPr>
        <p:spPr>
          <a:xfrm>
            <a:off x="822960" y="5559552"/>
            <a:ext cx="274320" cy="0"/>
          </a:xfrm>
          <a:prstGeom prst="line">
            <a:avLst/>
          </a:prstGeom>
          <a:noFill/>
          <a:ln w="19050">
            <a:solidFill>
              <a:srgbClr val="322D2A"/>
            </a:solidFill>
            <a:prstDash val="solid"/>
          </a:ln>
        </p:spPr>
      </p:sp>
      <p:sp>
        <p:nvSpPr>
          <p:cNvPr id="77" name="Text 74"/>
          <p:cNvSpPr txBox="1"/>
          <p:nvPr/>
        </p:nvSpPr>
        <p:spPr>
          <a:xfrm>
            <a:off x="1188720" y="5468112"/>
            <a:ext cx="1234440" cy="182880"/>
          </a:xfrm>
          <a:prstGeom prst="rect">
            <a:avLst/>
          </a:prstGeom>
          <a:noFill/>
          <a:ln/>
        </p:spPr>
        <p:txBody>
          <a:bodyPr wrap="square" lIns="0" tIns="0" rIns="0" bIns="0" rtlCol="0" anchor="t"/>
          <a:lstStyle/>
          <a:p>
            <a:pPr indent="0" marL="0">
              <a:buNone/>
            </a:pPr>
            <a:r>
              <a:rPr lang="en-US" sz="800" spc="30" kern="0" dirty="0">
                <a:solidFill>
                  <a:srgbClr val="5A564E"/>
                </a:solidFill>
                <a:latin typeface="Consolas" pitchFamily="34" charset="0"/>
                <a:ea typeface="Consolas" pitchFamily="34" charset="-122"/>
                <a:cs typeface="Consolas" pitchFamily="34" charset="-120"/>
              </a:rPr>
              <a:t>запрос оркестратора</a:t>
            </a:r>
            <a:endParaRPr lang="en-US" sz="800" dirty="0"/>
          </a:p>
        </p:txBody>
      </p:sp>
      <p:sp>
        <p:nvSpPr>
          <p:cNvPr id="78" name="Shape 75"/>
          <p:cNvSpPr/>
          <p:nvPr/>
        </p:nvSpPr>
        <p:spPr>
          <a:xfrm>
            <a:off x="2560320" y="5559552"/>
            <a:ext cx="274320" cy="0"/>
          </a:xfrm>
          <a:prstGeom prst="line">
            <a:avLst/>
          </a:prstGeom>
          <a:noFill/>
          <a:ln w="19050">
            <a:solidFill>
              <a:srgbClr val="1B7A3D"/>
            </a:solidFill>
            <a:prstDash val="solid"/>
          </a:ln>
        </p:spPr>
      </p:sp>
      <p:sp>
        <p:nvSpPr>
          <p:cNvPr id="79" name="Text 76"/>
          <p:cNvSpPr txBox="1"/>
          <p:nvPr/>
        </p:nvSpPr>
        <p:spPr>
          <a:xfrm>
            <a:off x="2926080" y="5468112"/>
            <a:ext cx="1234440" cy="182880"/>
          </a:xfrm>
          <a:prstGeom prst="rect">
            <a:avLst/>
          </a:prstGeom>
          <a:noFill/>
          <a:ln/>
        </p:spPr>
        <p:txBody>
          <a:bodyPr wrap="square" lIns="0" tIns="0" rIns="0" bIns="0" rtlCol="0" anchor="t"/>
          <a:lstStyle/>
          <a:p>
            <a:pPr indent="0" marL="0">
              <a:buNone/>
            </a:pPr>
            <a:r>
              <a:rPr lang="en-US" sz="800" spc="30" kern="0" dirty="0">
                <a:solidFill>
                  <a:srgbClr val="5A564E"/>
                </a:solidFill>
                <a:latin typeface="Consolas" pitchFamily="34" charset="0"/>
                <a:ea typeface="Consolas" pitchFamily="34" charset="-122"/>
                <a:cs typeface="Consolas" pitchFamily="34" charset="-120"/>
              </a:rPr>
              <a:t>принял</a:t>
            </a:r>
            <a:endParaRPr lang="en-US" sz="800" dirty="0"/>
          </a:p>
        </p:txBody>
      </p:sp>
      <p:sp>
        <p:nvSpPr>
          <p:cNvPr id="80" name="Shape 77"/>
          <p:cNvSpPr/>
          <p:nvPr/>
        </p:nvSpPr>
        <p:spPr>
          <a:xfrm>
            <a:off x="3520440" y="5559552"/>
            <a:ext cx="274320" cy="0"/>
          </a:xfrm>
          <a:prstGeom prst="line">
            <a:avLst/>
          </a:prstGeom>
          <a:noFill/>
          <a:ln w="19050">
            <a:solidFill>
              <a:srgbClr val="A35A00"/>
            </a:solidFill>
            <a:prstDash val="solid"/>
          </a:ln>
        </p:spPr>
      </p:sp>
      <p:sp>
        <p:nvSpPr>
          <p:cNvPr id="81" name="Text 78"/>
          <p:cNvSpPr txBox="1"/>
          <p:nvPr/>
        </p:nvSpPr>
        <p:spPr>
          <a:xfrm>
            <a:off x="3886200" y="5468112"/>
            <a:ext cx="1234440" cy="182880"/>
          </a:xfrm>
          <a:prstGeom prst="rect">
            <a:avLst/>
          </a:prstGeom>
          <a:noFill/>
          <a:ln/>
        </p:spPr>
        <p:txBody>
          <a:bodyPr wrap="square" lIns="0" tIns="0" rIns="0" bIns="0" rtlCol="0" anchor="t"/>
          <a:lstStyle/>
          <a:p>
            <a:pPr indent="0" marL="0">
              <a:buNone/>
            </a:pPr>
            <a:r>
              <a:rPr lang="en-US" sz="800" spc="30" kern="0" dirty="0">
                <a:solidFill>
                  <a:srgbClr val="5A564E"/>
                </a:solidFill>
                <a:latin typeface="Consolas" pitchFamily="34" charset="0"/>
                <a:ea typeface="Consolas" pitchFamily="34" charset="-122"/>
                <a:cs typeface="Consolas" pitchFamily="34" charset="-120"/>
              </a:rPr>
              <a:t>просил доработать</a:t>
            </a:r>
            <a:endParaRPr lang="en-US" sz="800" dirty="0"/>
          </a:p>
        </p:txBody>
      </p:sp>
      <p:sp>
        <p:nvSpPr>
          <p:cNvPr id="82" name="Shape 79"/>
          <p:cNvSpPr/>
          <p:nvPr/>
        </p:nvSpPr>
        <p:spPr>
          <a:xfrm>
            <a:off x="5120640" y="5559552"/>
            <a:ext cx="274320" cy="0"/>
          </a:xfrm>
          <a:prstGeom prst="line">
            <a:avLst/>
          </a:prstGeom>
          <a:noFill/>
          <a:ln w="19050">
            <a:solidFill>
              <a:srgbClr val="C1292E"/>
            </a:solidFill>
            <a:prstDash val="solid"/>
          </a:ln>
        </p:spPr>
      </p:sp>
      <p:sp>
        <p:nvSpPr>
          <p:cNvPr id="83" name="Text 80"/>
          <p:cNvSpPr txBox="1"/>
          <p:nvPr/>
        </p:nvSpPr>
        <p:spPr>
          <a:xfrm>
            <a:off x="5486400" y="5468112"/>
            <a:ext cx="1234440" cy="182880"/>
          </a:xfrm>
          <a:prstGeom prst="rect">
            <a:avLst/>
          </a:prstGeom>
          <a:noFill/>
          <a:ln/>
        </p:spPr>
        <p:txBody>
          <a:bodyPr wrap="square" lIns="0" tIns="0" rIns="0" bIns="0" rtlCol="0" anchor="t"/>
          <a:lstStyle/>
          <a:p>
            <a:pPr indent="0" marL="0">
              <a:buNone/>
            </a:pPr>
            <a:r>
              <a:rPr lang="en-US" sz="800" spc="30" kern="0" dirty="0">
                <a:solidFill>
                  <a:srgbClr val="5A564E"/>
                </a:solidFill>
                <a:latin typeface="Consolas" pitchFamily="34" charset="0"/>
                <a:ea typeface="Consolas" pitchFamily="34" charset="-122"/>
                <a:cs typeface="Consolas" pitchFamily="34" charset="-120"/>
              </a:rPr>
              <a:t>отклонил</a:t>
            </a:r>
            <a:endParaRPr lang="en-US" sz="800" dirty="0"/>
          </a:p>
        </p:txBody>
      </p:sp>
      <p:sp>
        <p:nvSpPr>
          <p:cNvPr id="84" name="Shape 81"/>
          <p:cNvSpPr/>
          <p:nvPr/>
        </p:nvSpPr>
        <p:spPr>
          <a:xfrm>
            <a:off x="7498080" y="1874520"/>
            <a:ext cx="4144975" cy="3931920"/>
          </a:xfrm>
          <a:prstGeom prst="roundRect">
            <a:avLst>
              <a:gd name="adj" fmla="val 1395"/>
            </a:avLst>
          </a:prstGeom>
          <a:solidFill>
            <a:srgbClr val="FFFFFF"/>
          </a:solidFill>
          <a:ln w="9525">
            <a:solidFill>
              <a:srgbClr val="322D2A"/>
            </a:solidFill>
            <a:prstDash val="solid"/>
          </a:ln>
        </p:spPr>
      </p:sp>
      <p:sp>
        <p:nvSpPr>
          <p:cNvPr id="85" name="Text 82"/>
          <p:cNvSpPr txBox="1"/>
          <p:nvPr/>
        </p:nvSpPr>
        <p:spPr>
          <a:xfrm>
            <a:off x="7772400" y="2103120"/>
            <a:ext cx="3596335" cy="201168"/>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ФРАГМЕНТ ТРАССЫ</a:t>
            </a:r>
            <a:endParaRPr lang="en-US" sz="1000" dirty="0"/>
          </a:p>
        </p:txBody>
      </p:sp>
      <p:sp>
        <p:nvSpPr>
          <p:cNvPr id="86" name="Text 83"/>
          <p:cNvSpPr txBox="1"/>
          <p:nvPr/>
        </p:nvSpPr>
        <p:spPr>
          <a:xfrm>
            <a:off x="7772400" y="2441448"/>
            <a:ext cx="365760" cy="182880"/>
          </a:xfrm>
          <a:prstGeom prst="rect">
            <a:avLst/>
          </a:prstGeom>
          <a:noFill/>
          <a:ln/>
        </p:spPr>
        <p:txBody>
          <a:bodyPr wrap="square" lIns="0" tIns="0" rIns="0" bIns="0" rtlCol="0" anchor="t"/>
          <a:lstStyle/>
          <a:p>
            <a:pPr indent="0" marL="0">
              <a:buNone/>
            </a:pPr>
            <a:r>
              <a:rPr lang="en-US" sz="900" dirty="0">
                <a:solidFill>
                  <a:srgbClr val="5A564E"/>
                </a:solidFill>
                <a:latin typeface="Consolas" pitchFamily="34" charset="0"/>
                <a:ea typeface="Consolas" pitchFamily="34" charset="-122"/>
                <a:cs typeface="Consolas" pitchFamily="34" charset="-120"/>
              </a:rPr>
              <a:t>01</a:t>
            </a:r>
            <a:endParaRPr lang="en-US" sz="900" dirty="0"/>
          </a:p>
        </p:txBody>
      </p:sp>
      <p:sp>
        <p:nvSpPr>
          <p:cNvPr id="87" name="Text 84"/>
          <p:cNvSpPr txBox="1"/>
          <p:nvPr/>
        </p:nvSpPr>
        <p:spPr>
          <a:xfrm>
            <a:off x="8156448" y="2441448"/>
            <a:ext cx="3230575" cy="182880"/>
          </a:xfrm>
          <a:prstGeom prst="rect">
            <a:avLst/>
          </a:prstGeom>
          <a:noFill/>
          <a:ln/>
        </p:spPr>
        <p:txBody>
          <a:bodyPr wrap="square" lIns="0" tIns="0" rIns="0" bIns="0" rtlCol="0" anchor="t"/>
          <a:lstStyle/>
          <a:p>
            <a:pPr indent="0" marL="0">
              <a:buNone/>
            </a:pPr>
            <a:r>
              <a:rPr lang="en-US" sz="900" spc="50" kern="0" dirty="0">
                <a:solidFill>
                  <a:srgbClr val="5A564E"/>
                </a:solidFill>
                <a:latin typeface="Consolas" pitchFamily="34" charset="0"/>
                <a:ea typeface="Consolas" pitchFamily="34" charset="-122"/>
                <a:cs typeface="Consolas" pitchFamily="34" charset="-120"/>
              </a:rPr>
              <a:t>ОРКЕСТРАТОР → АГЕНТ КАЧЕСТВА</a:t>
            </a:r>
            <a:endParaRPr lang="en-US" sz="900" dirty="0"/>
          </a:p>
        </p:txBody>
      </p:sp>
      <p:sp>
        <p:nvSpPr>
          <p:cNvPr id="88" name="Text 85"/>
          <p:cNvSpPr txBox="1"/>
          <p:nvPr/>
        </p:nvSpPr>
        <p:spPr>
          <a:xfrm>
            <a:off x="8156448" y="2642616"/>
            <a:ext cx="3230575" cy="256032"/>
          </a:xfrm>
          <a:prstGeom prst="rect">
            <a:avLst/>
          </a:prstGeom>
          <a:noFill/>
          <a:ln/>
        </p:spPr>
        <p:txBody>
          <a:bodyPr wrap="square" lIns="0" tIns="0" rIns="0" bIns="0" rtlCol="0" anchor="t"/>
          <a:lstStyle/>
          <a:p>
            <a:pPr indent="0" marL="0">
              <a:buNone/>
            </a:pPr>
            <a:r>
              <a:rPr lang="en-US" sz="1300" dirty="0">
                <a:solidFill>
                  <a:srgbClr val="322D2A"/>
                </a:solidFill>
                <a:latin typeface="Segoe UI" pitchFamily="34" charset="0"/>
                <a:ea typeface="Segoe UI" pitchFamily="34" charset="-122"/>
                <a:cs typeface="Segoe UI" pitchFamily="34" charset="-120"/>
              </a:rPr>
              <a:t>спросил</a:t>
            </a:r>
            <a:endParaRPr lang="en-US" sz="1300" dirty="0"/>
          </a:p>
        </p:txBody>
      </p:sp>
      <p:sp>
        <p:nvSpPr>
          <p:cNvPr id="89" name="Shape 86"/>
          <p:cNvSpPr/>
          <p:nvPr/>
        </p:nvSpPr>
        <p:spPr>
          <a:xfrm>
            <a:off x="7772400" y="2953512"/>
            <a:ext cx="3596335" cy="0"/>
          </a:xfrm>
          <a:prstGeom prst="line">
            <a:avLst/>
          </a:prstGeom>
          <a:noFill/>
          <a:ln w="9525">
            <a:solidFill>
              <a:srgbClr val="DCD9D0"/>
            </a:solidFill>
            <a:prstDash val="solid"/>
          </a:ln>
        </p:spPr>
      </p:sp>
      <p:sp>
        <p:nvSpPr>
          <p:cNvPr id="90" name="Text 87"/>
          <p:cNvSpPr txBox="1"/>
          <p:nvPr/>
        </p:nvSpPr>
        <p:spPr>
          <a:xfrm>
            <a:off x="7772400" y="2990088"/>
            <a:ext cx="365760" cy="182880"/>
          </a:xfrm>
          <a:prstGeom prst="rect">
            <a:avLst/>
          </a:prstGeom>
          <a:noFill/>
          <a:ln/>
        </p:spPr>
        <p:txBody>
          <a:bodyPr wrap="square" lIns="0" tIns="0" rIns="0" bIns="0" rtlCol="0" anchor="t"/>
          <a:lstStyle/>
          <a:p>
            <a:pPr indent="0" marL="0">
              <a:buNone/>
            </a:pPr>
            <a:r>
              <a:rPr lang="en-US" sz="900" dirty="0">
                <a:solidFill>
                  <a:srgbClr val="5A564E"/>
                </a:solidFill>
                <a:latin typeface="Consolas" pitchFamily="34" charset="0"/>
                <a:ea typeface="Consolas" pitchFamily="34" charset="-122"/>
                <a:cs typeface="Consolas" pitchFamily="34" charset="-120"/>
              </a:rPr>
              <a:t>02</a:t>
            </a:r>
            <a:endParaRPr lang="en-US" sz="900" dirty="0"/>
          </a:p>
        </p:txBody>
      </p:sp>
      <p:sp>
        <p:nvSpPr>
          <p:cNvPr id="91" name="Text 88"/>
          <p:cNvSpPr txBox="1"/>
          <p:nvPr/>
        </p:nvSpPr>
        <p:spPr>
          <a:xfrm>
            <a:off x="8156448" y="2990088"/>
            <a:ext cx="3230575" cy="182880"/>
          </a:xfrm>
          <a:prstGeom prst="rect">
            <a:avLst/>
          </a:prstGeom>
          <a:noFill/>
          <a:ln/>
        </p:spPr>
        <p:txBody>
          <a:bodyPr wrap="square" lIns="0" tIns="0" rIns="0" bIns="0" rtlCol="0" anchor="t"/>
          <a:lstStyle/>
          <a:p>
            <a:pPr indent="0" marL="0">
              <a:buNone/>
            </a:pPr>
            <a:r>
              <a:rPr lang="en-US" sz="900" spc="50" kern="0" dirty="0">
                <a:solidFill>
                  <a:srgbClr val="5A564E"/>
                </a:solidFill>
                <a:latin typeface="Consolas" pitchFamily="34" charset="0"/>
                <a:ea typeface="Consolas" pitchFamily="34" charset="-122"/>
                <a:cs typeface="Consolas" pitchFamily="34" charset="-120"/>
              </a:rPr>
              <a:t>АГЕНТ КАЧЕСТВА → ИНСТРУМЕНТ</a:t>
            </a:r>
            <a:endParaRPr lang="en-US" sz="900" dirty="0"/>
          </a:p>
        </p:txBody>
      </p:sp>
      <p:sp>
        <p:nvSpPr>
          <p:cNvPr id="92" name="Text 89"/>
          <p:cNvSpPr txBox="1"/>
          <p:nvPr/>
        </p:nvSpPr>
        <p:spPr>
          <a:xfrm>
            <a:off x="8156448" y="3191256"/>
            <a:ext cx="3230575" cy="256032"/>
          </a:xfrm>
          <a:prstGeom prst="rect">
            <a:avLst/>
          </a:prstGeom>
          <a:noFill/>
          <a:ln/>
        </p:spPr>
        <p:txBody>
          <a:bodyPr wrap="square" lIns="0" tIns="0" rIns="0" bIns="0" rtlCol="0" anchor="t"/>
          <a:lstStyle/>
          <a:p>
            <a:pPr indent="0" marL="0">
              <a:buNone/>
            </a:pPr>
            <a:r>
              <a:rPr lang="en-US" sz="1300" dirty="0">
                <a:solidFill>
                  <a:srgbClr val="322D2A"/>
                </a:solidFill>
                <a:latin typeface="Segoe UI" pitchFamily="34" charset="0"/>
                <a:ea typeface="Segoe UI" pitchFamily="34" charset="-122"/>
                <a:cs typeface="Segoe UI" pitchFamily="34" charset="-120"/>
              </a:rPr>
              <a:t>запас качества</a:t>
            </a:r>
            <a:endParaRPr lang="en-US" sz="1300" dirty="0"/>
          </a:p>
        </p:txBody>
      </p:sp>
      <p:sp>
        <p:nvSpPr>
          <p:cNvPr id="93" name="Shape 90"/>
          <p:cNvSpPr/>
          <p:nvPr/>
        </p:nvSpPr>
        <p:spPr>
          <a:xfrm>
            <a:off x="7772400" y="3502152"/>
            <a:ext cx="3596335" cy="0"/>
          </a:xfrm>
          <a:prstGeom prst="line">
            <a:avLst/>
          </a:prstGeom>
          <a:noFill/>
          <a:ln w="9525">
            <a:solidFill>
              <a:srgbClr val="DCD9D0"/>
            </a:solidFill>
            <a:prstDash val="solid"/>
          </a:ln>
        </p:spPr>
      </p:sp>
      <p:sp>
        <p:nvSpPr>
          <p:cNvPr id="94" name="Text 91"/>
          <p:cNvSpPr txBox="1"/>
          <p:nvPr/>
        </p:nvSpPr>
        <p:spPr>
          <a:xfrm>
            <a:off x="7772400" y="3538728"/>
            <a:ext cx="365760" cy="182880"/>
          </a:xfrm>
          <a:prstGeom prst="rect">
            <a:avLst/>
          </a:prstGeom>
          <a:noFill/>
          <a:ln/>
        </p:spPr>
        <p:txBody>
          <a:bodyPr wrap="square" lIns="0" tIns="0" rIns="0" bIns="0" rtlCol="0" anchor="t"/>
          <a:lstStyle/>
          <a:p>
            <a:pPr indent="0" marL="0">
              <a:buNone/>
            </a:pPr>
            <a:r>
              <a:rPr lang="en-US" sz="900" dirty="0">
                <a:solidFill>
                  <a:srgbClr val="5A564E"/>
                </a:solidFill>
                <a:latin typeface="Consolas" pitchFamily="34" charset="0"/>
                <a:ea typeface="Consolas" pitchFamily="34" charset="-122"/>
                <a:cs typeface="Consolas" pitchFamily="34" charset="-120"/>
              </a:rPr>
              <a:t>03</a:t>
            </a:r>
            <a:endParaRPr lang="en-US" sz="900" dirty="0"/>
          </a:p>
        </p:txBody>
      </p:sp>
      <p:sp>
        <p:nvSpPr>
          <p:cNvPr id="95" name="Text 92"/>
          <p:cNvSpPr txBox="1"/>
          <p:nvPr/>
        </p:nvSpPr>
        <p:spPr>
          <a:xfrm>
            <a:off x="8156448" y="3538728"/>
            <a:ext cx="3230575" cy="182880"/>
          </a:xfrm>
          <a:prstGeom prst="rect">
            <a:avLst/>
          </a:prstGeom>
          <a:noFill/>
          <a:ln/>
        </p:spPr>
        <p:txBody>
          <a:bodyPr wrap="square" lIns="0" tIns="0" rIns="0" bIns="0" rtlCol="0" anchor="t"/>
          <a:lstStyle/>
          <a:p>
            <a:pPr indent="0" marL="0">
              <a:buNone/>
            </a:pPr>
            <a:r>
              <a:rPr lang="en-US" sz="900" spc="50" kern="0" dirty="0">
                <a:solidFill>
                  <a:srgbClr val="5A564E"/>
                </a:solidFill>
                <a:latin typeface="Consolas" pitchFamily="34" charset="0"/>
                <a:ea typeface="Consolas" pitchFamily="34" charset="-122"/>
                <a:cs typeface="Consolas" pitchFamily="34" charset="-120"/>
              </a:rPr>
              <a:t>АГЕНТ КАЧЕСТВА → ОРКЕСТРАТОР</a:t>
            </a:r>
            <a:endParaRPr lang="en-US" sz="900" dirty="0"/>
          </a:p>
        </p:txBody>
      </p:sp>
      <p:sp>
        <p:nvSpPr>
          <p:cNvPr id="96" name="Text 93"/>
          <p:cNvSpPr txBox="1"/>
          <p:nvPr/>
        </p:nvSpPr>
        <p:spPr>
          <a:xfrm>
            <a:off x="8156448" y="3739896"/>
            <a:ext cx="3230575" cy="256032"/>
          </a:xfrm>
          <a:prstGeom prst="rect">
            <a:avLst/>
          </a:prstGeom>
          <a:noFill/>
          <a:ln/>
        </p:spPr>
        <p:txBody>
          <a:bodyPr wrap="square" lIns="0" tIns="0" rIns="0" bIns="0" rtlCol="0" anchor="t"/>
          <a:lstStyle/>
          <a:p>
            <a:pPr indent="0" marL="0">
              <a:buNone/>
            </a:pPr>
            <a:r>
              <a:rPr lang="en-US" sz="1300" dirty="0">
                <a:solidFill>
                  <a:srgbClr val="1B7A3D"/>
                </a:solidFill>
                <a:latin typeface="Consolas" pitchFamily="34" charset="0"/>
                <a:ea typeface="Consolas" pitchFamily="34" charset="-122"/>
                <a:cs typeface="Consolas" pitchFamily="34" charset="-120"/>
              </a:rPr>
              <a:t>ACCEPT</a:t>
            </a:r>
            <a:endParaRPr lang="en-US" sz="1300" dirty="0"/>
          </a:p>
        </p:txBody>
      </p:sp>
      <p:sp>
        <p:nvSpPr>
          <p:cNvPr id="97" name="Shape 94"/>
          <p:cNvSpPr/>
          <p:nvPr/>
        </p:nvSpPr>
        <p:spPr>
          <a:xfrm>
            <a:off x="7772400" y="4050792"/>
            <a:ext cx="3596335" cy="0"/>
          </a:xfrm>
          <a:prstGeom prst="line">
            <a:avLst/>
          </a:prstGeom>
          <a:noFill/>
          <a:ln w="9525">
            <a:solidFill>
              <a:srgbClr val="DCD9D0"/>
            </a:solidFill>
            <a:prstDash val="solid"/>
          </a:ln>
        </p:spPr>
      </p:sp>
      <p:sp>
        <p:nvSpPr>
          <p:cNvPr id="98" name="Text 95"/>
          <p:cNvSpPr txBox="1"/>
          <p:nvPr/>
        </p:nvSpPr>
        <p:spPr>
          <a:xfrm>
            <a:off x="7772400" y="4087368"/>
            <a:ext cx="365760" cy="182880"/>
          </a:xfrm>
          <a:prstGeom prst="rect">
            <a:avLst/>
          </a:prstGeom>
          <a:noFill/>
          <a:ln/>
        </p:spPr>
        <p:txBody>
          <a:bodyPr wrap="square" lIns="0" tIns="0" rIns="0" bIns="0" rtlCol="0" anchor="t"/>
          <a:lstStyle/>
          <a:p>
            <a:pPr indent="0" marL="0">
              <a:buNone/>
            </a:pPr>
            <a:r>
              <a:rPr lang="en-US" sz="900" dirty="0">
                <a:solidFill>
                  <a:srgbClr val="5A564E"/>
                </a:solidFill>
                <a:latin typeface="Consolas" pitchFamily="34" charset="0"/>
                <a:ea typeface="Consolas" pitchFamily="34" charset="-122"/>
                <a:cs typeface="Consolas" pitchFamily="34" charset="-120"/>
              </a:rPr>
              <a:t>04</a:t>
            </a:r>
            <a:endParaRPr lang="en-US" sz="900" dirty="0"/>
          </a:p>
        </p:txBody>
      </p:sp>
      <p:sp>
        <p:nvSpPr>
          <p:cNvPr id="99" name="Text 96"/>
          <p:cNvSpPr txBox="1"/>
          <p:nvPr/>
        </p:nvSpPr>
        <p:spPr>
          <a:xfrm>
            <a:off x="8156448" y="4087368"/>
            <a:ext cx="3230575" cy="182880"/>
          </a:xfrm>
          <a:prstGeom prst="rect">
            <a:avLst/>
          </a:prstGeom>
          <a:noFill/>
          <a:ln/>
        </p:spPr>
        <p:txBody>
          <a:bodyPr wrap="square" lIns="0" tIns="0" rIns="0" bIns="0" rtlCol="0" anchor="t"/>
          <a:lstStyle/>
          <a:p>
            <a:pPr indent="0" marL="0">
              <a:buNone/>
            </a:pPr>
            <a:r>
              <a:rPr lang="en-US" sz="900" spc="50" kern="0" dirty="0">
                <a:solidFill>
                  <a:srgbClr val="5A564E"/>
                </a:solidFill>
                <a:latin typeface="Consolas" pitchFamily="34" charset="0"/>
                <a:ea typeface="Consolas" pitchFamily="34" charset="-122"/>
                <a:cs typeface="Consolas" pitchFamily="34" charset="-120"/>
              </a:rPr>
              <a:t>ОРКЕСТРАТОР → GATE</a:t>
            </a:r>
            <a:endParaRPr lang="en-US" sz="900" dirty="0"/>
          </a:p>
        </p:txBody>
      </p:sp>
      <p:sp>
        <p:nvSpPr>
          <p:cNvPr id="100" name="Text 97"/>
          <p:cNvSpPr txBox="1"/>
          <p:nvPr/>
        </p:nvSpPr>
        <p:spPr>
          <a:xfrm>
            <a:off x="8156448" y="4288536"/>
            <a:ext cx="3230575" cy="256032"/>
          </a:xfrm>
          <a:prstGeom prst="rect">
            <a:avLst/>
          </a:prstGeom>
          <a:noFill/>
          <a:ln/>
        </p:spPr>
        <p:txBody>
          <a:bodyPr wrap="square" lIns="0" tIns="0" rIns="0" bIns="0" rtlCol="0" anchor="t"/>
          <a:lstStyle/>
          <a:p>
            <a:pPr indent="0" marL="0">
              <a:buNone/>
            </a:pPr>
            <a:r>
              <a:rPr lang="en-US" sz="1300" dirty="0">
                <a:solidFill>
                  <a:srgbClr val="322D2A"/>
                </a:solidFill>
                <a:latin typeface="Segoe UI" pitchFamily="34" charset="0"/>
                <a:ea typeface="Segoe UI" pitchFamily="34" charset="-122"/>
                <a:cs typeface="Segoe UI" pitchFamily="34" charset="-120"/>
              </a:rPr>
              <a:t>финальная перепроверка</a:t>
            </a:r>
            <a:endParaRPr lang="en-US" sz="1300" dirty="0"/>
          </a:p>
        </p:txBody>
      </p:sp>
      <p:sp>
        <p:nvSpPr>
          <p:cNvPr id="101" name="Shape 98"/>
          <p:cNvSpPr/>
          <p:nvPr/>
        </p:nvSpPr>
        <p:spPr>
          <a:xfrm>
            <a:off x="7772400" y="4709160"/>
            <a:ext cx="3596335" cy="868680"/>
          </a:xfrm>
          <a:prstGeom prst="roundRect">
            <a:avLst>
              <a:gd name="adj" fmla="val 4211"/>
            </a:avLst>
          </a:prstGeom>
          <a:solidFill>
            <a:srgbClr val="F0EFE9"/>
          </a:solidFill>
          <a:ln/>
        </p:spPr>
      </p:sp>
      <p:sp>
        <p:nvSpPr>
          <p:cNvPr id="102" name="Text 99"/>
          <p:cNvSpPr txBox="1"/>
          <p:nvPr/>
        </p:nvSpPr>
        <p:spPr>
          <a:xfrm>
            <a:off x="7909560" y="4800600"/>
            <a:ext cx="3322015" cy="201168"/>
          </a:xfrm>
          <a:prstGeom prst="rect">
            <a:avLst/>
          </a:prstGeom>
          <a:noFill/>
          <a:ln/>
        </p:spPr>
        <p:txBody>
          <a:bodyPr wrap="square" lIns="0" tIns="0" rIns="0" bIns="0" rtlCol="0" anchor="t"/>
          <a:lstStyle/>
          <a:p>
            <a:pPr indent="0" marL="0">
              <a:buNone/>
            </a:pPr>
            <a:r>
              <a:rPr lang="en-US" sz="1000" spc="30" kern="0" dirty="0">
                <a:solidFill>
                  <a:srgbClr val="322D2A"/>
                </a:solidFill>
                <a:latin typeface="Consolas" pitchFamily="34" charset="0"/>
                <a:ea typeface="Consolas" pitchFamily="34" charset="-122"/>
                <a:cs typeface="Consolas" pitchFamily="34" charset="-120"/>
              </a:rPr>
              <a:t>constraints_applied = [ ]</a:t>
            </a:r>
            <a:endParaRPr lang="en-US" sz="1000" dirty="0"/>
          </a:p>
        </p:txBody>
      </p:sp>
      <p:sp>
        <p:nvSpPr>
          <p:cNvPr id="103" name="Text 100"/>
          <p:cNvSpPr txBox="1"/>
          <p:nvPr/>
        </p:nvSpPr>
        <p:spPr>
          <a:xfrm>
            <a:off x="7909560" y="5047488"/>
            <a:ext cx="3322015" cy="475488"/>
          </a:xfrm>
          <a:prstGeom prst="rect">
            <a:avLst/>
          </a:prstGeom>
          <a:noFill/>
          <a:ln/>
        </p:spPr>
        <p:txBody>
          <a:bodyPr wrap="square" lIns="0" tIns="0" rIns="0" bIns="0" rtlCol="0" anchor="t"/>
          <a:lstStyle/>
          <a:p>
            <a:pPr indent="0" marL="0">
              <a:buNone/>
            </a:pPr>
            <a:r>
              <a:rPr lang="en-US" sz="1100" dirty="0">
                <a:solidFill>
                  <a:srgbClr val="5A564E"/>
                </a:solidFill>
                <a:latin typeface="Segoe UI" pitchFamily="34" charset="0"/>
                <a:ea typeface="Segoe UI" pitchFamily="34" charset="-122"/>
                <a:cs typeface="Segoe UI" pitchFamily="34" charset="-120"/>
              </a:rPr>
              <a:t>Агент может сузить выбор или наложить вето — ослабить ограничение не может.</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FE9"/>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228600"/>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ТРИ ИСХОДА ОДНОГО ЦИКЛА</a:t>
            </a:r>
            <a:endParaRPr lang="en-US" sz="1000" dirty="0"/>
          </a:p>
        </p:txBody>
      </p:sp>
      <p:sp>
        <p:nvSpPr>
          <p:cNvPr id="3" name="Text 1"/>
          <p:cNvSpPr txBox="1"/>
          <p:nvPr/>
        </p:nvSpPr>
        <p:spPr>
          <a:xfrm>
            <a:off x="548640" y="731520"/>
            <a:ext cx="10424160" cy="566928"/>
          </a:xfrm>
          <a:prstGeom prst="rect">
            <a:avLst/>
          </a:prstGeom>
          <a:noFill/>
          <a:ln/>
        </p:spPr>
        <p:txBody>
          <a:bodyPr wrap="square" lIns="0" tIns="0" rIns="0" bIns="0" rtlCol="0" anchor="ctr"/>
          <a:lstStyle/>
          <a:p>
            <a:pPr indent="0" marL="0">
              <a:buNone/>
            </a:pPr>
            <a:r>
              <a:rPr lang="en-US" sz="3000" dirty="0">
                <a:solidFill>
                  <a:srgbClr val="322D2A"/>
                </a:solidFill>
                <a:latin typeface="Segoe UI Semibold" pitchFamily="34" charset="0"/>
                <a:ea typeface="Segoe UI Semibold" pitchFamily="34" charset="-122"/>
                <a:cs typeface="Segoe UI Semibold" pitchFamily="34" charset="-120"/>
              </a:rPr>
              <a:t>Норма и плохие данные дают разные ответы</a:t>
            </a:r>
            <a:endParaRPr lang="en-US" sz="3000" dirty="0"/>
          </a:p>
        </p:txBody>
      </p:sp>
      <p:sp>
        <p:nvSpPr>
          <p:cNvPr id="4" name="Text 2"/>
          <p:cNvSpPr txBox="1"/>
          <p:nvPr/>
        </p:nvSpPr>
        <p:spPr>
          <a:xfrm>
            <a:off x="548640" y="1335024"/>
            <a:ext cx="10424160" cy="329184"/>
          </a:xfrm>
          <a:prstGeom prst="rect">
            <a:avLst/>
          </a:prstGeom>
          <a:noFill/>
          <a:ln/>
        </p:spPr>
        <p:txBody>
          <a:bodyPr wrap="square" lIns="0" tIns="0" rIns="0" bIns="0" rtlCol="0" anchor="ctr"/>
          <a:lstStyle/>
          <a:p>
            <a:pPr indent="0" marL="0">
              <a:buNone/>
            </a:pPr>
            <a:r>
              <a:rPr lang="en-US" sz="1500" dirty="0">
                <a:solidFill>
                  <a:srgbClr val="5A564E"/>
                </a:solidFill>
                <a:latin typeface="Segoe UI" pitchFamily="34" charset="0"/>
                <a:ea typeface="Segoe UI" pitchFamily="34" charset="-122"/>
                <a:cs typeface="Segoe UI" pitchFamily="34" charset="-120"/>
              </a:rPr>
              <a:t>Советчик не меняет уставки ради активности и не заполняет пробел уверенным числом.</a:t>
            </a:r>
            <a:endParaRPr lang="en-US" sz="1500" dirty="0"/>
          </a:p>
        </p:txBody>
      </p:sp>
      <p:pic>
        <p:nvPicPr>
          <p:cNvPr id="5" name="Image 0" descr="preencoded.png">    </p:cNvPr>
          <p:cNvPicPr>
            <a:picLocks noChangeAspect="1"/>
          </p:cNvPicPr>
          <p:nvPr/>
        </p:nvPicPr>
        <p:blipFill>
          <a:blip r:embed="rId1"/>
          <a:stretch>
            <a:fillRect/>
          </a:stretch>
        </p:blipFill>
        <p:spPr>
          <a:xfrm>
            <a:off x="11277295" y="420624"/>
            <a:ext cx="365760" cy="365760"/>
          </a:xfrm>
          <a:prstGeom prst="rect">
            <a:avLst/>
          </a:prstGeom>
        </p:spPr>
      </p:pic>
      <p:sp>
        <p:nvSpPr>
          <p:cNvPr id="6" name="Text 3"/>
          <p:cNvSpPr txBox="1"/>
          <p:nvPr/>
        </p:nvSpPr>
        <p:spPr>
          <a:xfrm>
            <a:off x="10180015" y="6309360"/>
            <a:ext cx="1463040" cy="228600"/>
          </a:xfrm>
          <a:prstGeom prst="rect">
            <a:avLst/>
          </a:prstGeom>
          <a:noFill/>
          <a:ln/>
        </p:spPr>
        <p:txBody>
          <a:bodyPr wrap="square" lIns="0" tIns="0" rIns="0" bIns="0" rtlCol="0" anchor="t"/>
          <a:lstStyle/>
          <a:p>
            <a:pPr algn="r" indent="0" marL="0">
              <a:buNone/>
            </a:pPr>
            <a:r>
              <a:rPr lang="en-US" sz="1100" spc="100" kern="0" dirty="0">
                <a:solidFill>
                  <a:srgbClr val="5A564E"/>
                </a:solidFill>
                <a:latin typeface="Consolas" pitchFamily="34" charset="0"/>
                <a:ea typeface="Consolas" pitchFamily="34" charset="-122"/>
                <a:cs typeface="Consolas" pitchFamily="34" charset="-120"/>
              </a:rPr>
              <a:t>08 / 10</a:t>
            </a:r>
            <a:endParaRPr lang="en-US" sz="1100" dirty="0"/>
          </a:p>
        </p:txBody>
      </p:sp>
      <p:sp>
        <p:nvSpPr>
          <p:cNvPr id="7" name="Shape 4"/>
          <p:cNvSpPr/>
          <p:nvPr/>
        </p:nvSpPr>
        <p:spPr>
          <a:xfrm>
            <a:off x="548640" y="1874520"/>
            <a:ext cx="5410048" cy="3611880"/>
          </a:xfrm>
          <a:prstGeom prst="rect">
            <a:avLst/>
          </a:prstGeom>
          <a:solidFill>
            <a:srgbClr val="FFFFFF"/>
          </a:solidFill>
          <a:ln w="9525">
            <a:solidFill>
              <a:srgbClr val="322D2A"/>
            </a:solidFill>
            <a:prstDash val="solid"/>
          </a:ln>
        </p:spPr>
      </p:sp>
      <p:sp>
        <p:nvSpPr>
          <p:cNvPr id="8" name="Shape 5"/>
          <p:cNvSpPr/>
          <p:nvPr/>
        </p:nvSpPr>
        <p:spPr>
          <a:xfrm>
            <a:off x="548640" y="1874520"/>
            <a:ext cx="5410048" cy="45720"/>
          </a:xfrm>
          <a:prstGeom prst="rect">
            <a:avLst/>
          </a:prstGeom>
          <a:solidFill>
            <a:srgbClr val="1B7A3D"/>
          </a:solidFill>
          <a:ln/>
        </p:spPr>
      </p:sp>
      <p:sp>
        <p:nvSpPr>
          <p:cNvPr id="9" name="Text 6"/>
          <p:cNvSpPr txBox="1"/>
          <p:nvPr/>
        </p:nvSpPr>
        <p:spPr>
          <a:xfrm>
            <a:off x="868680" y="2167128"/>
            <a:ext cx="4769968" cy="201168"/>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НОРМА · 05.01.2026 08:00</a:t>
            </a:r>
            <a:endParaRPr lang="en-US" sz="1000" dirty="0"/>
          </a:p>
        </p:txBody>
      </p:sp>
      <p:sp>
        <p:nvSpPr>
          <p:cNvPr id="10" name="Text 7"/>
          <p:cNvSpPr txBox="1"/>
          <p:nvPr/>
        </p:nvSpPr>
        <p:spPr>
          <a:xfrm>
            <a:off x="868680" y="2423160"/>
            <a:ext cx="4769968" cy="640080"/>
          </a:xfrm>
          <a:prstGeom prst="rect">
            <a:avLst/>
          </a:prstGeom>
          <a:noFill/>
          <a:ln/>
        </p:spPr>
        <p:txBody>
          <a:bodyPr wrap="square" lIns="0" tIns="0" rIns="0" bIns="0" rtlCol="0" anchor="ctr"/>
          <a:lstStyle/>
          <a:p>
            <a:pPr indent="0" marL="0">
              <a:buNone/>
            </a:pPr>
            <a:r>
              <a:rPr lang="en-US" sz="3400" dirty="0">
                <a:solidFill>
                  <a:srgbClr val="322D2A"/>
                </a:solidFill>
                <a:latin typeface="Segoe UI Light" pitchFamily="34" charset="0"/>
                <a:ea typeface="Segoe UI Light" pitchFamily="34" charset="-122"/>
                <a:cs typeface="Segoe UI Light" pitchFamily="34" charset="-120"/>
              </a:rPr>
              <a:t>Сохранить режим</a:t>
            </a:r>
            <a:endParaRPr lang="en-US" sz="3400" dirty="0"/>
          </a:p>
        </p:txBody>
      </p:sp>
      <p:sp>
        <p:nvSpPr>
          <p:cNvPr id="11" name="Text 8"/>
          <p:cNvSpPr txBox="1"/>
          <p:nvPr/>
        </p:nvSpPr>
        <p:spPr>
          <a:xfrm>
            <a:off x="868680" y="3136392"/>
            <a:ext cx="4769968" cy="548640"/>
          </a:xfrm>
          <a:prstGeom prst="rect">
            <a:avLst/>
          </a:prstGeom>
          <a:noFill/>
          <a:ln/>
        </p:spPr>
        <p:txBody>
          <a:bodyPr wrap="square" lIns="0" tIns="0" rIns="0" bIns="0" rtlCol="0" anchor="t"/>
          <a:lstStyle/>
          <a:p>
            <a:pPr indent="0" marL="0">
              <a:buNone/>
            </a:pPr>
            <a:r>
              <a:rPr lang="en-US" sz="1300" dirty="0">
                <a:solidFill>
                  <a:srgbClr val="5A564E"/>
                </a:solidFill>
                <a:latin typeface="Segoe UI" pitchFamily="34" charset="0"/>
                <a:ea typeface="Segoe UI" pitchFamily="34" charset="-122"/>
                <a:cs typeface="Segoe UI" pitchFamily="34" charset="-120"/>
              </a:rPr>
              <a:t>Текущий режим проходит все обязательные проверки — вмешательство не требуется.</a:t>
            </a:r>
            <a:endParaRPr lang="en-US" sz="1300" dirty="0"/>
          </a:p>
        </p:txBody>
      </p:sp>
      <p:sp>
        <p:nvSpPr>
          <p:cNvPr id="12" name="Text 9"/>
          <p:cNvSpPr txBox="1"/>
          <p:nvPr/>
        </p:nvSpPr>
        <p:spPr>
          <a:xfrm>
            <a:off x="868680" y="3840480"/>
            <a:ext cx="2103120" cy="228600"/>
          </a:xfrm>
          <a:prstGeom prst="rect">
            <a:avLst/>
          </a:prstGeom>
          <a:noFill/>
          <a:ln/>
        </p:spPr>
        <p:txBody>
          <a:bodyPr wrap="square" lIns="0" tIns="0" rIns="0" bIns="0" rtlCol="0" anchor="t"/>
          <a:lstStyle/>
          <a:p>
            <a:pPr indent="0" marL="0">
              <a:buNone/>
            </a:pPr>
            <a:r>
              <a:rPr lang="en-US" sz="1100" dirty="0">
                <a:solidFill>
                  <a:srgbClr val="5A564E"/>
                </a:solidFill>
                <a:latin typeface="Segoe UI" pitchFamily="34" charset="0"/>
                <a:ea typeface="Segoe UI" pitchFamily="34" charset="-122"/>
                <a:cs typeface="Segoe UI" pitchFamily="34" charset="-120"/>
              </a:rPr>
              <a:t>Выпуск за 3 ч</a:t>
            </a:r>
            <a:endParaRPr lang="en-US" sz="1100" dirty="0"/>
          </a:p>
        </p:txBody>
      </p:sp>
      <p:sp>
        <p:nvSpPr>
          <p:cNvPr id="13" name="Text 10"/>
          <p:cNvSpPr txBox="1"/>
          <p:nvPr/>
        </p:nvSpPr>
        <p:spPr>
          <a:xfrm>
            <a:off x="868680" y="4087368"/>
            <a:ext cx="2103120" cy="502920"/>
          </a:xfrm>
          <a:prstGeom prst="rect">
            <a:avLst/>
          </a:prstGeom>
          <a:noFill/>
          <a:ln/>
        </p:spPr>
        <p:txBody>
          <a:bodyPr wrap="square" lIns="0" tIns="0" rIns="0" bIns="0" rtlCol="0" anchor="ctr"/>
          <a:lstStyle/>
          <a:p>
            <a:pPr indent="0" marL="0">
              <a:buNone/>
            </a:pPr>
            <a:r>
              <a:rPr lang="en-US" sz="2800" dirty="0">
                <a:solidFill>
                  <a:srgbClr val="322D2A"/>
                </a:solidFill>
                <a:latin typeface="Segoe UI" pitchFamily="34" charset="0"/>
                <a:ea typeface="Segoe UI" pitchFamily="34" charset="-122"/>
                <a:cs typeface="Segoe UI" pitchFamily="34" charset="-120"/>
              </a:rPr>
              <a:t>300 т</a:t>
            </a:r>
            <a:endParaRPr lang="en-US" sz="2800" dirty="0"/>
          </a:p>
        </p:txBody>
      </p:sp>
      <p:sp>
        <p:nvSpPr>
          <p:cNvPr id="14" name="Text 11"/>
          <p:cNvSpPr txBox="1"/>
          <p:nvPr/>
        </p:nvSpPr>
        <p:spPr>
          <a:xfrm>
            <a:off x="3108960" y="3840480"/>
            <a:ext cx="2286000" cy="228600"/>
          </a:xfrm>
          <a:prstGeom prst="rect">
            <a:avLst/>
          </a:prstGeom>
          <a:noFill/>
          <a:ln/>
        </p:spPr>
        <p:txBody>
          <a:bodyPr wrap="square" lIns="0" tIns="0" rIns="0" bIns="0" rtlCol="0" anchor="t"/>
          <a:lstStyle/>
          <a:p>
            <a:pPr indent="0" marL="0">
              <a:buNone/>
            </a:pPr>
            <a:r>
              <a:rPr lang="en-US" sz="1100" dirty="0">
                <a:solidFill>
                  <a:srgbClr val="5A564E"/>
                </a:solidFill>
                <a:latin typeface="Segoe UI" pitchFamily="34" charset="0"/>
                <a:ea typeface="Segoe UI" pitchFamily="34" charset="-122"/>
                <a:cs typeface="Segoe UI" pitchFamily="34" charset="-120"/>
              </a:rPr>
              <a:t>Проверки</a:t>
            </a:r>
            <a:endParaRPr lang="en-US" sz="1100" dirty="0"/>
          </a:p>
        </p:txBody>
      </p:sp>
      <p:sp>
        <p:nvSpPr>
          <p:cNvPr id="15" name="Text 12"/>
          <p:cNvSpPr txBox="1"/>
          <p:nvPr/>
        </p:nvSpPr>
        <p:spPr>
          <a:xfrm>
            <a:off x="3063240" y="4169664"/>
            <a:ext cx="329184" cy="329184"/>
          </a:xfrm>
          <a:prstGeom prst="rect">
            <a:avLst/>
          </a:prstGeom>
          <a:noFill/>
          <a:ln/>
        </p:spPr>
        <p:txBody>
          <a:bodyPr wrap="square" lIns="0" tIns="0" rIns="0" bIns="0" rtlCol="0" anchor="ctr"/>
          <a:lstStyle/>
          <a:p>
            <a:pPr algn="ctr" indent="0" marL="0">
              <a:buNone/>
            </a:pPr>
            <a:r>
              <a:rPr lang="en-US" sz="1900" dirty="0">
                <a:solidFill>
                  <a:srgbClr val="1B7A3D"/>
                </a:solidFill>
                <a:latin typeface="Segoe UI Symbol" pitchFamily="34" charset="0"/>
                <a:ea typeface="Segoe UI Symbol" pitchFamily="34" charset="-122"/>
                <a:cs typeface="Segoe UI Symbol" pitchFamily="34" charset="-120"/>
              </a:rPr>
              <a:t>✓</a:t>
            </a:r>
            <a:endParaRPr lang="en-US" sz="1900" dirty="0"/>
          </a:p>
        </p:txBody>
      </p:sp>
      <p:sp>
        <p:nvSpPr>
          <p:cNvPr id="16" name="Text 13"/>
          <p:cNvSpPr txBox="1"/>
          <p:nvPr/>
        </p:nvSpPr>
        <p:spPr>
          <a:xfrm>
            <a:off x="3456432" y="4087368"/>
            <a:ext cx="2103120" cy="502920"/>
          </a:xfrm>
          <a:prstGeom prst="rect">
            <a:avLst/>
          </a:prstGeom>
          <a:noFill/>
          <a:ln/>
        </p:spPr>
        <p:txBody>
          <a:bodyPr wrap="square" lIns="0" tIns="0" rIns="0" bIns="0" rtlCol="0" anchor="ctr"/>
          <a:lstStyle/>
          <a:p>
            <a:pPr indent="0" marL="0">
              <a:buNone/>
            </a:pPr>
            <a:r>
              <a:rPr lang="en-US" sz="2200" dirty="0">
                <a:solidFill>
                  <a:srgbClr val="1B7A3D"/>
                </a:solidFill>
                <a:latin typeface="Segoe UI" pitchFamily="34" charset="0"/>
                <a:ea typeface="Segoe UI" pitchFamily="34" charset="-122"/>
                <a:cs typeface="Segoe UI" pitchFamily="34" charset="-120"/>
              </a:rPr>
              <a:t>пройдены</a:t>
            </a:r>
            <a:endParaRPr lang="en-US" sz="2200" dirty="0"/>
          </a:p>
        </p:txBody>
      </p:sp>
      <p:sp>
        <p:nvSpPr>
          <p:cNvPr id="17" name="Shape 14"/>
          <p:cNvSpPr/>
          <p:nvPr/>
        </p:nvSpPr>
        <p:spPr>
          <a:xfrm>
            <a:off x="868680" y="4937760"/>
            <a:ext cx="868680" cy="292608"/>
          </a:xfrm>
          <a:prstGeom prst="roundRect">
            <a:avLst>
              <a:gd name="adj" fmla="val 50000"/>
            </a:avLst>
          </a:prstGeom>
          <a:solidFill>
            <a:srgbClr val="E7E5DD"/>
          </a:solidFill>
          <a:ln/>
        </p:spPr>
      </p:sp>
      <p:sp>
        <p:nvSpPr>
          <p:cNvPr id="18" name="Text 15"/>
          <p:cNvSpPr txBox="1"/>
          <p:nvPr/>
        </p:nvSpPr>
        <p:spPr>
          <a:xfrm>
            <a:off x="868680" y="4937760"/>
            <a:ext cx="868680" cy="292608"/>
          </a:xfrm>
          <a:prstGeom prst="rect">
            <a:avLst/>
          </a:prstGeom>
          <a:noFill/>
          <a:ln/>
        </p:spPr>
        <p:txBody>
          <a:bodyPr wrap="square" lIns="0" tIns="0" rIns="0" bIns="0" rtlCol="0" anchor="ctr"/>
          <a:lstStyle/>
          <a:p>
            <a:pPr algn="ctr" indent="0" marL="0">
              <a:buNone/>
            </a:pPr>
            <a:r>
              <a:rPr lang="en-US" sz="1100" dirty="0">
                <a:solidFill>
                  <a:srgbClr val="322D2A"/>
                </a:solidFill>
                <a:latin typeface="Consolas" pitchFamily="34" charset="0"/>
                <a:ea typeface="Consolas" pitchFamily="34" charset="-122"/>
                <a:cs typeface="Consolas" pitchFamily="34" charset="-120"/>
              </a:rPr>
              <a:t>hold</a:t>
            </a:r>
            <a:endParaRPr lang="en-US" sz="1100" dirty="0"/>
          </a:p>
        </p:txBody>
      </p:sp>
      <p:sp>
        <p:nvSpPr>
          <p:cNvPr id="19" name="Shape 16"/>
          <p:cNvSpPr/>
          <p:nvPr/>
        </p:nvSpPr>
        <p:spPr>
          <a:xfrm>
            <a:off x="6233008" y="1874520"/>
            <a:ext cx="5410048" cy="3611880"/>
          </a:xfrm>
          <a:prstGeom prst="rect">
            <a:avLst/>
          </a:prstGeom>
          <a:solidFill>
            <a:srgbClr val="FFFFFF"/>
          </a:solidFill>
          <a:ln w="9525">
            <a:solidFill>
              <a:srgbClr val="322D2A"/>
            </a:solidFill>
            <a:prstDash val="solid"/>
          </a:ln>
        </p:spPr>
      </p:sp>
      <p:sp>
        <p:nvSpPr>
          <p:cNvPr id="20" name="Shape 17"/>
          <p:cNvSpPr/>
          <p:nvPr/>
        </p:nvSpPr>
        <p:spPr>
          <a:xfrm>
            <a:off x="6233008" y="1874520"/>
            <a:ext cx="5410048" cy="45720"/>
          </a:xfrm>
          <a:prstGeom prst="rect">
            <a:avLst/>
          </a:prstGeom>
          <a:solidFill>
            <a:srgbClr val="C1292E"/>
          </a:solidFill>
          <a:ln/>
        </p:spPr>
      </p:sp>
      <p:sp>
        <p:nvSpPr>
          <p:cNvPr id="21" name="Text 18"/>
          <p:cNvSpPr txBox="1"/>
          <p:nvPr/>
        </p:nvSpPr>
        <p:spPr>
          <a:xfrm>
            <a:off x="6553048" y="2167128"/>
            <a:ext cx="4769968" cy="201168"/>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ПЛОХИЕ ДАННЫЕ · 16.04.2026 10:10</a:t>
            </a:r>
            <a:endParaRPr lang="en-US" sz="1000" dirty="0"/>
          </a:p>
        </p:txBody>
      </p:sp>
      <p:sp>
        <p:nvSpPr>
          <p:cNvPr id="22" name="Text 19"/>
          <p:cNvSpPr txBox="1"/>
          <p:nvPr/>
        </p:nvSpPr>
        <p:spPr>
          <a:xfrm>
            <a:off x="6553048" y="2423160"/>
            <a:ext cx="4769968" cy="640080"/>
          </a:xfrm>
          <a:prstGeom prst="rect">
            <a:avLst/>
          </a:prstGeom>
          <a:noFill/>
          <a:ln/>
        </p:spPr>
        <p:txBody>
          <a:bodyPr wrap="square" lIns="0" tIns="0" rIns="0" bIns="0" rtlCol="0" anchor="ctr"/>
          <a:lstStyle/>
          <a:p>
            <a:pPr indent="0" marL="0">
              <a:buNone/>
            </a:pPr>
            <a:r>
              <a:rPr lang="en-US" sz="3400" dirty="0">
                <a:solidFill>
                  <a:srgbClr val="322D2A"/>
                </a:solidFill>
                <a:latin typeface="Segoe UI Light" pitchFamily="34" charset="0"/>
                <a:ea typeface="Segoe UI Light" pitchFamily="34" charset="-122"/>
                <a:cs typeface="Segoe UI Light" pitchFamily="34" charset="-120"/>
              </a:rPr>
              <a:t>Решение не выдано</a:t>
            </a:r>
            <a:endParaRPr lang="en-US" sz="3400" dirty="0"/>
          </a:p>
        </p:txBody>
      </p:sp>
      <p:sp>
        <p:nvSpPr>
          <p:cNvPr id="23" name="Text 20"/>
          <p:cNvSpPr txBox="1"/>
          <p:nvPr/>
        </p:nvSpPr>
        <p:spPr>
          <a:xfrm>
            <a:off x="6553048" y="3136392"/>
            <a:ext cx="4769968" cy="548640"/>
          </a:xfrm>
          <a:prstGeom prst="rect">
            <a:avLst/>
          </a:prstGeom>
          <a:noFill/>
          <a:ln/>
        </p:spPr>
        <p:txBody>
          <a:bodyPr wrap="square" lIns="0" tIns="0" rIns="0" bIns="0" rtlCol="0" anchor="t"/>
          <a:lstStyle/>
          <a:p>
            <a:pPr indent="0" marL="0">
              <a:buNone/>
            </a:pPr>
            <a:r>
              <a:rPr lang="en-US" sz="1300" dirty="0">
                <a:solidFill>
                  <a:srgbClr val="5A564E"/>
                </a:solidFill>
                <a:latin typeface="Segoe UI" pitchFamily="34" charset="0"/>
                <a:ea typeface="Segoe UI" pitchFamily="34" charset="-122"/>
                <a:cs typeface="Segoe UI" pitchFamily="34" charset="-120"/>
              </a:rPr>
              <a:t>Отказ до поиска плана: нет пригодного источника качества.</a:t>
            </a:r>
            <a:endParaRPr lang="en-US" sz="1300" dirty="0"/>
          </a:p>
        </p:txBody>
      </p:sp>
      <p:sp>
        <p:nvSpPr>
          <p:cNvPr id="24" name="Text 21"/>
          <p:cNvSpPr txBox="1"/>
          <p:nvPr/>
        </p:nvSpPr>
        <p:spPr>
          <a:xfrm>
            <a:off x="6553048" y="3840480"/>
            <a:ext cx="4769968" cy="228600"/>
          </a:xfrm>
          <a:prstGeom prst="rect">
            <a:avLst/>
          </a:prstGeom>
          <a:noFill/>
          <a:ln/>
        </p:spPr>
        <p:txBody>
          <a:bodyPr wrap="square" lIns="0" tIns="0" rIns="0" bIns="0" rtlCol="0" anchor="t"/>
          <a:lstStyle/>
          <a:p>
            <a:pPr indent="0" marL="0">
              <a:buNone/>
            </a:pPr>
            <a:r>
              <a:rPr lang="en-US" sz="1100" dirty="0">
                <a:solidFill>
                  <a:srgbClr val="5A564E"/>
                </a:solidFill>
                <a:latin typeface="Segoe UI" pitchFamily="34" charset="0"/>
                <a:ea typeface="Segoe UI" pitchFamily="34" charset="-122"/>
                <a:cs typeface="Segoe UI" pitchFamily="34" charset="-120"/>
              </a:rPr>
              <a:t>Что изменило бы решение</a:t>
            </a:r>
            <a:endParaRPr lang="en-US" sz="1100" dirty="0"/>
          </a:p>
        </p:txBody>
      </p:sp>
      <p:sp>
        <p:nvSpPr>
          <p:cNvPr id="25" name="Text 22"/>
          <p:cNvSpPr txBox="1"/>
          <p:nvPr/>
        </p:nvSpPr>
        <p:spPr>
          <a:xfrm>
            <a:off x="6507328" y="4142232"/>
            <a:ext cx="274320" cy="274320"/>
          </a:xfrm>
          <a:prstGeom prst="rect">
            <a:avLst/>
          </a:prstGeom>
          <a:noFill/>
          <a:ln/>
        </p:spPr>
        <p:txBody>
          <a:bodyPr wrap="square" lIns="0" tIns="0" rIns="0" bIns="0" rtlCol="0" anchor="ctr"/>
          <a:lstStyle/>
          <a:p>
            <a:pPr algn="ctr" indent="0" marL="0">
              <a:buNone/>
            </a:pPr>
            <a:r>
              <a:rPr lang="en-US" sz="1600" dirty="0">
                <a:solidFill>
                  <a:srgbClr val="8A4D0F"/>
                </a:solidFill>
                <a:latin typeface="Segoe UI Symbol" pitchFamily="34" charset="0"/>
                <a:ea typeface="Segoe UI Symbol" pitchFamily="34" charset="-122"/>
                <a:cs typeface="Segoe UI Symbol" pitchFamily="34" charset="-120"/>
              </a:rPr>
              <a:t>→</a:t>
            </a:r>
            <a:endParaRPr lang="en-US" sz="1600" dirty="0"/>
          </a:p>
        </p:txBody>
      </p:sp>
      <p:sp>
        <p:nvSpPr>
          <p:cNvPr id="26" name="Text 23"/>
          <p:cNvSpPr txBox="1"/>
          <p:nvPr/>
        </p:nvSpPr>
        <p:spPr>
          <a:xfrm>
            <a:off x="6873088" y="4142232"/>
            <a:ext cx="4495648" cy="274320"/>
          </a:xfrm>
          <a:prstGeom prst="rect">
            <a:avLst/>
          </a:prstGeom>
          <a:noFill/>
          <a:ln/>
        </p:spPr>
        <p:txBody>
          <a:bodyPr wrap="square" lIns="0" tIns="0" rIns="0" bIns="0" rtlCol="0" anchor="ctr"/>
          <a:lstStyle/>
          <a:p>
            <a:pPr indent="0" marL="0">
              <a:buNone/>
            </a:pPr>
            <a:r>
              <a:rPr lang="en-US" sz="1500" dirty="0">
                <a:solidFill>
                  <a:srgbClr val="322D2A"/>
                </a:solidFill>
                <a:latin typeface="Segoe UI" pitchFamily="34" charset="0"/>
                <a:ea typeface="Segoe UI" pitchFamily="34" charset="-122"/>
                <a:cs typeface="Segoe UI" pitchFamily="34" charset="-120"/>
              </a:rPr>
              <a:t>свежий лабораторный анализ</a:t>
            </a:r>
            <a:endParaRPr lang="en-US" sz="1500" dirty="0"/>
          </a:p>
        </p:txBody>
      </p:sp>
      <p:sp>
        <p:nvSpPr>
          <p:cNvPr id="27" name="Text 24"/>
          <p:cNvSpPr txBox="1"/>
          <p:nvPr/>
        </p:nvSpPr>
        <p:spPr>
          <a:xfrm>
            <a:off x="6507328" y="4480560"/>
            <a:ext cx="274320" cy="274320"/>
          </a:xfrm>
          <a:prstGeom prst="rect">
            <a:avLst/>
          </a:prstGeom>
          <a:noFill/>
          <a:ln/>
        </p:spPr>
        <p:txBody>
          <a:bodyPr wrap="square" lIns="0" tIns="0" rIns="0" bIns="0" rtlCol="0" anchor="ctr"/>
          <a:lstStyle/>
          <a:p>
            <a:pPr algn="ctr" indent="0" marL="0">
              <a:buNone/>
            </a:pPr>
            <a:r>
              <a:rPr lang="en-US" sz="1600" dirty="0">
                <a:solidFill>
                  <a:srgbClr val="8A4D0F"/>
                </a:solidFill>
                <a:latin typeface="Segoe UI Symbol" pitchFamily="34" charset="0"/>
                <a:ea typeface="Segoe UI Symbol" pitchFamily="34" charset="-122"/>
                <a:cs typeface="Segoe UI Symbol" pitchFamily="34" charset="-120"/>
              </a:rPr>
              <a:t>→</a:t>
            </a:r>
            <a:endParaRPr lang="en-US" sz="1600" dirty="0"/>
          </a:p>
        </p:txBody>
      </p:sp>
      <p:sp>
        <p:nvSpPr>
          <p:cNvPr id="28" name="Text 25"/>
          <p:cNvSpPr txBox="1"/>
          <p:nvPr/>
        </p:nvSpPr>
        <p:spPr>
          <a:xfrm>
            <a:off x="6873088" y="4480560"/>
            <a:ext cx="4495648" cy="274320"/>
          </a:xfrm>
          <a:prstGeom prst="rect">
            <a:avLst/>
          </a:prstGeom>
          <a:noFill/>
          <a:ln/>
        </p:spPr>
        <p:txBody>
          <a:bodyPr wrap="square" lIns="0" tIns="0" rIns="0" bIns="0" rtlCol="0" anchor="ctr"/>
          <a:lstStyle/>
          <a:p>
            <a:pPr indent="0" marL="0">
              <a:buNone/>
            </a:pPr>
            <a:r>
              <a:rPr lang="en-US" sz="1500" dirty="0">
                <a:solidFill>
                  <a:srgbClr val="322D2A"/>
                </a:solidFill>
                <a:latin typeface="Segoe UI" pitchFamily="34" charset="0"/>
                <a:ea typeface="Segoe UI" pitchFamily="34" charset="-122"/>
                <a:cs typeface="Segoe UI" pitchFamily="34" charset="-120"/>
              </a:rPr>
              <a:t>или исправный поточный анализатор</a:t>
            </a:r>
            <a:endParaRPr lang="en-US" sz="1500" dirty="0"/>
          </a:p>
        </p:txBody>
      </p:sp>
      <p:sp>
        <p:nvSpPr>
          <p:cNvPr id="29" name="Shape 26"/>
          <p:cNvSpPr/>
          <p:nvPr/>
        </p:nvSpPr>
        <p:spPr>
          <a:xfrm>
            <a:off x="6553048" y="4937760"/>
            <a:ext cx="868680" cy="292608"/>
          </a:xfrm>
          <a:prstGeom prst="roundRect">
            <a:avLst>
              <a:gd name="adj" fmla="val 50000"/>
            </a:avLst>
          </a:prstGeom>
          <a:solidFill>
            <a:srgbClr val="E7E5DD"/>
          </a:solidFill>
          <a:ln/>
        </p:spPr>
      </p:sp>
      <p:sp>
        <p:nvSpPr>
          <p:cNvPr id="30" name="Text 27"/>
          <p:cNvSpPr txBox="1"/>
          <p:nvPr/>
        </p:nvSpPr>
        <p:spPr>
          <a:xfrm>
            <a:off x="6553048" y="4937760"/>
            <a:ext cx="868680" cy="292608"/>
          </a:xfrm>
          <a:prstGeom prst="rect">
            <a:avLst/>
          </a:prstGeom>
          <a:noFill/>
          <a:ln/>
        </p:spPr>
        <p:txBody>
          <a:bodyPr wrap="square" lIns="0" tIns="0" rIns="0" bIns="0" rtlCol="0" anchor="ctr"/>
          <a:lstStyle/>
          <a:p>
            <a:pPr algn="ctr" indent="0" marL="0">
              <a:buNone/>
            </a:pPr>
            <a:r>
              <a:rPr lang="en-US" sz="1100" dirty="0">
                <a:solidFill>
                  <a:srgbClr val="322D2A"/>
                </a:solidFill>
                <a:latin typeface="Consolas" pitchFamily="34" charset="0"/>
                <a:ea typeface="Consolas" pitchFamily="34" charset="-122"/>
                <a:cs typeface="Consolas" pitchFamily="34" charset="-120"/>
              </a:rPr>
              <a:t>refuse</a:t>
            </a:r>
            <a:endParaRPr lang="en-US" sz="1100" dirty="0"/>
          </a:p>
        </p:txBody>
      </p:sp>
      <p:sp>
        <p:nvSpPr>
          <p:cNvPr id="31" name="Text 28"/>
          <p:cNvSpPr txBox="1"/>
          <p:nvPr/>
        </p:nvSpPr>
        <p:spPr>
          <a:xfrm>
            <a:off x="7558888" y="4965192"/>
            <a:ext cx="3764128" cy="237744"/>
          </a:xfrm>
          <a:prstGeom prst="rect">
            <a:avLst/>
          </a:prstGeom>
          <a:noFill/>
          <a:ln/>
        </p:spPr>
        <p:txBody>
          <a:bodyPr wrap="square" lIns="0" tIns="0" rIns="0" bIns="0" rtlCol="0" anchor="ctr"/>
          <a:lstStyle/>
          <a:p>
            <a:pPr indent="0" marL="0">
              <a:buNone/>
            </a:pPr>
            <a:r>
              <a:rPr lang="en-US" sz="900" spc="50" kern="0" dirty="0">
                <a:solidFill>
                  <a:srgbClr val="5A564E"/>
                </a:solidFill>
                <a:latin typeface="Consolas" pitchFamily="34" charset="0"/>
                <a:ea typeface="Consolas" pitchFamily="34" charset="-122"/>
                <a:cs typeface="Consolas" pitchFamily="34" charset="-120"/>
              </a:rPr>
              <a:t>источники испорчены искусственно</a:t>
            </a:r>
            <a:endParaRPr lang="en-US" sz="900" dirty="0"/>
          </a:p>
        </p:txBody>
      </p:sp>
      <p:sp>
        <p:nvSpPr>
          <p:cNvPr id="32" name="Shape 29"/>
          <p:cNvSpPr/>
          <p:nvPr/>
        </p:nvSpPr>
        <p:spPr>
          <a:xfrm>
            <a:off x="548640" y="5669280"/>
            <a:ext cx="11094415" cy="457200"/>
          </a:xfrm>
          <a:prstGeom prst="roundRect">
            <a:avLst>
              <a:gd name="adj" fmla="val 8000"/>
            </a:avLst>
          </a:prstGeom>
          <a:ln w="9525">
            <a:solidFill>
              <a:srgbClr val="8F8974"/>
            </a:solidFill>
            <a:prstDash val="dash"/>
          </a:ln>
        </p:spPr>
      </p:sp>
      <p:sp>
        <p:nvSpPr>
          <p:cNvPr id="33" name="Text 30"/>
          <p:cNvSpPr txBox="1"/>
          <p:nvPr/>
        </p:nvSpPr>
        <p:spPr>
          <a:xfrm>
            <a:off x="731520" y="5760720"/>
            <a:ext cx="274320" cy="274320"/>
          </a:xfrm>
          <a:prstGeom prst="rect">
            <a:avLst/>
          </a:prstGeom>
          <a:noFill/>
          <a:ln/>
        </p:spPr>
        <p:txBody>
          <a:bodyPr wrap="square" lIns="0" tIns="0" rIns="0" bIns="0" rtlCol="0" anchor="ctr"/>
          <a:lstStyle/>
          <a:p>
            <a:pPr algn="ctr" indent="0" marL="0">
              <a:buNone/>
            </a:pPr>
            <a:r>
              <a:rPr lang="en-US" sz="1600" dirty="0">
                <a:solidFill>
                  <a:srgbClr val="8A4D0F"/>
                </a:solidFill>
                <a:latin typeface="Segoe UI Symbol" pitchFamily="34" charset="0"/>
                <a:ea typeface="Segoe UI Symbol" pitchFamily="34" charset="-122"/>
                <a:cs typeface="Segoe UI Symbol" pitchFamily="34" charset="-120"/>
              </a:rPr>
              <a:t>→</a:t>
            </a:r>
            <a:endParaRPr lang="en-US" sz="1600" dirty="0"/>
          </a:p>
        </p:txBody>
      </p:sp>
      <p:sp>
        <p:nvSpPr>
          <p:cNvPr id="34" name="Text 31"/>
          <p:cNvSpPr txBox="1"/>
          <p:nvPr/>
        </p:nvSpPr>
        <p:spPr>
          <a:xfrm>
            <a:off x="1097280" y="5669280"/>
            <a:ext cx="10271455" cy="457200"/>
          </a:xfrm>
          <a:prstGeom prst="rect">
            <a:avLst/>
          </a:prstGeom>
          <a:noFill/>
          <a:ln/>
        </p:spPr>
        <p:txBody>
          <a:bodyPr wrap="square" lIns="0" tIns="0" rIns="0" bIns="0" rtlCol="0" anchor="ctr"/>
          <a:lstStyle/>
          <a:p>
            <a:pPr indent="0" marL="0">
              <a:buNone/>
            </a:pPr>
            <a:r>
              <a:rPr lang="en-US" sz="1300" dirty="0">
                <a:solidFill>
                  <a:srgbClr val="5A564E"/>
                </a:solidFill>
                <a:latin typeface="Segoe UI" pitchFamily="34" charset="0"/>
                <a:ea typeface="Segoe UI" pitchFamily="34" charset="-122"/>
                <a:cs typeface="Segoe UI" pitchFamily="34" charset="-120"/>
              </a:rPr>
              <a:t>Третий исход — «Изменить режим» — </a:t>
            </a:r>
            <a:pPr indent="0" marL="0">
              <a:buNone/>
            </a:pPr>
            <a:r>
              <a:rPr lang="en-US" sz="1300" dirty="0">
                <a:solidFill>
                  <a:srgbClr val="322D2A"/>
                </a:solidFill>
                <a:latin typeface="Segoe UI Semibold" pitchFamily="34" charset="0"/>
                <a:ea typeface="Segoe UI Semibold" pitchFamily="34" charset="-122"/>
                <a:cs typeface="Segoe UI Semibold" pitchFamily="34" charset="-120"/>
              </a:rPr>
              <a:t>риск-сценарий 24.07: 100 → 50 т/ч</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EFE9"/>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228600"/>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ВОСПРОИЗВОДИМОСТЬ И ГРАНИЦЫ</a:t>
            </a:r>
            <a:endParaRPr lang="en-US" sz="1000" dirty="0"/>
          </a:p>
        </p:txBody>
      </p:sp>
      <p:sp>
        <p:nvSpPr>
          <p:cNvPr id="3" name="Text 1"/>
          <p:cNvSpPr txBox="1"/>
          <p:nvPr/>
        </p:nvSpPr>
        <p:spPr>
          <a:xfrm>
            <a:off x="548640" y="731520"/>
            <a:ext cx="10424160" cy="566928"/>
          </a:xfrm>
          <a:prstGeom prst="rect">
            <a:avLst/>
          </a:prstGeom>
          <a:noFill/>
          <a:ln/>
        </p:spPr>
        <p:txBody>
          <a:bodyPr wrap="square" lIns="0" tIns="0" rIns="0" bIns="0" rtlCol="0" anchor="ctr"/>
          <a:lstStyle/>
          <a:p>
            <a:pPr indent="0" marL="0">
              <a:buNone/>
            </a:pPr>
            <a:r>
              <a:rPr lang="en-US" sz="3000" dirty="0">
                <a:solidFill>
                  <a:srgbClr val="322D2A"/>
                </a:solidFill>
                <a:latin typeface="Segoe UI Semibold" pitchFamily="34" charset="0"/>
                <a:ea typeface="Segoe UI Semibold" pitchFamily="34" charset="-122"/>
                <a:cs typeface="Segoe UI Semibold" pitchFamily="34" charset="-120"/>
              </a:rPr>
              <a:t>Расчёт повторяем, заводской эффект ещё не измерен</a:t>
            </a:r>
            <a:endParaRPr lang="en-US" sz="3000" dirty="0"/>
          </a:p>
        </p:txBody>
      </p:sp>
      <p:sp>
        <p:nvSpPr>
          <p:cNvPr id="4" name="Text 2"/>
          <p:cNvSpPr txBox="1"/>
          <p:nvPr/>
        </p:nvSpPr>
        <p:spPr>
          <a:xfrm>
            <a:off x="548640" y="1335024"/>
            <a:ext cx="10424160" cy="329184"/>
          </a:xfrm>
          <a:prstGeom prst="rect">
            <a:avLst/>
          </a:prstGeom>
          <a:noFill/>
          <a:ln/>
        </p:spPr>
        <p:txBody>
          <a:bodyPr wrap="square" lIns="0" tIns="0" rIns="0" bIns="0" rtlCol="0" anchor="ctr"/>
          <a:lstStyle/>
          <a:p>
            <a:pPr indent="0" marL="0">
              <a:buNone/>
            </a:pPr>
            <a:r>
              <a:rPr lang="en-US" sz="1500" dirty="0">
                <a:solidFill>
                  <a:srgbClr val="5A564E"/>
                </a:solidFill>
                <a:latin typeface="Segoe UI" pitchFamily="34" charset="0"/>
                <a:ea typeface="Segoe UI" pitchFamily="34" charset="-122"/>
                <a:cs typeface="Segoe UI" pitchFamily="34" charset="-120"/>
              </a:rPr>
              <a:t>Риск-сценарий пересчитан в отдельном процессе без HTTP-кеша.</a:t>
            </a:r>
            <a:endParaRPr lang="en-US" sz="1500" dirty="0"/>
          </a:p>
        </p:txBody>
      </p:sp>
      <p:pic>
        <p:nvPicPr>
          <p:cNvPr id="5" name="Image 0" descr="preencoded.png">    </p:cNvPr>
          <p:cNvPicPr>
            <a:picLocks noChangeAspect="1"/>
          </p:cNvPicPr>
          <p:nvPr/>
        </p:nvPicPr>
        <p:blipFill>
          <a:blip r:embed="rId1"/>
          <a:stretch>
            <a:fillRect/>
          </a:stretch>
        </p:blipFill>
        <p:spPr>
          <a:xfrm>
            <a:off x="11277295" y="420624"/>
            <a:ext cx="365760" cy="365760"/>
          </a:xfrm>
          <a:prstGeom prst="rect">
            <a:avLst/>
          </a:prstGeom>
        </p:spPr>
      </p:pic>
      <p:sp>
        <p:nvSpPr>
          <p:cNvPr id="6" name="Text 3"/>
          <p:cNvSpPr txBox="1"/>
          <p:nvPr/>
        </p:nvSpPr>
        <p:spPr>
          <a:xfrm>
            <a:off x="10180015" y="6309360"/>
            <a:ext cx="1463040" cy="228600"/>
          </a:xfrm>
          <a:prstGeom prst="rect">
            <a:avLst/>
          </a:prstGeom>
          <a:noFill/>
          <a:ln/>
        </p:spPr>
        <p:txBody>
          <a:bodyPr wrap="square" lIns="0" tIns="0" rIns="0" bIns="0" rtlCol="0" anchor="t"/>
          <a:lstStyle/>
          <a:p>
            <a:pPr algn="r" indent="0" marL="0">
              <a:buNone/>
            </a:pPr>
            <a:r>
              <a:rPr lang="en-US" sz="1100" spc="100" kern="0" dirty="0">
                <a:solidFill>
                  <a:srgbClr val="5A564E"/>
                </a:solidFill>
                <a:latin typeface="Consolas" pitchFamily="34" charset="0"/>
                <a:ea typeface="Consolas" pitchFamily="34" charset="-122"/>
                <a:cs typeface="Consolas" pitchFamily="34" charset="-120"/>
              </a:rPr>
              <a:t>09 / 10</a:t>
            </a:r>
            <a:endParaRPr lang="en-US" sz="1100" dirty="0"/>
          </a:p>
        </p:txBody>
      </p:sp>
      <p:sp>
        <p:nvSpPr>
          <p:cNvPr id="7" name="Text 4"/>
          <p:cNvSpPr txBox="1"/>
          <p:nvPr/>
        </p:nvSpPr>
        <p:spPr>
          <a:xfrm>
            <a:off x="548640" y="6291072"/>
            <a:ext cx="9692640" cy="274320"/>
          </a:xfrm>
          <a:prstGeom prst="rect">
            <a:avLst/>
          </a:prstGeom>
          <a:noFill/>
          <a:ln/>
        </p:spPr>
        <p:txBody>
          <a:bodyPr wrap="square" lIns="0" tIns="0" rIns="0" bIns="0" rtlCol="0" anchor="ctr"/>
          <a:lstStyle/>
          <a:p>
            <a:pPr indent="0" marL="0">
              <a:buNone/>
            </a:pPr>
            <a:r>
              <a:rPr lang="en-US" sz="1100" dirty="0">
                <a:solidFill>
                  <a:srgbClr val="5A564E"/>
                </a:solidFill>
                <a:latin typeface="Segoe UI" pitchFamily="34" charset="0"/>
                <a:ea typeface="Segoe UI" pitchFamily="34" charset="-122"/>
                <a:cs typeface="Segoe UI" pitchFamily="34" charset="-120"/>
              </a:rPr>
              <a:t>Совет не разрешает товарный выпуск: commercial_release_allowed = false во всех сценах.</a:t>
            </a:r>
            <a:endParaRPr lang="en-US" sz="1100" dirty="0"/>
          </a:p>
        </p:txBody>
      </p:sp>
      <p:sp>
        <p:nvSpPr>
          <p:cNvPr id="8" name="Shape 5"/>
          <p:cNvSpPr/>
          <p:nvPr/>
        </p:nvSpPr>
        <p:spPr>
          <a:xfrm>
            <a:off x="548640" y="1874520"/>
            <a:ext cx="3515258" cy="3931920"/>
          </a:xfrm>
          <a:prstGeom prst="roundRect">
            <a:avLst>
              <a:gd name="adj" fmla="val 1561"/>
            </a:avLst>
          </a:prstGeom>
          <a:solidFill>
            <a:srgbClr val="FFFFFF"/>
          </a:solidFill>
          <a:ln w="9525">
            <a:solidFill>
              <a:srgbClr val="322D2A"/>
            </a:solidFill>
            <a:prstDash val="solid"/>
          </a:ln>
        </p:spPr>
      </p:sp>
      <p:sp>
        <p:nvSpPr>
          <p:cNvPr id="9" name="Text 6"/>
          <p:cNvSpPr txBox="1"/>
          <p:nvPr/>
        </p:nvSpPr>
        <p:spPr>
          <a:xfrm>
            <a:off x="822960" y="2103120"/>
            <a:ext cx="2966618" cy="201168"/>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ПОВТОР РИСК-СЦЕНАРИЯ</a:t>
            </a:r>
            <a:endParaRPr lang="en-US" sz="1000" dirty="0"/>
          </a:p>
        </p:txBody>
      </p:sp>
      <p:sp>
        <p:nvSpPr>
          <p:cNvPr id="10" name="Text 7"/>
          <p:cNvSpPr txBox="1"/>
          <p:nvPr/>
        </p:nvSpPr>
        <p:spPr>
          <a:xfrm>
            <a:off x="822960" y="2331720"/>
            <a:ext cx="2966618" cy="640080"/>
          </a:xfrm>
          <a:prstGeom prst="rect">
            <a:avLst/>
          </a:prstGeom>
          <a:noFill/>
          <a:ln/>
        </p:spPr>
        <p:txBody>
          <a:bodyPr wrap="square" lIns="0" tIns="0" rIns="0" bIns="0" rtlCol="0" anchor="ctr"/>
          <a:lstStyle/>
          <a:p>
            <a:pPr indent="0" marL="0">
              <a:buNone/>
            </a:pPr>
            <a:r>
              <a:rPr lang="en-US" sz="3800" dirty="0">
                <a:solidFill>
                  <a:srgbClr val="322D2A"/>
                </a:solidFill>
                <a:latin typeface="Segoe UI Semibold" pitchFamily="34" charset="0"/>
                <a:ea typeface="Segoe UI Semibold" pitchFamily="34" charset="-122"/>
                <a:cs typeface="Segoe UI Semibold" pitchFamily="34" charset="-120"/>
              </a:rPr>
              <a:t>7 из 7</a:t>
            </a:r>
            <a:endParaRPr lang="en-US" sz="3800" dirty="0"/>
          </a:p>
        </p:txBody>
      </p:sp>
      <p:sp>
        <p:nvSpPr>
          <p:cNvPr id="11" name="Text 8"/>
          <p:cNvSpPr txBox="1"/>
          <p:nvPr/>
        </p:nvSpPr>
        <p:spPr>
          <a:xfrm>
            <a:off x="822960" y="2971800"/>
            <a:ext cx="2966618" cy="256032"/>
          </a:xfrm>
          <a:prstGeom prst="rect">
            <a:avLst/>
          </a:prstGeom>
          <a:noFill/>
          <a:ln/>
        </p:spPr>
        <p:txBody>
          <a:bodyPr wrap="square" lIns="0" tIns="0" rIns="0" bIns="0" rtlCol="0" anchor="t"/>
          <a:lstStyle/>
          <a:p>
            <a:pPr indent="0" marL="0">
              <a:buNone/>
            </a:pPr>
            <a:r>
              <a:rPr lang="en-US" sz="1200" dirty="0">
                <a:solidFill>
                  <a:srgbClr val="5A564E"/>
                </a:solidFill>
                <a:latin typeface="Segoe UI" pitchFamily="34" charset="0"/>
                <a:ea typeface="Segoe UI" pitchFamily="34" charset="-122"/>
                <a:cs typeface="Segoe UI" pitchFamily="34" charset="-120"/>
              </a:rPr>
              <a:t>полей совпали</a:t>
            </a:r>
            <a:endParaRPr lang="en-US" sz="1200" dirty="0"/>
          </a:p>
        </p:txBody>
      </p:sp>
      <p:sp>
        <p:nvSpPr>
          <p:cNvPr id="12" name="Text 9"/>
          <p:cNvSpPr txBox="1"/>
          <p:nvPr/>
        </p:nvSpPr>
        <p:spPr>
          <a:xfrm>
            <a:off x="786384" y="3355848"/>
            <a:ext cx="256032" cy="256032"/>
          </a:xfrm>
          <a:prstGeom prst="rect">
            <a:avLst/>
          </a:prstGeom>
          <a:noFill/>
          <a:ln/>
        </p:spPr>
        <p:txBody>
          <a:bodyPr wrap="square" lIns="0" tIns="0" rIns="0" bIns="0" rtlCol="0" anchor="ctr"/>
          <a:lstStyle/>
          <a:p>
            <a:pPr algn="ctr" indent="0" marL="0">
              <a:buNone/>
            </a:pPr>
            <a:r>
              <a:rPr lang="en-US" sz="1500" dirty="0">
                <a:solidFill>
                  <a:srgbClr val="1B7A3D"/>
                </a:solidFill>
                <a:latin typeface="Segoe UI Symbol" pitchFamily="34" charset="0"/>
                <a:ea typeface="Segoe UI Symbol" pitchFamily="34" charset="-122"/>
                <a:cs typeface="Segoe UI Symbol" pitchFamily="34" charset="-120"/>
              </a:rPr>
              <a:t>✓</a:t>
            </a:r>
            <a:endParaRPr lang="en-US" sz="1500" dirty="0"/>
          </a:p>
        </p:txBody>
      </p:sp>
      <p:sp>
        <p:nvSpPr>
          <p:cNvPr id="13" name="Text 10"/>
          <p:cNvSpPr txBox="1"/>
          <p:nvPr/>
        </p:nvSpPr>
        <p:spPr>
          <a:xfrm>
            <a:off x="1133856" y="3355848"/>
            <a:ext cx="2692298" cy="256032"/>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статус</a:t>
            </a:r>
            <a:endParaRPr lang="en-US" sz="1300" dirty="0"/>
          </a:p>
        </p:txBody>
      </p:sp>
      <p:sp>
        <p:nvSpPr>
          <p:cNvPr id="14" name="Text 11"/>
          <p:cNvSpPr txBox="1"/>
          <p:nvPr/>
        </p:nvSpPr>
        <p:spPr>
          <a:xfrm>
            <a:off x="786384" y="3675888"/>
            <a:ext cx="256032" cy="256032"/>
          </a:xfrm>
          <a:prstGeom prst="rect">
            <a:avLst/>
          </a:prstGeom>
          <a:noFill/>
          <a:ln/>
        </p:spPr>
        <p:txBody>
          <a:bodyPr wrap="square" lIns="0" tIns="0" rIns="0" bIns="0" rtlCol="0" anchor="ctr"/>
          <a:lstStyle/>
          <a:p>
            <a:pPr algn="ctr" indent="0" marL="0">
              <a:buNone/>
            </a:pPr>
            <a:r>
              <a:rPr lang="en-US" sz="1500" dirty="0">
                <a:solidFill>
                  <a:srgbClr val="1B7A3D"/>
                </a:solidFill>
                <a:latin typeface="Segoe UI Symbol" pitchFamily="34" charset="0"/>
                <a:ea typeface="Segoe UI Symbol" pitchFamily="34" charset="-122"/>
                <a:cs typeface="Segoe UI Symbol" pitchFamily="34" charset="-120"/>
              </a:rPr>
              <a:t>✓</a:t>
            </a:r>
            <a:endParaRPr lang="en-US" sz="1500" dirty="0"/>
          </a:p>
        </p:txBody>
      </p:sp>
      <p:sp>
        <p:nvSpPr>
          <p:cNvPr id="15" name="Text 12"/>
          <p:cNvSpPr txBox="1"/>
          <p:nvPr/>
        </p:nvSpPr>
        <p:spPr>
          <a:xfrm>
            <a:off x="1133856" y="3675888"/>
            <a:ext cx="2692298" cy="256032"/>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план c0001</a:t>
            </a:r>
            <a:endParaRPr lang="en-US" sz="1300" dirty="0"/>
          </a:p>
        </p:txBody>
      </p:sp>
      <p:sp>
        <p:nvSpPr>
          <p:cNvPr id="16" name="Text 13"/>
          <p:cNvSpPr txBox="1"/>
          <p:nvPr/>
        </p:nvSpPr>
        <p:spPr>
          <a:xfrm>
            <a:off x="786384" y="3995928"/>
            <a:ext cx="256032" cy="256032"/>
          </a:xfrm>
          <a:prstGeom prst="rect">
            <a:avLst/>
          </a:prstGeom>
          <a:noFill/>
          <a:ln/>
        </p:spPr>
        <p:txBody>
          <a:bodyPr wrap="square" lIns="0" tIns="0" rIns="0" bIns="0" rtlCol="0" anchor="ctr"/>
          <a:lstStyle/>
          <a:p>
            <a:pPr algn="ctr" indent="0" marL="0">
              <a:buNone/>
            </a:pPr>
            <a:r>
              <a:rPr lang="en-US" sz="1500" dirty="0">
                <a:solidFill>
                  <a:srgbClr val="1B7A3D"/>
                </a:solidFill>
                <a:latin typeface="Segoe UI Symbol" pitchFamily="34" charset="0"/>
                <a:ea typeface="Segoe UI Symbol" pitchFamily="34" charset="-122"/>
                <a:cs typeface="Segoe UI Symbol" pitchFamily="34" charset="-120"/>
              </a:rPr>
              <a:t>✓</a:t>
            </a:r>
            <a:endParaRPr lang="en-US" sz="1500" dirty="0"/>
          </a:p>
        </p:txBody>
      </p:sp>
      <p:sp>
        <p:nvSpPr>
          <p:cNvPr id="17" name="Text 14"/>
          <p:cNvSpPr txBox="1"/>
          <p:nvPr/>
        </p:nvSpPr>
        <p:spPr>
          <a:xfrm>
            <a:off x="1133856" y="3995928"/>
            <a:ext cx="2692298" cy="256032"/>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выпуск 150 т</a:t>
            </a:r>
            <a:endParaRPr lang="en-US" sz="1300" dirty="0"/>
          </a:p>
        </p:txBody>
      </p:sp>
      <p:sp>
        <p:nvSpPr>
          <p:cNvPr id="18" name="Text 15"/>
          <p:cNvSpPr txBox="1"/>
          <p:nvPr/>
        </p:nvSpPr>
        <p:spPr>
          <a:xfrm>
            <a:off x="786384" y="4315968"/>
            <a:ext cx="256032" cy="256032"/>
          </a:xfrm>
          <a:prstGeom prst="rect">
            <a:avLst/>
          </a:prstGeom>
          <a:noFill/>
          <a:ln/>
        </p:spPr>
        <p:txBody>
          <a:bodyPr wrap="square" lIns="0" tIns="0" rIns="0" bIns="0" rtlCol="0" anchor="ctr"/>
          <a:lstStyle/>
          <a:p>
            <a:pPr algn="ctr" indent="0" marL="0">
              <a:buNone/>
            </a:pPr>
            <a:r>
              <a:rPr lang="en-US" sz="1500" dirty="0">
                <a:solidFill>
                  <a:srgbClr val="1B7A3D"/>
                </a:solidFill>
                <a:latin typeface="Segoe UI Symbol" pitchFamily="34" charset="0"/>
                <a:ea typeface="Segoe UI Symbol" pitchFamily="34" charset="-122"/>
                <a:cs typeface="Segoe UI Symbol" pitchFamily="34" charset="-120"/>
              </a:rPr>
              <a:t>✓</a:t>
            </a:r>
            <a:endParaRPr lang="en-US" sz="1500" dirty="0"/>
          </a:p>
        </p:txBody>
      </p:sp>
      <p:sp>
        <p:nvSpPr>
          <p:cNvPr id="19" name="Text 16"/>
          <p:cNvSpPr txBox="1"/>
          <p:nvPr/>
        </p:nvSpPr>
        <p:spPr>
          <a:xfrm>
            <a:off x="1133856" y="4315968"/>
            <a:ext cx="2692298" cy="256032"/>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стоимость 1,05 у.е./т</a:t>
            </a:r>
            <a:endParaRPr lang="en-US" sz="1300" dirty="0"/>
          </a:p>
        </p:txBody>
      </p:sp>
      <p:sp>
        <p:nvSpPr>
          <p:cNvPr id="20" name="Text 17"/>
          <p:cNvSpPr txBox="1"/>
          <p:nvPr/>
        </p:nvSpPr>
        <p:spPr>
          <a:xfrm>
            <a:off x="786384" y="4636008"/>
            <a:ext cx="256032" cy="256032"/>
          </a:xfrm>
          <a:prstGeom prst="rect">
            <a:avLst/>
          </a:prstGeom>
          <a:noFill/>
          <a:ln/>
        </p:spPr>
        <p:txBody>
          <a:bodyPr wrap="square" lIns="0" tIns="0" rIns="0" bIns="0" rtlCol="0" anchor="ctr"/>
          <a:lstStyle/>
          <a:p>
            <a:pPr algn="ctr" indent="0" marL="0">
              <a:buNone/>
            </a:pPr>
            <a:r>
              <a:rPr lang="en-US" sz="1500" dirty="0">
                <a:solidFill>
                  <a:srgbClr val="1B7A3D"/>
                </a:solidFill>
                <a:latin typeface="Segoe UI Symbol" pitchFamily="34" charset="0"/>
                <a:ea typeface="Segoe UI Symbol" pitchFamily="34" charset="-122"/>
                <a:cs typeface="Segoe UI Symbol" pitchFamily="34" charset="-120"/>
              </a:rPr>
              <a:t>✓</a:t>
            </a:r>
            <a:endParaRPr lang="en-US" sz="1500" dirty="0"/>
          </a:p>
        </p:txBody>
      </p:sp>
      <p:sp>
        <p:nvSpPr>
          <p:cNvPr id="21" name="Text 18"/>
          <p:cNvSpPr txBox="1"/>
          <p:nvPr/>
        </p:nvSpPr>
        <p:spPr>
          <a:xfrm>
            <a:off x="1133856" y="4636008"/>
            <a:ext cx="2692298" cy="256032"/>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индекс тяжести 0,53455</a:t>
            </a:r>
            <a:endParaRPr lang="en-US" sz="1300" dirty="0"/>
          </a:p>
        </p:txBody>
      </p:sp>
      <p:sp>
        <p:nvSpPr>
          <p:cNvPr id="22" name="Text 19"/>
          <p:cNvSpPr txBox="1"/>
          <p:nvPr/>
        </p:nvSpPr>
        <p:spPr>
          <a:xfrm>
            <a:off x="786384" y="4956048"/>
            <a:ext cx="256032" cy="256032"/>
          </a:xfrm>
          <a:prstGeom prst="rect">
            <a:avLst/>
          </a:prstGeom>
          <a:noFill/>
          <a:ln/>
        </p:spPr>
        <p:txBody>
          <a:bodyPr wrap="square" lIns="0" tIns="0" rIns="0" bIns="0" rtlCol="0" anchor="ctr"/>
          <a:lstStyle/>
          <a:p>
            <a:pPr algn="ctr" indent="0" marL="0">
              <a:buNone/>
            </a:pPr>
            <a:r>
              <a:rPr lang="en-US" sz="1500" dirty="0">
                <a:solidFill>
                  <a:srgbClr val="1B7A3D"/>
                </a:solidFill>
                <a:latin typeface="Segoe UI Symbol" pitchFamily="34" charset="0"/>
                <a:ea typeface="Segoe UI Symbol" pitchFamily="34" charset="-122"/>
                <a:cs typeface="Segoe UI Symbol" pitchFamily="34" charset="-120"/>
              </a:rPr>
              <a:t>✓</a:t>
            </a:r>
            <a:endParaRPr lang="en-US" sz="1500" dirty="0"/>
          </a:p>
        </p:txBody>
      </p:sp>
      <p:sp>
        <p:nvSpPr>
          <p:cNvPr id="23" name="Text 20"/>
          <p:cNvSpPr txBox="1"/>
          <p:nvPr/>
        </p:nvSpPr>
        <p:spPr>
          <a:xfrm>
            <a:off x="1133856" y="4956048"/>
            <a:ext cx="2692298" cy="256032"/>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отпечаток входа</a:t>
            </a:r>
            <a:endParaRPr lang="en-US" sz="1300" dirty="0"/>
          </a:p>
        </p:txBody>
      </p:sp>
      <p:sp>
        <p:nvSpPr>
          <p:cNvPr id="24" name="Text 21"/>
          <p:cNvSpPr txBox="1"/>
          <p:nvPr/>
        </p:nvSpPr>
        <p:spPr>
          <a:xfrm>
            <a:off x="786384" y="5276088"/>
            <a:ext cx="256032" cy="256032"/>
          </a:xfrm>
          <a:prstGeom prst="rect">
            <a:avLst/>
          </a:prstGeom>
          <a:noFill/>
          <a:ln/>
        </p:spPr>
        <p:txBody>
          <a:bodyPr wrap="square" lIns="0" tIns="0" rIns="0" bIns="0" rtlCol="0" anchor="ctr"/>
          <a:lstStyle/>
          <a:p>
            <a:pPr algn="ctr" indent="0" marL="0">
              <a:buNone/>
            </a:pPr>
            <a:r>
              <a:rPr lang="en-US" sz="1500" dirty="0">
                <a:solidFill>
                  <a:srgbClr val="1B7A3D"/>
                </a:solidFill>
                <a:latin typeface="Segoe UI Symbol" pitchFamily="34" charset="0"/>
                <a:ea typeface="Segoe UI Symbol" pitchFamily="34" charset="-122"/>
                <a:cs typeface="Segoe UI Symbol" pitchFamily="34" charset="-120"/>
              </a:rPr>
              <a:t>✓</a:t>
            </a:r>
            <a:endParaRPr lang="en-US" sz="1500" dirty="0"/>
          </a:p>
        </p:txBody>
      </p:sp>
      <p:sp>
        <p:nvSpPr>
          <p:cNvPr id="25" name="Text 22"/>
          <p:cNvSpPr txBox="1"/>
          <p:nvPr/>
        </p:nvSpPr>
        <p:spPr>
          <a:xfrm>
            <a:off x="1133856" y="5276088"/>
            <a:ext cx="2692298" cy="256032"/>
          </a:xfrm>
          <a:prstGeom prst="rect">
            <a:avLst/>
          </a:prstGeom>
          <a:noFill/>
          <a:ln/>
        </p:spPr>
        <p:txBody>
          <a:bodyPr wrap="square" lIns="0" tIns="0" rIns="0" bIns="0" rtlCol="0" anchor="ctr"/>
          <a:lstStyle/>
          <a:p>
            <a:pPr indent="0" marL="0">
              <a:buNone/>
            </a:pPr>
            <a:r>
              <a:rPr lang="en-US" sz="1300" dirty="0">
                <a:solidFill>
                  <a:srgbClr val="322D2A"/>
                </a:solidFill>
                <a:latin typeface="Segoe UI" pitchFamily="34" charset="0"/>
                <a:ea typeface="Segoe UI" pitchFamily="34" charset="-122"/>
                <a:cs typeface="Segoe UI" pitchFamily="34" charset="-120"/>
              </a:rPr>
              <a:t>фазовое покрытие</a:t>
            </a:r>
            <a:endParaRPr lang="en-US" sz="1300" dirty="0"/>
          </a:p>
        </p:txBody>
      </p:sp>
      <p:sp>
        <p:nvSpPr>
          <p:cNvPr id="26" name="Shape 23"/>
          <p:cNvSpPr/>
          <p:nvPr/>
        </p:nvSpPr>
        <p:spPr>
          <a:xfrm>
            <a:off x="4338218" y="1874520"/>
            <a:ext cx="3515258" cy="3931920"/>
          </a:xfrm>
          <a:prstGeom prst="roundRect">
            <a:avLst>
              <a:gd name="adj" fmla="val 1561"/>
            </a:avLst>
          </a:prstGeom>
          <a:solidFill>
            <a:srgbClr val="E7E5DD"/>
          </a:solidFill>
          <a:ln/>
        </p:spPr>
      </p:sp>
      <p:sp>
        <p:nvSpPr>
          <p:cNvPr id="27" name="Text 24"/>
          <p:cNvSpPr txBox="1"/>
          <p:nvPr/>
        </p:nvSpPr>
        <p:spPr>
          <a:xfrm>
            <a:off x="4612538" y="2103120"/>
            <a:ext cx="2966618" cy="201168"/>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НЕ ИЗМЕРЕНО</a:t>
            </a:r>
            <a:endParaRPr lang="en-US" sz="1000" dirty="0"/>
          </a:p>
        </p:txBody>
      </p:sp>
      <p:sp>
        <p:nvSpPr>
          <p:cNvPr id="28" name="Text 25"/>
          <p:cNvSpPr txBox="1"/>
          <p:nvPr/>
        </p:nvSpPr>
        <p:spPr>
          <a:xfrm>
            <a:off x="4612538" y="2514600"/>
            <a:ext cx="274320" cy="329184"/>
          </a:xfrm>
          <a:prstGeom prst="rect">
            <a:avLst/>
          </a:prstGeom>
          <a:noFill/>
          <a:ln/>
        </p:spPr>
        <p:txBody>
          <a:bodyPr wrap="square" lIns="0" tIns="0" rIns="0" bIns="0" rtlCol="0" anchor="ctr"/>
          <a:lstStyle/>
          <a:p>
            <a:pPr indent="0" marL="0">
              <a:buNone/>
            </a:pPr>
            <a:r>
              <a:rPr lang="en-US" sz="1200" dirty="0">
                <a:solidFill>
                  <a:srgbClr val="5A564E"/>
                </a:solidFill>
                <a:latin typeface="Consolas" pitchFamily="34" charset="0"/>
                <a:ea typeface="Consolas" pitchFamily="34" charset="-122"/>
                <a:cs typeface="Consolas" pitchFamily="34" charset="-120"/>
              </a:rPr>
              <a:t>—</a:t>
            </a:r>
            <a:endParaRPr lang="en-US" sz="1200" dirty="0"/>
          </a:p>
        </p:txBody>
      </p:sp>
      <p:sp>
        <p:nvSpPr>
          <p:cNvPr id="29" name="Text 26"/>
          <p:cNvSpPr txBox="1"/>
          <p:nvPr/>
        </p:nvSpPr>
        <p:spPr>
          <a:xfrm>
            <a:off x="4932578" y="2514600"/>
            <a:ext cx="2646578" cy="329184"/>
          </a:xfrm>
          <a:prstGeom prst="rect">
            <a:avLst/>
          </a:prstGeom>
          <a:noFill/>
          <a:ln/>
        </p:spPr>
        <p:txBody>
          <a:bodyPr wrap="square" lIns="0" tIns="0" rIns="0" bIns="0" rtlCol="0" anchor="ctr"/>
          <a:lstStyle/>
          <a:p>
            <a:pPr indent="0" marL="0">
              <a:buNone/>
            </a:pPr>
            <a:r>
              <a:rPr lang="en-US" sz="1500" dirty="0">
                <a:solidFill>
                  <a:srgbClr val="322D2A"/>
                </a:solidFill>
                <a:latin typeface="Segoe UI" pitchFamily="34" charset="0"/>
                <a:ea typeface="Segoe UI" pitchFamily="34" charset="-122"/>
                <a:cs typeface="Segoe UI" pitchFamily="34" charset="-120"/>
              </a:rPr>
              <a:t>экономия завода</a:t>
            </a:r>
            <a:endParaRPr lang="en-US" sz="1500" dirty="0"/>
          </a:p>
        </p:txBody>
      </p:sp>
      <p:sp>
        <p:nvSpPr>
          <p:cNvPr id="30" name="Shape 27"/>
          <p:cNvSpPr/>
          <p:nvPr/>
        </p:nvSpPr>
        <p:spPr>
          <a:xfrm>
            <a:off x="4612538" y="2990088"/>
            <a:ext cx="2966618" cy="0"/>
          </a:xfrm>
          <a:prstGeom prst="line">
            <a:avLst/>
          </a:prstGeom>
          <a:noFill/>
          <a:ln w="9525">
            <a:solidFill>
              <a:srgbClr val="DCD9D0"/>
            </a:solidFill>
            <a:prstDash val="solid"/>
          </a:ln>
        </p:spPr>
      </p:sp>
      <p:sp>
        <p:nvSpPr>
          <p:cNvPr id="31" name="Text 28"/>
          <p:cNvSpPr txBox="1"/>
          <p:nvPr/>
        </p:nvSpPr>
        <p:spPr>
          <a:xfrm>
            <a:off x="4612538" y="3136392"/>
            <a:ext cx="274320" cy="329184"/>
          </a:xfrm>
          <a:prstGeom prst="rect">
            <a:avLst/>
          </a:prstGeom>
          <a:noFill/>
          <a:ln/>
        </p:spPr>
        <p:txBody>
          <a:bodyPr wrap="square" lIns="0" tIns="0" rIns="0" bIns="0" rtlCol="0" anchor="ctr"/>
          <a:lstStyle/>
          <a:p>
            <a:pPr indent="0" marL="0">
              <a:buNone/>
            </a:pPr>
            <a:r>
              <a:rPr lang="en-US" sz="1200" dirty="0">
                <a:solidFill>
                  <a:srgbClr val="5A564E"/>
                </a:solidFill>
                <a:latin typeface="Consolas" pitchFamily="34" charset="0"/>
                <a:ea typeface="Consolas" pitchFamily="34" charset="-122"/>
                <a:cs typeface="Consolas" pitchFamily="34" charset="-120"/>
              </a:rPr>
              <a:t>—</a:t>
            </a:r>
            <a:endParaRPr lang="en-US" sz="1200" dirty="0"/>
          </a:p>
        </p:txBody>
      </p:sp>
      <p:sp>
        <p:nvSpPr>
          <p:cNvPr id="32" name="Text 29"/>
          <p:cNvSpPr txBox="1"/>
          <p:nvPr/>
        </p:nvSpPr>
        <p:spPr>
          <a:xfrm>
            <a:off x="4932578" y="3136392"/>
            <a:ext cx="2646578" cy="329184"/>
          </a:xfrm>
          <a:prstGeom prst="rect">
            <a:avLst/>
          </a:prstGeom>
          <a:noFill/>
          <a:ln/>
        </p:spPr>
        <p:txBody>
          <a:bodyPr wrap="square" lIns="0" tIns="0" rIns="0" bIns="0" rtlCol="0" anchor="ctr"/>
          <a:lstStyle/>
          <a:p>
            <a:pPr indent="0" marL="0">
              <a:buNone/>
            </a:pPr>
            <a:r>
              <a:rPr lang="en-US" sz="1500" dirty="0">
                <a:solidFill>
                  <a:srgbClr val="322D2A"/>
                </a:solidFill>
                <a:latin typeface="Segoe UI" pitchFamily="34" charset="0"/>
                <a:ea typeface="Segoe UI" pitchFamily="34" charset="-122"/>
                <a:cs typeface="Segoe UI" pitchFamily="34" charset="-120"/>
              </a:rPr>
              <a:t>энергопотребление</a:t>
            </a:r>
            <a:endParaRPr lang="en-US" sz="1500" dirty="0"/>
          </a:p>
        </p:txBody>
      </p:sp>
      <p:sp>
        <p:nvSpPr>
          <p:cNvPr id="33" name="Shape 30"/>
          <p:cNvSpPr/>
          <p:nvPr/>
        </p:nvSpPr>
        <p:spPr>
          <a:xfrm>
            <a:off x="4612538" y="3611880"/>
            <a:ext cx="2966618" cy="0"/>
          </a:xfrm>
          <a:prstGeom prst="line">
            <a:avLst/>
          </a:prstGeom>
          <a:noFill/>
          <a:ln w="9525">
            <a:solidFill>
              <a:srgbClr val="DCD9D0"/>
            </a:solidFill>
            <a:prstDash val="solid"/>
          </a:ln>
        </p:spPr>
      </p:sp>
      <p:sp>
        <p:nvSpPr>
          <p:cNvPr id="34" name="Text 31"/>
          <p:cNvSpPr txBox="1"/>
          <p:nvPr/>
        </p:nvSpPr>
        <p:spPr>
          <a:xfrm>
            <a:off x="4612538" y="3758184"/>
            <a:ext cx="274320" cy="329184"/>
          </a:xfrm>
          <a:prstGeom prst="rect">
            <a:avLst/>
          </a:prstGeom>
          <a:noFill/>
          <a:ln/>
        </p:spPr>
        <p:txBody>
          <a:bodyPr wrap="square" lIns="0" tIns="0" rIns="0" bIns="0" rtlCol="0" anchor="ctr"/>
          <a:lstStyle/>
          <a:p>
            <a:pPr indent="0" marL="0">
              <a:buNone/>
            </a:pPr>
            <a:r>
              <a:rPr lang="en-US" sz="1200" dirty="0">
                <a:solidFill>
                  <a:srgbClr val="5A564E"/>
                </a:solidFill>
                <a:latin typeface="Consolas" pitchFamily="34" charset="0"/>
                <a:ea typeface="Consolas" pitchFamily="34" charset="-122"/>
                <a:cs typeface="Consolas" pitchFamily="34" charset="-120"/>
              </a:rPr>
              <a:t>—</a:t>
            </a:r>
            <a:endParaRPr lang="en-US" sz="1200" dirty="0"/>
          </a:p>
        </p:txBody>
      </p:sp>
      <p:sp>
        <p:nvSpPr>
          <p:cNvPr id="35" name="Text 32"/>
          <p:cNvSpPr txBox="1"/>
          <p:nvPr/>
        </p:nvSpPr>
        <p:spPr>
          <a:xfrm>
            <a:off x="4932578" y="3758184"/>
            <a:ext cx="2646578" cy="329184"/>
          </a:xfrm>
          <a:prstGeom prst="rect">
            <a:avLst/>
          </a:prstGeom>
          <a:noFill/>
          <a:ln/>
        </p:spPr>
        <p:txBody>
          <a:bodyPr wrap="square" lIns="0" tIns="0" rIns="0" bIns="0" rtlCol="0" anchor="ctr"/>
          <a:lstStyle/>
          <a:p>
            <a:pPr indent="0" marL="0">
              <a:buNone/>
            </a:pPr>
            <a:r>
              <a:rPr lang="en-US" sz="1500" dirty="0">
                <a:solidFill>
                  <a:srgbClr val="322D2A"/>
                </a:solidFill>
                <a:latin typeface="Segoe UI" pitchFamily="34" charset="0"/>
                <a:ea typeface="Segoe UI" pitchFamily="34" charset="-122"/>
                <a:cs typeface="Segoe UI" pitchFamily="34" charset="-120"/>
              </a:rPr>
              <a:t>причинный эффект уставки</a:t>
            </a:r>
            <a:endParaRPr lang="en-US" sz="1500" dirty="0"/>
          </a:p>
        </p:txBody>
      </p:sp>
      <p:sp>
        <p:nvSpPr>
          <p:cNvPr id="36" name="Shape 33"/>
          <p:cNvSpPr/>
          <p:nvPr/>
        </p:nvSpPr>
        <p:spPr>
          <a:xfrm>
            <a:off x="4612538" y="4233672"/>
            <a:ext cx="2966618" cy="0"/>
          </a:xfrm>
          <a:prstGeom prst="line">
            <a:avLst/>
          </a:prstGeom>
          <a:noFill/>
          <a:ln w="9525">
            <a:solidFill>
              <a:srgbClr val="DCD9D0"/>
            </a:solidFill>
            <a:prstDash val="solid"/>
          </a:ln>
        </p:spPr>
      </p:sp>
      <p:sp>
        <p:nvSpPr>
          <p:cNvPr id="37" name="Text 34"/>
          <p:cNvSpPr txBox="1"/>
          <p:nvPr/>
        </p:nvSpPr>
        <p:spPr>
          <a:xfrm>
            <a:off x="4612538" y="4379976"/>
            <a:ext cx="274320" cy="329184"/>
          </a:xfrm>
          <a:prstGeom prst="rect">
            <a:avLst/>
          </a:prstGeom>
          <a:noFill/>
          <a:ln/>
        </p:spPr>
        <p:txBody>
          <a:bodyPr wrap="square" lIns="0" tIns="0" rIns="0" bIns="0" rtlCol="0" anchor="ctr"/>
          <a:lstStyle/>
          <a:p>
            <a:pPr indent="0" marL="0">
              <a:buNone/>
            </a:pPr>
            <a:r>
              <a:rPr lang="en-US" sz="1200" dirty="0">
                <a:solidFill>
                  <a:srgbClr val="5A564E"/>
                </a:solidFill>
                <a:latin typeface="Consolas" pitchFamily="34" charset="0"/>
                <a:ea typeface="Consolas" pitchFamily="34" charset="-122"/>
                <a:cs typeface="Consolas" pitchFamily="34" charset="-120"/>
              </a:rPr>
              <a:t>—</a:t>
            </a:r>
            <a:endParaRPr lang="en-US" sz="1200" dirty="0"/>
          </a:p>
        </p:txBody>
      </p:sp>
      <p:sp>
        <p:nvSpPr>
          <p:cNvPr id="38" name="Text 35"/>
          <p:cNvSpPr txBox="1"/>
          <p:nvPr/>
        </p:nvSpPr>
        <p:spPr>
          <a:xfrm>
            <a:off x="4932578" y="4379976"/>
            <a:ext cx="2646578" cy="329184"/>
          </a:xfrm>
          <a:prstGeom prst="rect">
            <a:avLst/>
          </a:prstGeom>
          <a:noFill/>
          <a:ln/>
        </p:spPr>
        <p:txBody>
          <a:bodyPr wrap="square" lIns="0" tIns="0" rIns="0" bIns="0" rtlCol="0" anchor="ctr"/>
          <a:lstStyle/>
          <a:p>
            <a:pPr indent="0" marL="0">
              <a:buNone/>
            </a:pPr>
            <a:r>
              <a:rPr lang="en-US" sz="1500" dirty="0">
                <a:solidFill>
                  <a:srgbClr val="322D2A"/>
                </a:solidFill>
                <a:latin typeface="Segoe UI" pitchFamily="34" charset="0"/>
                <a:ea typeface="Segoe UI" pitchFamily="34" charset="-122"/>
                <a:cs typeface="Segoe UI" pitchFamily="34" charset="-120"/>
              </a:rPr>
              <a:t>польза живой LLM</a:t>
            </a:r>
            <a:endParaRPr lang="en-US" sz="1500" dirty="0"/>
          </a:p>
        </p:txBody>
      </p:sp>
      <p:sp>
        <p:nvSpPr>
          <p:cNvPr id="39" name="Shape 36"/>
          <p:cNvSpPr/>
          <p:nvPr/>
        </p:nvSpPr>
        <p:spPr>
          <a:xfrm>
            <a:off x="4612538" y="4855464"/>
            <a:ext cx="2966618" cy="0"/>
          </a:xfrm>
          <a:prstGeom prst="line">
            <a:avLst/>
          </a:prstGeom>
          <a:noFill/>
          <a:ln w="9525">
            <a:solidFill>
              <a:srgbClr val="DCD9D0"/>
            </a:solidFill>
            <a:prstDash val="solid"/>
          </a:ln>
        </p:spPr>
      </p:sp>
      <p:sp>
        <p:nvSpPr>
          <p:cNvPr id="40" name="Text 37"/>
          <p:cNvSpPr txBox="1"/>
          <p:nvPr/>
        </p:nvSpPr>
        <p:spPr>
          <a:xfrm>
            <a:off x="4612538" y="5001768"/>
            <a:ext cx="274320" cy="329184"/>
          </a:xfrm>
          <a:prstGeom prst="rect">
            <a:avLst/>
          </a:prstGeom>
          <a:noFill/>
          <a:ln/>
        </p:spPr>
        <p:txBody>
          <a:bodyPr wrap="square" lIns="0" tIns="0" rIns="0" bIns="0" rtlCol="0" anchor="ctr"/>
          <a:lstStyle/>
          <a:p>
            <a:pPr indent="0" marL="0">
              <a:buNone/>
            </a:pPr>
            <a:r>
              <a:rPr lang="en-US" sz="1200" dirty="0">
                <a:solidFill>
                  <a:srgbClr val="5A564E"/>
                </a:solidFill>
                <a:latin typeface="Consolas" pitchFamily="34" charset="0"/>
                <a:ea typeface="Consolas" pitchFamily="34" charset="-122"/>
                <a:cs typeface="Consolas" pitchFamily="34" charset="-120"/>
              </a:rPr>
              <a:t>—</a:t>
            </a:r>
            <a:endParaRPr lang="en-US" sz="1200" dirty="0"/>
          </a:p>
        </p:txBody>
      </p:sp>
      <p:sp>
        <p:nvSpPr>
          <p:cNvPr id="41" name="Text 38"/>
          <p:cNvSpPr txBox="1"/>
          <p:nvPr/>
        </p:nvSpPr>
        <p:spPr>
          <a:xfrm>
            <a:off x="4932578" y="5001768"/>
            <a:ext cx="2646578" cy="329184"/>
          </a:xfrm>
          <a:prstGeom prst="rect">
            <a:avLst/>
          </a:prstGeom>
          <a:noFill/>
          <a:ln/>
        </p:spPr>
        <p:txBody>
          <a:bodyPr wrap="square" lIns="0" tIns="0" rIns="0" bIns="0" rtlCol="0" anchor="ctr"/>
          <a:lstStyle/>
          <a:p>
            <a:pPr indent="0" marL="0">
              <a:buNone/>
            </a:pPr>
            <a:r>
              <a:rPr lang="en-US" sz="1500" dirty="0">
                <a:solidFill>
                  <a:srgbClr val="322D2A"/>
                </a:solidFill>
                <a:latin typeface="Segoe UI" pitchFamily="34" charset="0"/>
                <a:ea typeface="Segoe UI" pitchFamily="34" charset="-122"/>
                <a:cs typeface="Segoe UI" pitchFamily="34" charset="-120"/>
              </a:rPr>
              <a:t>ресурс оборудования</a:t>
            </a:r>
            <a:endParaRPr lang="en-US" sz="1500" dirty="0"/>
          </a:p>
        </p:txBody>
      </p:sp>
      <p:sp>
        <p:nvSpPr>
          <p:cNvPr id="42" name="Shape 39"/>
          <p:cNvSpPr/>
          <p:nvPr/>
        </p:nvSpPr>
        <p:spPr>
          <a:xfrm>
            <a:off x="8127797" y="1874520"/>
            <a:ext cx="3515258" cy="3931920"/>
          </a:xfrm>
          <a:prstGeom prst="roundRect">
            <a:avLst>
              <a:gd name="adj" fmla="val 1561"/>
            </a:avLst>
          </a:prstGeom>
          <a:solidFill>
            <a:srgbClr val="FFFFFF"/>
          </a:solidFill>
          <a:ln w="9525">
            <a:solidFill>
              <a:srgbClr val="322D2A"/>
            </a:solidFill>
            <a:prstDash val="solid"/>
          </a:ln>
        </p:spPr>
      </p:sp>
      <p:sp>
        <p:nvSpPr>
          <p:cNvPr id="43" name="Text 40"/>
          <p:cNvSpPr txBox="1"/>
          <p:nvPr/>
        </p:nvSpPr>
        <p:spPr>
          <a:xfrm>
            <a:off x="8402117" y="2103120"/>
            <a:ext cx="2966618" cy="201168"/>
          </a:xfrm>
          <a:prstGeom prst="rect">
            <a:avLst/>
          </a:prstGeom>
          <a:noFill/>
          <a:ln/>
        </p:spPr>
        <p:txBody>
          <a:bodyPr wrap="square" lIns="0" tIns="0" rIns="0" bIns="0" rtlCol="0" anchor="t"/>
          <a:lstStyle/>
          <a:p>
            <a:pPr indent="0" marL="0">
              <a:buNone/>
            </a:pPr>
            <a:r>
              <a:rPr lang="en-US" sz="1000" spc="150" kern="0" dirty="0">
                <a:solidFill>
                  <a:srgbClr val="5A564E"/>
                </a:solidFill>
                <a:latin typeface="Consolas" pitchFamily="34" charset="0"/>
                <a:ea typeface="Consolas" pitchFamily="34" charset="-122"/>
                <a:cs typeface="Consolas" pitchFamily="34" charset="-120"/>
              </a:rPr>
              <a:t>СЛЕДУЮЩИЙ ШАГ</a:t>
            </a:r>
            <a:endParaRPr lang="en-US" sz="1000" dirty="0"/>
          </a:p>
        </p:txBody>
      </p:sp>
      <p:sp>
        <p:nvSpPr>
          <p:cNvPr id="44" name="Text 41"/>
          <p:cNvSpPr txBox="1"/>
          <p:nvPr/>
        </p:nvSpPr>
        <p:spPr>
          <a:xfrm>
            <a:off x="8402117" y="2331720"/>
            <a:ext cx="2966618" cy="640080"/>
          </a:xfrm>
          <a:prstGeom prst="rect">
            <a:avLst/>
          </a:prstGeom>
          <a:noFill/>
          <a:ln/>
        </p:spPr>
        <p:txBody>
          <a:bodyPr wrap="square" lIns="0" tIns="0" rIns="0" bIns="0" rtlCol="0" anchor="ctr"/>
          <a:lstStyle/>
          <a:p>
            <a:pPr indent="0" marL="0">
              <a:buNone/>
            </a:pPr>
            <a:r>
              <a:rPr lang="en-US" sz="2000" dirty="0">
                <a:solidFill>
                  <a:srgbClr val="322D2A"/>
                </a:solidFill>
                <a:latin typeface="Segoe UI Semibold" pitchFamily="34" charset="0"/>
                <a:ea typeface="Segoe UI Semibold" pitchFamily="34" charset="-122"/>
                <a:cs typeface="Segoe UI Semibold" pitchFamily="34" charset="-120"/>
              </a:rPr>
              <a:t>Наблюдательный пилот</a:t>
            </a:r>
            <a:endParaRPr lang="en-US" sz="2000" dirty="0"/>
          </a:p>
        </p:txBody>
      </p:sp>
      <p:sp>
        <p:nvSpPr>
          <p:cNvPr id="45" name="Shape 42"/>
          <p:cNvSpPr/>
          <p:nvPr/>
        </p:nvSpPr>
        <p:spPr>
          <a:xfrm>
            <a:off x="8402117" y="3200400"/>
            <a:ext cx="329184" cy="329184"/>
          </a:xfrm>
          <a:prstGeom prst="ellipse">
            <a:avLst/>
          </a:prstGeom>
          <a:solidFill>
            <a:srgbClr val="FFFFFF"/>
          </a:solidFill>
          <a:ln w="12700">
            <a:solidFill>
              <a:srgbClr val="322D2A"/>
            </a:solidFill>
            <a:prstDash val="solid"/>
          </a:ln>
        </p:spPr>
      </p:sp>
      <p:sp>
        <p:nvSpPr>
          <p:cNvPr id="46" name="Text 43"/>
          <p:cNvSpPr txBox="1"/>
          <p:nvPr/>
        </p:nvSpPr>
        <p:spPr>
          <a:xfrm>
            <a:off x="8402117" y="3200400"/>
            <a:ext cx="329184" cy="329184"/>
          </a:xfrm>
          <a:prstGeom prst="rect">
            <a:avLst/>
          </a:prstGeom>
          <a:noFill/>
          <a:ln/>
        </p:spPr>
        <p:txBody>
          <a:bodyPr wrap="square" lIns="0" tIns="0" rIns="0" bIns="0" rtlCol="0" anchor="ctr"/>
          <a:lstStyle/>
          <a:p>
            <a:pPr algn="ctr" indent="0" marL="0">
              <a:buNone/>
            </a:pPr>
            <a:r>
              <a:rPr lang="en-US" sz="1100" dirty="0">
                <a:solidFill>
                  <a:srgbClr val="322D2A"/>
                </a:solidFill>
                <a:latin typeface="Consolas" pitchFamily="34" charset="0"/>
                <a:ea typeface="Consolas" pitchFamily="34" charset="-122"/>
                <a:cs typeface="Consolas" pitchFamily="34" charset="-120"/>
              </a:rPr>
              <a:t>1</a:t>
            </a:r>
            <a:endParaRPr lang="en-US" sz="1100" dirty="0"/>
          </a:p>
        </p:txBody>
      </p:sp>
      <p:sp>
        <p:nvSpPr>
          <p:cNvPr id="47" name="Text 44"/>
          <p:cNvSpPr txBox="1"/>
          <p:nvPr/>
        </p:nvSpPr>
        <p:spPr>
          <a:xfrm>
            <a:off x="8905037" y="3163824"/>
            <a:ext cx="2463698" cy="640080"/>
          </a:xfrm>
          <a:prstGeom prst="rect">
            <a:avLst/>
          </a:prstGeom>
          <a:noFill/>
          <a:ln/>
        </p:spPr>
        <p:txBody>
          <a:bodyPr wrap="square" lIns="0" tIns="0" rIns="0" bIns="0" rtlCol="0" anchor="t"/>
          <a:lstStyle/>
          <a:p>
            <a:pPr indent="0" marL="0">
              <a:buNone/>
            </a:pPr>
            <a:r>
              <a:rPr lang="en-US" sz="1400" dirty="0">
                <a:solidFill>
                  <a:srgbClr val="322D2A"/>
                </a:solidFill>
                <a:latin typeface="Segoe UI" pitchFamily="34" charset="0"/>
                <a:ea typeface="Segoe UI" pitchFamily="34" charset="-122"/>
                <a:cs typeface="Segoe UI" pitchFamily="34" charset="-120"/>
              </a:rPr>
              <a:t>реальные уровни и паспорта партий</a:t>
            </a:r>
            <a:endParaRPr lang="en-US" sz="1400" dirty="0"/>
          </a:p>
        </p:txBody>
      </p:sp>
      <p:sp>
        <p:nvSpPr>
          <p:cNvPr id="48" name="Shape 45"/>
          <p:cNvSpPr/>
          <p:nvPr/>
        </p:nvSpPr>
        <p:spPr>
          <a:xfrm>
            <a:off x="8402117" y="3977640"/>
            <a:ext cx="329184" cy="329184"/>
          </a:xfrm>
          <a:prstGeom prst="ellipse">
            <a:avLst/>
          </a:prstGeom>
          <a:solidFill>
            <a:srgbClr val="FFFFFF"/>
          </a:solidFill>
          <a:ln w="12700">
            <a:solidFill>
              <a:srgbClr val="322D2A"/>
            </a:solidFill>
            <a:prstDash val="solid"/>
          </a:ln>
        </p:spPr>
      </p:sp>
      <p:sp>
        <p:nvSpPr>
          <p:cNvPr id="49" name="Text 46"/>
          <p:cNvSpPr txBox="1"/>
          <p:nvPr/>
        </p:nvSpPr>
        <p:spPr>
          <a:xfrm>
            <a:off x="8402117" y="3977640"/>
            <a:ext cx="329184" cy="329184"/>
          </a:xfrm>
          <a:prstGeom prst="rect">
            <a:avLst/>
          </a:prstGeom>
          <a:noFill/>
          <a:ln/>
        </p:spPr>
        <p:txBody>
          <a:bodyPr wrap="square" lIns="0" tIns="0" rIns="0" bIns="0" rtlCol="0" anchor="ctr"/>
          <a:lstStyle/>
          <a:p>
            <a:pPr algn="ctr" indent="0" marL="0">
              <a:buNone/>
            </a:pPr>
            <a:r>
              <a:rPr lang="en-US" sz="1100" dirty="0">
                <a:solidFill>
                  <a:srgbClr val="322D2A"/>
                </a:solidFill>
                <a:latin typeface="Consolas" pitchFamily="34" charset="0"/>
                <a:ea typeface="Consolas" pitchFamily="34" charset="-122"/>
                <a:cs typeface="Consolas" pitchFamily="34" charset="-120"/>
              </a:rPr>
              <a:t>2</a:t>
            </a:r>
            <a:endParaRPr lang="en-US" sz="1100" dirty="0"/>
          </a:p>
        </p:txBody>
      </p:sp>
      <p:sp>
        <p:nvSpPr>
          <p:cNvPr id="50" name="Text 47"/>
          <p:cNvSpPr txBox="1"/>
          <p:nvPr/>
        </p:nvSpPr>
        <p:spPr>
          <a:xfrm>
            <a:off x="8905037" y="3941064"/>
            <a:ext cx="2463698" cy="640080"/>
          </a:xfrm>
          <a:prstGeom prst="rect">
            <a:avLst/>
          </a:prstGeom>
          <a:noFill/>
          <a:ln/>
        </p:spPr>
        <p:txBody>
          <a:bodyPr wrap="square" lIns="0" tIns="0" rIns="0" bIns="0" rtlCol="0" anchor="t"/>
          <a:lstStyle/>
          <a:p>
            <a:pPr indent="0" marL="0">
              <a:buNone/>
            </a:pPr>
            <a:r>
              <a:rPr lang="en-US" sz="1400" dirty="0">
                <a:solidFill>
                  <a:srgbClr val="322D2A"/>
                </a:solidFill>
                <a:latin typeface="Segoe UI" pitchFamily="34" charset="0"/>
                <a:ea typeface="Segoe UI" pitchFamily="34" charset="-122"/>
                <a:cs typeface="Segoe UI" pitchFamily="34" charset="-120"/>
              </a:rPr>
              <a:t>подтверждение отклика на установке</a:t>
            </a:r>
            <a:endParaRPr lang="en-US" sz="1400" dirty="0"/>
          </a:p>
        </p:txBody>
      </p:sp>
      <p:sp>
        <p:nvSpPr>
          <p:cNvPr id="51" name="Shape 48"/>
          <p:cNvSpPr/>
          <p:nvPr/>
        </p:nvSpPr>
        <p:spPr>
          <a:xfrm>
            <a:off x="8402117" y="4754880"/>
            <a:ext cx="329184" cy="329184"/>
          </a:xfrm>
          <a:prstGeom prst="ellipse">
            <a:avLst/>
          </a:prstGeom>
          <a:solidFill>
            <a:srgbClr val="FFFFFF"/>
          </a:solidFill>
          <a:ln w="12700">
            <a:solidFill>
              <a:srgbClr val="322D2A"/>
            </a:solidFill>
            <a:prstDash val="solid"/>
          </a:ln>
        </p:spPr>
      </p:sp>
      <p:sp>
        <p:nvSpPr>
          <p:cNvPr id="52" name="Text 49"/>
          <p:cNvSpPr txBox="1"/>
          <p:nvPr/>
        </p:nvSpPr>
        <p:spPr>
          <a:xfrm>
            <a:off x="8402117" y="4754880"/>
            <a:ext cx="329184" cy="329184"/>
          </a:xfrm>
          <a:prstGeom prst="rect">
            <a:avLst/>
          </a:prstGeom>
          <a:noFill/>
          <a:ln/>
        </p:spPr>
        <p:txBody>
          <a:bodyPr wrap="square" lIns="0" tIns="0" rIns="0" bIns="0" rtlCol="0" anchor="ctr"/>
          <a:lstStyle/>
          <a:p>
            <a:pPr algn="ctr" indent="0" marL="0">
              <a:buNone/>
            </a:pPr>
            <a:r>
              <a:rPr lang="en-US" sz="1100" dirty="0">
                <a:solidFill>
                  <a:srgbClr val="322D2A"/>
                </a:solidFill>
                <a:latin typeface="Consolas" pitchFamily="34" charset="0"/>
                <a:ea typeface="Consolas" pitchFamily="34" charset="-122"/>
                <a:cs typeface="Consolas" pitchFamily="34" charset="-120"/>
              </a:rPr>
              <a:t>3</a:t>
            </a:r>
            <a:endParaRPr lang="en-US" sz="1100" dirty="0"/>
          </a:p>
        </p:txBody>
      </p:sp>
      <p:sp>
        <p:nvSpPr>
          <p:cNvPr id="53" name="Text 50"/>
          <p:cNvSpPr txBox="1"/>
          <p:nvPr/>
        </p:nvSpPr>
        <p:spPr>
          <a:xfrm>
            <a:off x="8905037" y="4718304"/>
            <a:ext cx="2463698" cy="640080"/>
          </a:xfrm>
          <a:prstGeom prst="rect">
            <a:avLst/>
          </a:prstGeom>
          <a:noFill/>
          <a:ln/>
        </p:spPr>
        <p:txBody>
          <a:bodyPr wrap="square" lIns="0" tIns="0" rIns="0" bIns="0" rtlCol="0" anchor="t"/>
          <a:lstStyle/>
          <a:p>
            <a:pPr indent="0" marL="0">
              <a:buNone/>
            </a:pPr>
            <a:r>
              <a:rPr lang="en-US" sz="1400" dirty="0">
                <a:solidFill>
                  <a:srgbClr val="322D2A"/>
                </a:solidFill>
                <a:latin typeface="Segoe UI" pitchFamily="34" charset="0"/>
                <a:ea typeface="Segoe UI" pitchFamily="34" charset="-122"/>
                <a:cs typeface="Segoe UI" pitchFamily="34" charset="-120"/>
              </a:rPr>
              <a:t>сравнение с действиями технолога и простым правилом</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EFE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261208" y="1234440"/>
            <a:ext cx="5669280" cy="814109"/>
          </a:xfrm>
          <a:prstGeom prst="rect">
            <a:avLst/>
          </a:prstGeom>
        </p:spPr>
      </p:pic>
      <p:sp>
        <p:nvSpPr>
          <p:cNvPr id="3" name="Text 0"/>
          <p:cNvSpPr txBox="1"/>
          <p:nvPr/>
        </p:nvSpPr>
        <p:spPr>
          <a:xfrm>
            <a:off x="1798168" y="2514600"/>
            <a:ext cx="8595360" cy="1005840"/>
          </a:xfrm>
          <a:prstGeom prst="rect">
            <a:avLst/>
          </a:prstGeom>
          <a:noFill/>
          <a:ln/>
        </p:spPr>
        <p:txBody>
          <a:bodyPr wrap="square" lIns="0" tIns="0" rIns="0" bIns="0" rtlCol="0" anchor="ctr"/>
          <a:lstStyle/>
          <a:p>
            <a:pPr algn="ctr" indent="0" marL="0">
              <a:buNone/>
            </a:pPr>
            <a:r>
              <a:rPr lang="en-US" sz="2400" dirty="0">
                <a:solidFill>
                  <a:srgbClr val="322D2A"/>
                </a:solidFill>
                <a:latin typeface="Segoe UI" pitchFamily="34" charset="0"/>
                <a:ea typeface="Segoe UI" pitchFamily="34" charset="-122"/>
                <a:cs typeface="Segoe UI" pitchFamily="34" charset="-120"/>
              </a:rPr>
              <a:t>Показываем, откуда взялся совет, сколько стоит его осторожность и когда совет вообще разрешён.</a:t>
            </a:r>
            <a:endParaRPr lang="en-US" sz="2400" dirty="0"/>
          </a:p>
        </p:txBody>
      </p:sp>
      <p:sp>
        <p:nvSpPr>
          <p:cNvPr id="4" name="Shape 1"/>
          <p:cNvSpPr/>
          <p:nvPr/>
        </p:nvSpPr>
        <p:spPr>
          <a:xfrm>
            <a:off x="952348" y="4160520"/>
            <a:ext cx="3246120" cy="914400"/>
          </a:xfrm>
          <a:prstGeom prst="roundRect">
            <a:avLst>
              <a:gd name="adj" fmla="val 6000"/>
            </a:avLst>
          </a:prstGeom>
          <a:solidFill>
            <a:srgbClr val="FFFFFF"/>
          </a:solidFill>
          <a:ln w="9525">
            <a:solidFill>
              <a:srgbClr val="322D2A"/>
            </a:solidFill>
            <a:prstDash val="solid"/>
          </a:ln>
        </p:spPr>
      </p:sp>
      <p:sp>
        <p:nvSpPr>
          <p:cNvPr id="5" name="Text 2"/>
          <p:cNvSpPr txBox="1"/>
          <p:nvPr/>
        </p:nvSpPr>
        <p:spPr>
          <a:xfrm>
            <a:off x="1226668" y="4325112"/>
            <a:ext cx="2697480" cy="237744"/>
          </a:xfrm>
          <a:prstGeom prst="rect">
            <a:avLst/>
          </a:prstGeom>
          <a:noFill/>
          <a:ln/>
        </p:spPr>
        <p:txBody>
          <a:bodyPr wrap="square" lIns="0" tIns="0" rIns="0" bIns="0" rtlCol="0" anchor="t"/>
          <a:lstStyle/>
          <a:p>
            <a:pPr indent="0" marL="0">
              <a:buNone/>
            </a:pPr>
            <a:r>
              <a:rPr lang="en-US" sz="1200" dirty="0">
                <a:solidFill>
                  <a:srgbClr val="5A564E"/>
                </a:solidFill>
                <a:latin typeface="Segoe UI" pitchFamily="34" charset="0"/>
                <a:ea typeface="Segoe UI" pitchFamily="34" charset="-122"/>
                <a:cs typeface="Segoe UI" pitchFamily="34" charset="-120"/>
              </a:rPr>
              <a:t>Живое демо</a:t>
            </a:r>
            <a:endParaRPr lang="en-US" sz="1200" dirty="0"/>
          </a:p>
        </p:txBody>
      </p:sp>
      <p:sp>
        <p:nvSpPr>
          <p:cNvPr id="6" name="Text 3">
            <a:hlinkClick r:id="rId2" tooltip=""/>
          </p:cNvPr>
          <p:cNvSpPr txBox="1"/>
          <p:nvPr/>
        </p:nvSpPr>
        <p:spPr>
          <a:xfrm>
            <a:off x="1226668" y="4599432"/>
            <a:ext cx="2697480" cy="310896"/>
          </a:xfrm>
          <a:prstGeom prst="rect">
            <a:avLst/>
          </a:prstGeom>
          <a:noFill/>
          <a:ln/>
        </p:spPr>
        <p:txBody>
          <a:bodyPr wrap="square" lIns="0" tIns="0" rIns="0" bIns="0" rtlCol="0" anchor="ctr"/>
          <a:lstStyle/>
          <a:p>
            <a:pPr indent="0" marL="0">
              <a:buNone/>
            </a:pPr>
            <a:r>
              <a:rPr lang="en-US" sz="1400" u="sng" dirty="0">
                <a:solidFill>
                  <a:srgbClr val="8A4D0F"/>
                </a:solidFill>
                <a:latin typeface="Consolas" pitchFamily="34" charset="0"/>
                <a:ea typeface="Consolas" pitchFamily="34" charset="-122"/>
                <a:cs typeface="Consolas" pitchFamily="34" charset="-120"/>
                <a:hlinkClick r:id="rId2" invalidUrl="" action="" tgtFrame="" tooltip="" history="1" highlightClick="0" endSnd="0">
                  <a:extLst>
                    <a:ext uri="{A12FA001-AC4F-418D-AE19-62706E023703}">
                      <ahyp:hlinkClr xmlns:ahyp="http://schemas.microsoft.com/office/drawing/2018/hyperlinkcolor" val="tx"/>
                    </a:ext>
                  </a:extLst>
                </a:hlinkClick>
              </a:rPr>
              <a:t>neftecode.goatwhistle.ru</a:t>
            </a:r>
            <a:endParaRPr lang="en-US" sz="1400" dirty="0"/>
          </a:p>
        </p:txBody>
      </p:sp>
      <p:sp>
        <p:nvSpPr>
          <p:cNvPr id="7" name="Shape 4"/>
          <p:cNvSpPr/>
          <p:nvPr/>
        </p:nvSpPr>
        <p:spPr>
          <a:xfrm>
            <a:off x="4472788" y="4160520"/>
            <a:ext cx="3246120" cy="914400"/>
          </a:xfrm>
          <a:prstGeom prst="roundRect">
            <a:avLst>
              <a:gd name="adj" fmla="val 6000"/>
            </a:avLst>
          </a:prstGeom>
          <a:solidFill>
            <a:srgbClr val="FFFFFF"/>
          </a:solidFill>
          <a:ln w="9525">
            <a:solidFill>
              <a:srgbClr val="322D2A"/>
            </a:solidFill>
            <a:prstDash val="solid"/>
          </a:ln>
        </p:spPr>
      </p:sp>
      <p:sp>
        <p:nvSpPr>
          <p:cNvPr id="8" name="Text 5"/>
          <p:cNvSpPr txBox="1"/>
          <p:nvPr/>
        </p:nvSpPr>
        <p:spPr>
          <a:xfrm>
            <a:off x="4747108" y="4325112"/>
            <a:ext cx="2697480" cy="237744"/>
          </a:xfrm>
          <a:prstGeom prst="rect">
            <a:avLst/>
          </a:prstGeom>
          <a:noFill/>
          <a:ln/>
        </p:spPr>
        <p:txBody>
          <a:bodyPr wrap="square" lIns="0" tIns="0" rIns="0" bIns="0" rtlCol="0" anchor="t"/>
          <a:lstStyle/>
          <a:p>
            <a:pPr indent="0" marL="0">
              <a:buNone/>
            </a:pPr>
            <a:r>
              <a:rPr lang="en-US" sz="1200" dirty="0">
                <a:solidFill>
                  <a:srgbClr val="5A564E"/>
                </a:solidFill>
                <a:latin typeface="Segoe UI" pitchFamily="34" charset="0"/>
                <a:ea typeface="Segoe UI" pitchFamily="34" charset="-122"/>
                <a:cs typeface="Segoe UI" pitchFamily="34" charset="-120"/>
              </a:rPr>
              <a:t>Запуск без сети</a:t>
            </a:r>
            <a:endParaRPr lang="en-US" sz="1200" dirty="0"/>
          </a:p>
        </p:txBody>
      </p:sp>
      <p:sp>
        <p:nvSpPr>
          <p:cNvPr id="9" name="Text 6"/>
          <p:cNvSpPr txBox="1"/>
          <p:nvPr/>
        </p:nvSpPr>
        <p:spPr>
          <a:xfrm>
            <a:off x="4747108" y="4599432"/>
            <a:ext cx="2697480" cy="310896"/>
          </a:xfrm>
          <a:prstGeom prst="rect">
            <a:avLst/>
          </a:prstGeom>
          <a:noFill/>
          <a:ln/>
        </p:spPr>
        <p:txBody>
          <a:bodyPr wrap="square" lIns="0" tIns="0" rIns="0" bIns="0" rtlCol="0" anchor="ctr"/>
          <a:lstStyle/>
          <a:p>
            <a:pPr indent="0" marL="0">
              <a:buNone/>
            </a:pPr>
            <a:r>
              <a:rPr lang="en-US" sz="1400" dirty="0">
                <a:solidFill>
                  <a:srgbClr val="322D2A"/>
                </a:solidFill>
                <a:latin typeface="Consolas" pitchFamily="34" charset="0"/>
                <a:ea typeface="Consolas" pitchFamily="34" charset="-122"/>
                <a:cs typeface="Consolas" pitchFamily="34" charset="-120"/>
              </a:rPr>
              <a:t>uv run neftecode serve</a:t>
            </a:r>
            <a:endParaRPr lang="en-US" sz="1400" dirty="0"/>
          </a:p>
        </p:txBody>
      </p:sp>
      <p:sp>
        <p:nvSpPr>
          <p:cNvPr id="10" name="Shape 7"/>
          <p:cNvSpPr/>
          <p:nvPr/>
        </p:nvSpPr>
        <p:spPr>
          <a:xfrm>
            <a:off x="7993228" y="4160520"/>
            <a:ext cx="3246120" cy="914400"/>
          </a:xfrm>
          <a:prstGeom prst="roundRect">
            <a:avLst>
              <a:gd name="adj" fmla="val 6000"/>
            </a:avLst>
          </a:prstGeom>
          <a:solidFill>
            <a:srgbClr val="FFFFFF"/>
          </a:solidFill>
          <a:ln w="9525">
            <a:solidFill>
              <a:srgbClr val="322D2A"/>
            </a:solidFill>
            <a:prstDash val="solid"/>
          </a:ln>
        </p:spPr>
      </p:sp>
      <p:sp>
        <p:nvSpPr>
          <p:cNvPr id="11" name="Text 8"/>
          <p:cNvSpPr txBox="1"/>
          <p:nvPr/>
        </p:nvSpPr>
        <p:spPr>
          <a:xfrm>
            <a:off x="8267548" y="4325112"/>
            <a:ext cx="2697480" cy="237744"/>
          </a:xfrm>
          <a:prstGeom prst="rect">
            <a:avLst/>
          </a:prstGeom>
          <a:noFill/>
          <a:ln/>
        </p:spPr>
        <p:txBody>
          <a:bodyPr wrap="square" lIns="0" tIns="0" rIns="0" bIns="0" rtlCol="0" anchor="t"/>
          <a:lstStyle/>
          <a:p>
            <a:pPr indent="0" marL="0">
              <a:buNone/>
            </a:pPr>
            <a:r>
              <a:rPr lang="en-US" sz="1200" dirty="0">
                <a:solidFill>
                  <a:srgbClr val="5A564E"/>
                </a:solidFill>
                <a:latin typeface="Segoe UI" pitchFamily="34" charset="0"/>
                <a:ea typeface="Segoe UI" pitchFamily="34" charset="-122"/>
                <a:cs typeface="Segoe UI" pitchFamily="34" charset="-120"/>
              </a:rPr>
              <a:t>Команда</a:t>
            </a:r>
            <a:endParaRPr lang="en-US" sz="1200" dirty="0"/>
          </a:p>
        </p:txBody>
      </p:sp>
      <p:sp>
        <p:nvSpPr>
          <p:cNvPr id="12" name="Text 9"/>
          <p:cNvSpPr txBox="1"/>
          <p:nvPr/>
        </p:nvSpPr>
        <p:spPr>
          <a:xfrm>
            <a:off x="8267548" y="4599432"/>
            <a:ext cx="2697480" cy="310896"/>
          </a:xfrm>
          <a:prstGeom prst="rect">
            <a:avLst/>
          </a:prstGeom>
          <a:noFill/>
          <a:ln/>
        </p:spPr>
        <p:txBody>
          <a:bodyPr wrap="square" lIns="0" tIns="0" rIns="0" bIns="0" rtlCol="0" anchor="ctr"/>
          <a:lstStyle/>
          <a:p>
            <a:pPr indent="0" marL="0">
              <a:buNone/>
            </a:pPr>
            <a:r>
              <a:rPr lang="en-US" sz="1400" dirty="0">
                <a:solidFill>
                  <a:srgbClr val="322D2A"/>
                </a:solidFill>
                <a:latin typeface="Consolas" pitchFamily="34" charset="0"/>
                <a:ea typeface="Consolas" pitchFamily="34" charset="-122"/>
                <a:cs typeface="Consolas" pitchFamily="34" charset="-120"/>
              </a:rPr>
              <a:t>GoatWhistle</a:t>
            </a:r>
            <a:endParaRPr lang="en-US" sz="1400" dirty="0"/>
          </a:p>
        </p:txBody>
      </p:sp>
      <p:sp>
        <p:nvSpPr>
          <p:cNvPr id="13" name="Text 10"/>
          <p:cNvSpPr txBox="1"/>
          <p:nvPr/>
        </p:nvSpPr>
        <p:spPr>
          <a:xfrm>
            <a:off x="0" y="5852160"/>
            <a:ext cx="12191695" cy="228600"/>
          </a:xfrm>
          <a:prstGeom prst="rect">
            <a:avLst/>
          </a:prstGeom>
          <a:noFill/>
          <a:ln/>
        </p:spPr>
        <p:txBody>
          <a:bodyPr wrap="square" lIns="0" tIns="0" rIns="0" bIns="0" rtlCol="0" anchor="t"/>
          <a:lstStyle/>
          <a:p>
            <a:pPr algn="ctr" indent="0" marL="0">
              <a:buNone/>
            </a:pPr>
            <a:r>
              <a:rPr lang="en-US" sz="1000" spc="150" kern="0" dirty="0">
                <a:solidFill>
                  <a:srgbClr val="5A564E"/>
                </a:solidFill>
                <a:latin typeface="Consolas" pitchFamily="34" charset="0"/>
                <a:ea typeface="Consolas" pitchFamily="34" charset="-122"/>
                <a:cs typeface="Consolas" pitchFamily="34" charset="-120"/>
              </a:rPr>
              <a:t>ПРОТОТИП · СЦЕНАРНАЯ МОДЕЛЬ · НЕ ПРОМЫШЛЕННОЕ УПРАВЛЕНИЕ</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GoatWhistle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CUTPOINT — защита</dc:title>
  <dc:subject>PptxGenJS Presentation</dc:subject>
  <dc:creator>PptxGenJS</dc:creator>
  <cp:lastModifiedBy>PptxGenJS</cp:lastModifiedBy>
  <cp:revision>1</cp:revision>
  <dcterms:created xsi:type="dcterms:W3CDTF">2026-09-28T13:43:51Z</dcterms:created>
  <dcterms:modified xsi:type="dcterms:W3CDTF">2026-09-28T13:43:51Z</dcterms:modified>
</cp:coreProperties>
</file>